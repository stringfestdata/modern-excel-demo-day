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9"/>
  </p:notesMasterIdLst>
  <p:sldIdLst>
    <p:sldId id="256" r:id="rId2"/>
    <p:sldId id="425" r:id="rId3"/>
    <p:sldId id="426" r:id="rId4"/>
    <p:sldId id="437" r:id="rId5"/>
    <p:sldId id="407" r:id="rId6"/>
    <p:sldId id="440" r:id="rId7"/>
    <p:sldId id="438" r:id="rId8"/>
    <p:sldId id="439" r:id="rId9"/>
    <p:sldId id="427" r:id="rId10"/>
    <p:sldId id="441" r:id="rId11"/>
    <p:sldId id="457" r:id="rId12"/>
    <p:sldId id="257" r:id="rId13"/>
    <p:sldId id="455" r:id="rId14"/>
    <p:sldId id="456" r:id="rId15"/>
    <p:sldId id="452" r:id="rId16"/>
    <p:sldId id="453" r:id="rId17"/>
    <p:sldId id="415" r:id="rId18"/>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7684158-E8C8-9BE0-21EB-718D906F94A5}" name="George Mount" initials="GM" userId="S::george@stringfestanalytics.com::22d0b802-afc6-4b8f-ba57-7a855d96927f"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George Mount" initials="GM" lastIdx="9" clrIdx="0">
    <p:extLst>
      <p:ext uri="{19B8F6BF-5375-455C-9EA6-DF929625EA0E}">
        <p15:presenceInfo xmlns:p15="http://schemas.microsoft.com/office/powerpoint/2012/main" userId="57d2ab2a84d54c81"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F3338"/>
    <a:srgbClr val="3D393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92" autoAdjust="0"/>
    <p:restoredTop sz="63484" autoAdjust="0"/>
  </p:normalViewPr>
  <p:slideViewPr>
    <p:cSldViewPr>
      <p:cViewPr varScale="1">
        <p:scale>
          <a:sx n="31" d="100"/>
          <a:sy n="31" d="100"/>
        </p:scale>
        <p:origin x="912" y="32"/>
      </p:cViewPr>
      <p:guideLst>
        <p:guide orient="horz" pos="2160"/>
        <p:guide pos="2880"/>
      </p:guideLst>
    </p:cSldViewPr>
  </p:slideViewPr>
  <p:outlineViewPr>
    <p:cViewPr>
      <p:scale>
        <a:sx n="33" d="100"/>
        <a:sy n="33" d="100"/>
      </p:scale>
      <p:origin x="0" y="0"/>
    </p:cViewPr>
  </p:outlineViewPr>
  <p:notesTextViewPr>
    <p:cViewPr>
      <p:scale>
        <a:sx n="140" d="100"/>
        <a:sy n="14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8/10/relationships/authors" Targe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8798DD1-6FC4-4C34-9F3F-53BBEB998853}"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en-US"/>
        </a:p>
      </dgm:t>
    </dgm:pt>
    <dgm:pt modelId="{21FE27EC-10F4-47A1-8FD5-CD3496F54607}">
      <dgm:prSet phldrT="[Text]" phldr="0"/>
      <dgm:spPr>
        <a:solidFill>
          <a:srgbClr val="C00000"/>
        </a:solidFill>
      </dgm:spPr>
      <dgm:t>
        <a:bodyPr/>
        <a:lstStyle/>
        <a:p>
          <a:r>
            <a:rPr lang="en-US" b="1" dirty="0"/>
            <a:t>Individuals</a:t>
          </a:r>
        </a:p>
      </dgm:t>
    </dgm:pt>
    <dgm:pt modelId="{FF3D7B0C-E2C4-49B8-8C4B-AF120BF1E2B9}" type="parTrans" cxnId="{6C0172DF-D88B-41D4-B3F5-CA15E159222B}">
      <dgm:prSet/>
      <dgm:spPr/>
      <dgm:t>
        <a:bodyPr/>
        <a:lstStyle/>
        <a:p>
          <a:endParaRPr lang="en-US"/>
        </a:p>
      </dgm:t>
    </dgm:pt>
    <dgm:pt modelId="{969895C4-5161-439F-BA5B-C7930ADA9517}" type="sibTrans" cxnId="{6C0172DF-D88B-41D4-B3F5-CA15E159222B}">
      <dgm:prSet/>
      <dgm:spPr/>
      <dgm:t>
        <a:bodyPr/>
        <a:lstStyle/>
        <a:p>
          <a:endParaRPr lang="en-US"/>
        </a:p>
      </dgm:t>
    </dgm:pt>
    <dgm:pt modelId="{C24B2941-8C4E-47E5-93BE-9390D2CDBC89}">
      <dgm:prSet phldrT="[Text]" phldr="0"/>
      <dgm:spPr>
        <a:ln>
          <a:solidFill>
            <a:schemeClr val="bg1">
              <a:lumMod val="50000"/>
            </a:schemeClr>
          </a:solidFill>
        </a:ln>
      </dgm:spPr>
      <dgm:t>
        <a:bodyPr/>
        <a:lstStyle/>
        <a:p>
          <a:r>
            <a:rPr lang="en-US" dirty="0"/>
            <a:t>Self-paced courses &amp; live workshops</a:t>
          </a:r>
        </a:p>
      </dgm:t>
    </dgm:pt>
    <dgm:pt modelId="{C97A6C3A-9B27-45E4-8D96-A0B3EE805D38}" type="parTrans" cxnId="{6C6CBB06-B18A-42AC-8E9C-1FECB4298C8E}">
      <dgm:prSet/>
      <dgm:spPr/>
      <dgm:t>
        <a:bodyPr/>
        <a:lstStyle/>
        <a:p>
          <a:endParaRPr lang="en-US"/>
        </a:p>
      </dgm:t>
    </dgm:pt>
    <dgm:pt modelId="{95B33339-D74D-43E7-BBDD-70E0EB607FD8}" type="sibTrans" cxnId="{6C6CBB06-B18A-42AC-8E9C-1FECB4298C8E}">
      <dgm:prSet/>
      <dgm:spPr/>
      <dgm:t>
        <a:bodyPr/>
        <a:lstStyle/>
        <a:p>
          <a:endParaRPr lang="en-US"/>
        </a:p>
      </dgm:t>
    </dgm:pt>
    <dgm:pt modelId="{B4C039DB-28DF-4F2E-9047-FCE10E8B50F4}">
      <dgm:prSet phldrT="[Text]" phldr="0"/>
      <dgm:spPr>
        <a:ln>
          <a:solidFill>
            <a:schemeClr val="bg1">
              <a:lumMod val="50000"/>
            </a:schemeClr>
          </a:solidFill>
        </a:ln>
      </dgm:spPr>
      <dgm:t>
        <a:bodyPr/>
        <a:lstStyle/>
        <a:p>
          <a:r>
            <a:rPr lang="en-US" dirty="0"/>
            <a:t>Learn when to use formulas, Power Query, Python, and Copilot</a:t>
          </a:r>
        </a:p>
      </dgm:t>
    </dgm:pt>
    <dgm:pt modelId="{88E2D7DD-A20A-4D82-B7BA-495E3CA5520E}" type="parTrans" cxnId="{08744D63-46D0-44D2-900A-8851AAD8CEA3}">
      <dgm:prSet/>
      <dgm:spPr/>
      <dgm:t>
        <a:bodyPr/>
        <a:lstStyle/>
        <a:p>
          <a:endParaRPr lang="en-US"/>
        </a:p>
      </dgm:t>
    </dgm:pt>
    <dgm:pt modelId="{EFC160FF-009E-419D-9011-2FCCED5BFCAE}" type="sibTrans" cxnId="{08744D63-46D0-44D2-900A-8851AAD8CEA3}">
      <dgm:prSet/>
      <dgm:spPr/>
      <dgm:t>
        <a:bodyPr/>
        <a:lstStyle/>
        <a:p>
          <a:endParaRPr lang="en-US"/>
        </a:p>
      </dgm:t>
    </dgm:pt>
    <dgm:pt modelId="{31E0BBA0-32AB-44DE-85CB-3C80E6846810}">
      <dgm:prSet phldrT="[Text]" phldr="0"/>
      <dgm:spPr>
        <a:ln>
          <a:solidFill>
            <a:schemeClr val="bg1">
              <a:lumMod val="50000"/>
            </a:schemeClr>
          </a:solidFill>
        </a:ln>
      </dgm:spPr>
      <dgm:t>
        <a:bodyPr/>
        <a:lstStyle/>
        <a:p>
          <a:r>
            <a:rPr lang="en-US" dirty="0"/>
            <a:t>Focus on clarity, maintainability, and confidence</a:t>
          </a:r>
        </a:p>
      </dgm:t>
    </dgm:pt>
    <dgm:pt modelId="{BDE34EB0-9E1B-4FF4-9FC7-70742D76E4E6}" type="parTrans" cxnId="{9453C970-A133-42A1-BB1A-7672CEFA0687}">
      <dgm:prSet/>
      <dgm:spPr/>
      <dgm:t>
        <a:bodyPr/>
        <a:lstStyle/>
        <a:p>
          <a:endParaRPr lang="en-US"/>
        </a:p>
      </dgm:t>
    </dgm:pt>
    <dgm:pt modelId="{45E94802-E21A-4AC8-ACCB-FA38B41DCB9F}" type="sibTrans" cxnId="{9453C970-A133-42A1-BB1A-7672CEFA0687}">
      <dgm:prSet/>
      <dgm:spPr/>
      <dgm:t>
        <a:bodyPr/>
        <a:lstStyle/>
        <a:p>
          <a:endParaRPr lang="en-US"/>
        </a:p>
      </dgm:t>
    </dgm:pt>
    <dgm:pt modelId="{016DC79D-3BC0-41E5-8BCD-63EBA4F14C0D}">
      <dgm:prSet phldrT="[Text]" phldr="0"/>
      <dgm:spPr>
        <a:solidFill>
          <a:srgbClr val="C00000"/>
        </a:solidFill>
      </dgm:spPr>
      <dgm:t>
        <a:bodyPr/>
        <a:lstStyle/>
        <a:p>
          <a:r>
            <a:rPr lang="en-US" b="1" dirty="0"/>
            <a:t>Teams</a:t>
          </a:r>
        </a:p>
      </dgm:t>
    </dgm:pt>
    <dgm:pt modelId="{2EE0B6F5-6A8E-418F-9567-1907B2738A34}" type="parTrans" cxnId="{BC96F6EE-A452-4FD1-957C-3C61D63DF19A}">
      <dgm:prSet/>
      <dgm:spPr/>
      <dgm:t>
        <a:bodyPr/>
        <a:lstStyle/>
        <a:p>
          <a:endParaRPr lang="en-US"/>
        </a:p>
      </dgm:t>
    </dgm:pt>
    <dgm:pt modelId="{E09FC7D4-5B56-4C5F-893B-848769202938}" type="sibTrans" cxnId="{BC96F6EE-A452-4FD1-957C-3C61D63DF19A}">
      <dgm:prSet/>
      <dgm:spPr/>
      <dgm:t>
        <a:bodyPr/>
        <a:lstStyle/>
        <a:p>
          <a:endParaRPr lang="en-US"/>
        </a:p>
      </dgm:t>
    </dgm:pt>
    <dgm:pt modelId="{7A818774-F187-423D-B8A8-E299CC61C89C}">
      <dgm:prSet phldrT="[Text]" phldr="0"/>
      <dgm:spPr>
        <a:ln>
          <a:solidFill>
            <a:schemeClr val="bg1">
              <a:lumMod val="50000"/>
            </a:schemeClr>
          </a:solidFill>
        </a:ln>
      </dgm:spPr>
      <dgm:t>
        <a:bodyPr/>
        <a:lstStyle/>
        <a:p>
          <a:r>
            <a:rPr lang="en-US" dirty="0"/>
            <a:t>Practical corporate training</a:t>
          </a:r>
        </a:p>
      </dgm:t>
    </dgm:pt>
    <dgm:pt modelId="{C7A141B3-2B9C-4F4D-9D07-5F119890BE56}" type="parTrans" cxnId="{E39F6071-D189-4302-81C2-C8D5AD0A841D}">
      <dgm:prSet/>
      <dgm:spPr/>
      <dgm:t>
        <a:bodyPr/>
        <a:lstStyle/>
        <a:p>
          <a:endParaRPr lang="en-US"/>
        </a:p>
      </dgm:t>
    </dgm:pt>
    <dgm:pt modelId="{BF1D4A6B-4EBA-4D46-93B3-07C66BF920A8}" type="sibTrans" cxnId="{E39F6071-D189-4302-81C2-C8D5AD0A841D}">
      <dgm:prSet/>
      <dgm:spPr/>
      <dgm:t>
        <a:bodyPr/>
        <a:lstStyle/>
        <a:p>
          <a:endParaRPr lang="en-US"/>
        </a:p>
      </dgm:t>
    </dgm:pt>
    <dgm:pt modelId="{CED61807-9E1D-41DC-A0C2-C410C92668D0}">
      <dgm:prSet phldrT="[Text]" phldr="0"/>
      <dgm:spPr>
        <a:ln>
          <a:solidFill>
            <a:schemeClr val="bg1">
              <a:lumMod val="50000"/>
            </a:schemeClr>
          </a:solidFill>
        </a:ln>
      </dgm:spPr>
      <dgm:t>
        <a:bodyPr/>
        <a:lstStyle/>
        <a:p>
          <a:r>
            <a:rPr lang="en-US" dirty="0"/>
            <a:t>Apply modern Excel patterns to real workflows</a:t>
          </a:r>
        </a:p>
      </dgm:t>
    </dgm:pt>
    <dgm:pt modelId="{DF6760EA-CD03-4B40-8B21-BE7EBE5C8B51}" type="parTrans" cxnId="{D544EC0C-557D-4137-BBE5-D7047405AD61}">
      <dgm:prSet/>
      <dgm:spPr/>
      <dgm:t>
        <a:bodyPr/>
        <a:lstStyle/>
        <a:p>
          <a:endParaRPr lang="en-US"/>
        </a:p>
      </dgm:t>
    </dgm:pt>
    <dgm:pt modelId="{56F627CE-8FDB-492D-9146-C96F55B7E1C0}" type="sibTrans" cxnId="{D544EC0C-557D-4137-BBE5-D7047405AD61}">
      <dgm:prSet/>
      <dgm:spPr/>
      <dgm:t>
        <a:bodyPr/>
        <a:lstStyle/>
        <a:p>
          <a:endParaRPr lang="en-US"/>
        </a:p>
      </dgm:t>
    </dgm:pt>
    <dgm:pt modelId="{A47EFBC1-B8C2-4EA5-9B3A-F927674761C9}">
      <dgm:prSet phldrT="[Text]" phldr="0"/>
      <dgm:spPr>
        <a:ln>
          <a:solidFill>
            <a:schemeClr val="bg1">
              <a:lumMod val="50000"/>
            </a:schemeClr>
          </a:solidFill>
        </a:ln>
      </dgm:spPr>
      <dgm:t>
        <a:bodyPr/>
        <a:lstStyle/>
        <a:p>
          <a:r>
            <a:rPr lang="en-US" dirty="0"/>
            <a:t>Reduce errors, rework, and one-off fixes</a:t>
          </a:r>
        </a:p>
      </dgm:t>
    </dgm:pt>
    <dgm:pt modelId="{23C95D64-ACDF-4793-AF7E-ADB56BE2841D}" type="parTrans" cxnId="{1C3620EC-CE2A-437B-813B-D62505EEF778}">
      <dgm:prSet/>
      <dgm:spPr/>
      <dgm:t>
        <a:bodyPr/>
        <a:lstStyle/>
        <a:p>
          <a:endParaRPr lang="en-US"/>
        </a:p>
      </dgm:t>
    </dgm:pt>
    <dgm:pt modelId="{98F84862-E132-4EA1-89ED-AC172F965CF6}" type="sibTrans" cxnId="{1C3620EC-CE2A-437B-813B-D62505EEF778}">
      <dgm:prSet/>
      <dgm:spPr/>
      <dgm:t>
        <a:bodyPr/>
        <a:lstStyle/>
        <a:p>
          <a:endParaRPr lang="en-US"/>
        </a:p>
      </dgm:t>
    </dgm:pt>
    <dgm:pt modelId="{B4F0F40E-29C9-496D-BDA2-525B7864A476}">
      <dgm:prSet phldrT="[Text]" phldr="0"/>
      <dgm:spPr>
        <a:solidFill>
          <a:srgbClr val="C00000"/>
        </a:solidFill>
      </dgm:spPr>
      <dgm:t>
        <a:bodyPr/>
        <a:lstStyle/>
        <a:p>
          <a:r>
            <a:rPr lang="en-US" b="1" dirty="0"/>
            <a:t>Organizations</a:t>
          </a:r>
        </a:p>
      </dgm:t>
    </dgm:pt>
    <dgm:pt modelId="{85C43083-FDDC-4EB5-8CA2-AF1A2A539AE5}" type="parTrans" cxnId="{F5A0ED73-185C-43A4-B087-39723A0B16D0}">
      <dgm:prSet/>
      <dgm:spPr/>
      <dgm:t>
        <a:bodyPr/>
        <a:lstStyle/>
        <a:p>
          <a:endParaRPr lang="en-US"/>
        </a:p>
      </dgm:t>
    </dgm:pt>
    <dgm:pt modelId="{C9BD2B50-714A-4AF3-9879-8E0D2682421F}" type="sibTrans" cxnId="{F5A0ED73-185C-43A4-B087-39723A0B16D0}">
      <dgm:prSet/>
      <dgm:spPr/>
      <dgm:t>
        <a:bodyPr/>
        <a:lstStyle/>
        <a:p>
          <a:endParaRPr lang="en-US"/>
        </a:p>
      </dgm:t>
    </dgm:pt>
    <dgm:pt modelId="{CEF1FAE8-58A8-4837-8EE2-2DD9C2A199A3}">
      <dgm:prSet phldrT="[Text]" phldr="0"/>
      <dgm:spPr>
        <a:ln>
          <a:solidFill>
            <a:schemeClr val="bg1">
              <a:lumMod val="50000"/>
            </a:schemeClr>
          </a:solidFill>
        </a:ln>
      </dgm:spPr>
      <dgm:t>
        <a:bodyPr/>
        <a:lstStyle/>
        <a:p>
          <a:r>
            <a:rPr lang="en-US" dirty="0"/>
            <a:t>Guided, multi-week modernization program</a:t>
          </a:r>
        </a:p>
      </dgm:t>
    </dgm:pt>
    <dgm:pt modelId="{58151A2E-80AA-4AD6-A185-C0F5E8DA47AD}" type="parTrans" cxnId="{B62C6E92-AB91-468B-B358-EDF92131A7AF}">
      <dgm:prSet/>
      <dgm:spPr/>
      <dgm:t>
        <a:bodyPr/>
        <a:lstStyle/>
        <a:p>
          <a:endParaRPr lang="en-US"/>
        </a:p>
      </dgm:t>
    </dgm:pt>
    <dgm:pt modelId="{CBE4C6D7-AAFF-485C-A9FE-75A1ADEB00AD}" type="sibTrans" cxnId="{B62C6E92-AB91-468B-B358-EDF92131A7AF}">
      <dgm:prSet/>
      <dgm:spPr/>
      <dgm:t>
        <a:bodyPr/>
        <a:lstStyle/>
        <a:p>
          <a:endParaRPr lang="en-US"/>
        </a:p>
      </dgm:t>
    </dgm:pt>
    <dgm:pt modelId="{49A0E634-58A5-4059-9E7D-9503F5568F0E}">
      <dgm:prSet phldrT="[Text]" phldr="0"/>
      <dgm:spPr>
        <a:ln>
          <a:solidFill>
            <a:schemeClr val="bg1">
              <a:lumMod val="50000"/>
            </a:schemeClr>
          </a:solidFill>
        </a:ln>
      </dgm:spPr>
      <dgm:t>
        <a:bodyPr/>
        <a:lstStyle/>
        <a:p>
          <a:r>
            <a:rPr lang="en-US" dirty="0"/>
            <a:t>Teams learn to build pipelines, automation, and documentation</a:t>
          </a:r>
        </a:p>
      </dgm:t>
    </dgm:pt>
    <dgm:pt modelId="{ACD5A1DA-F5CD-48CE-B171-EC32505DF8B8}" type="parTrans" cxnId="{529891CA-70A8-4B23-B19B-BE2328CC8E28}">
      <dgm:prSet/>
      <dgm:spPr/>
      <dgm:t>
        <a:bodyPr/>
        <a:lstStyle/>
        <a:p>
          <a:endParaRPr lang="en-US"/>
        </a:p>
      </dgm:t>
    </dgm:pt>
    <dgm:pt modelId="{6ACADE56-6832-41F1-9403-24B505942BF3}" type="sibTrans" cxnId="{529891CA-70A8-4B23-B19B-BE2328CC8E28}">
      <dgm:prSet/>
      <dgm:spPr/>
      <dgm:t>
        <a:bodyPr/>
        <a:lstStyle/>
        <a:p>
          <a:endParaRPr lang="en-US"/>
        </a:p>
      </dgm:t>
    </dgm:pt>
    <dgm:pt modelId="{FB981EA0-3DDD-41E5-994C-58106823DD87}">
      <dgm:prSet phldrT="[Text]" phldr="0"/>
      <dgm:spPr>
        <a:ln>
          <a:solidFill>
            <a:schemeClr val="bg1">
              <a:lumMod val="50000"/>
            </a:schemeClr>
          </a:solidFill>
        </a:ln>
      </dgm:spPr>
      <dgm:t>
        <a:bodyPr/>
        <a:lstStyle/>
        <a:p>
          <a:r>
            <a:rPr lang="en-US" dirty="0"/>
            <a:t>Internal ownership of reliable, </a:t>
          </a:r>
          <a:r>
            <a:rPr lang="en-US"/>
            <a:t>auditable workflows</a:t>
          </a:r>
          <a:endParaRPr lang="en-US" dirty="0"/>
        </a:p>
      </dgm:t>
    </dgm:pt>
    <dgm:pt modelId="{F3950239-A916-4097-A7B6-DDA6653C9CB5}" type="parTrans" cxnId="{862989A2-6D7C-42A4-A92A-2FD429FB0840}">
      <dgm:prSet/>
      <dgm:spPr/>
      <dgm:t>
        <a:bodyPr/>
        <a:lstStyle/>
        <a:p>
          <a:endParaRPr lang="en-US"/>
        </a:p>
      </dgm:t>
    </dgm:pt>
    <dgm:pt modelId="{63E1678F-6B99-4762-B916-5E63C98E7666}" type="sibTrans" cxnId="{862989A2-6D7C-42A4-A92A-2FD429FB0840}">
      <dgm:prSet/>
      <dgm:spPr/>
      <dgm:t>
        <a:bodyPr/>
        <a:lstStyle/>
        <a:p>
          <a:endParaRPr lang="en-US"/>
        </a:p>
      </dgm:t>
    </dgm:pt>
    <dgm:pt modelId="{CAD0188A-56FC-4EB6-B5CE-816C1D97209B}" type="pres">
      <dgm:prSet presAssocID="{68798DD1-6FC4-4C34-9F3F-53BBEB998853}" presName="linearFlow" presStyleCnt="0">
        <dgm:presLayoutVars>
          <dgm:dir/>
          <dgm:animLvl val="lvl"/>
          <dgm:resizeHandles val="exact"/>
        </dgm:presLayoutVars>
      </dgm:prSet>
      <dgm:spPr/>
    </dgm:pt>
    <dgm:pt modelId="{396FF615-DBB1-4ADF-881C-2B53DB4685F9}" type="pres">
      <dgm:prSet presAssocID="{21FE27EC-10F4-47A1-8FD5-CD3496F54607}" presName="composite" presStyleCnt="0"/>
      <dgm:spPr/>
    </dgm:pt>
    <dgm:pt modelId="{09C26579-FE7E-4FCA-AD7A-C9F14DC9A41C}" type="pres">
      <dgm:prSet presAssocID="{21FE27EC-10F4-47A1-8FD5-CD3496F54607}" presName="parentText" presStyleLbl="alignNode1" presStyleIdx="0" presStyleCnt="3">
        <dgm:presLayoutVars>
          <dgm:chMax val="1"/>
          <dgm:bulletEnabled val="1"/>
        </dgm:presLayoutVars>
      </dgm:prSet>
      <dgm:spPr/>
    </dgm:pt>
    <dgm:pt modelId="{3F6A9F3A-70DD-47A1-BAF1-6047BA10BEF8}" type="pres">
      <dgm:prSet presAssocID="{21FE27EC-10F4-47A1-8FD5-CD3496F54607}" presName="descendantText" presStyleLbl="alignAcc1" presStyleIdx="0" presStyleCnt="3">
        <dgm:presLayoutVars>
          <dgm:bulletEnabled val="1"/>
        </dgm:presLayoutVars>
      </dgm:prSet>
      <dgm:spPr/>
    </dgm:pt>
    <dgm:pt modelId="{3EBAEAF0-87C5-4A8F-A60B-5164C3139ED0}" type="pres">
      <dgm:prSet presAssocID="{969895C4-5161-439F-BA5B-C7930ADA9517}" presName="sp" presStyleCnt="0"/>
      <dgm:spPr/>
    </dgm:pt>
    <dgm:pt modelId="{18A31272-9A53-4608-B75D-8841D31598E9}" type="pres">
      <dgm:prSet presAssocID="{016DC79D-3BC0-41E5-8BCD-63EBA4F14C0D}" presName="composite" presStyleCnt="0"/>
      <dgm:spPr/>
    </dgm:pt>
    <dgm:pt modelId="{94386F4B-5B07-46D9-B7E2-E761F0E5054B}" type="pres">
      <dgm:prSet presAssocID="{016DC79D-3BC0-41E5-8BCD-63EBA4F14C0D}" presName="parentText" presStyleLbl="alignNode1" presStyleIdx="1" presStyleCnt="3">
        <dgm:presLayoutVars>
          <dgm:chMax val="1"/>
          <dgm:bulletEnabled val="1"/>
        </dgm:presLayoutVars>
      </dgm:prSet>
      <dgm:spPr/>
    </dgm:pt>
    <dgm:pt modelId="{E1F63806-3F95-47B1-A8FC-936CE11E41B2}" type="pres">
      <dgm:prSet presAssocID="{016DC79D-3BC0-41E5-8BCD-63EBA4F14C0D}" presName="descendantText" presStyleLbl="alignAcc1" presStyleIdx="1" presStyleCnt="3">
        <dgm:presLayoutVars>
          <dgm:bulletEnabled val="1"/>
        </dgm:presLayoutVars>
      </dgm:prSet>
      <dgm:spPr/>
    </dgm:pt>
    <dgm:pt modelId="{08C09676-E15B-414E-ADE9-4CFD21277716}" type="pres">
      <dgm:prSet presAssocID="{E09FC7D4-5B56-4C5F-893B-848769202938}" presName="sp" presStyleCnt="0"/>
      <dgm:spPr/>
    </dgm:pt>
    <dgm:pt modelId="{C4801975-71F4-48D1-B902-ED5AA41607FE}" type="pres">
      <dgm:prSet presAssocID="{B4F0F40E-29C9-496D-BDA2-525B7864A476}" presName="composite" presStyleCnt="0"/>
      <dgm:spPr/>
    </dgm:pt>
    <dgm:pt modelId="{6686DA01-4710-4887-9ED3-F851DFA90AFC}" type="pres">
      <dgm:prSet presAssocID="{B4F0F40E-29C9-496D-BDA2-525B7864A476}" presName="parentText" presStyleLbl="alignNode1" presStyleIdx="2" presStyleCnt="3">
        <dgm:presLayoutVars>
          <dgm:chMax val="1"/>
          <dgm:bulletEnabled val="1"/>
        </dgm:presLayoutVars>
      </dgm:prSet>
      <dgm:spPr/>
    </dgm:pt>
    <dgm:pt modelId="{5B4E17BA-CB83-4086-AB9F-98D828E680FB}" type="pres">
      <dgm:prSet presAssocID="{B4F0F40E-29C9-496D-BDA2-525B7864A476}" presName="descendantText" presStyleLbl="alignAcc1" presStyleIdx="2" presStyleCnt="3">
        <dgm:presLayoutVars>
          <dgm:bulletEnabled val="1"/>
        </dgm:presLayoutVars>
      </dgm:prSet>
      <dgm:spPr/>
    </dgm:pt>
  </dgm:ptLst>
  <dgm:cxnLst>
    <dgm:cxn modelId="{92F1CA01-19A0-4F78-A4B8-D4B4230230A6}" type="presOf" srcId="{7A818774-F187-423D-B8A8-E299CC61C89C}" destId="{E1F63806-3F95-47B1-A8FC-936CE11E41B2}" srcOrd="0" destOrd="0" presId="urn:microsoft.com/office/officeart/2005/8/layout/chevron2"/>
    <dgm:cxn modelId="{2B9F7502-FA00-4776-91FC-DCE24DE2717C}" type="presOf" srcId="{31E0BBA0-32AB-44DE-85CB-3C80E6846810}" destId="{3F6A9F3A-70DD-47A1-BAF1-6047BA10BEF8}" srcOrd="0" destOrd="2" presId="urn:microsoft.com/office/officeart/2005/8/layout/chevron2"/>
    <dgm:cxn modelId="{6C6CBB06-B18A-42AC-8E9C-1FECB4298C8E}" srcId="{21FE27EC-10F4-47A1-8FD5-CD3496F54607}" destId="{C24B2941-8C4E-47E5-93BE-9390D2CDBC89}" srcOrd="0" destOrd="0" parTransId="{C97A6C3A-9B27-45E4-8D96-A0B3EE805D38}" sibTransId="{95B33339-D74D-43E7-BBDD-70E0EB607FD8}"/>
    <dgm:cxn modelId="{D544EC0C-557D-4137-BBE5-D7047405AD61}" srcId="{016DC79D-3BC0-41E5-8BCD-63EBA4F14C0D}" destId="{CED61807-9E1D-41DC-A0C2-C410C92668D0}" srcOrd="1" destOrd="0" parTransId="{DF6760EA-CD03-4B40-8B21-BE7EBE5C8B51}" sibTransId="{56F627CE-8FDB-492D-9146-C96F55B7E1C0}"/>
    <dgm:cxn modelId="{F861C337-2A07-4392-BB25-C7074FC35D3A}" type="presOf" srcId="{CED61807-9E1D-41DC-A0C2-C410C92668D0}" destId="{E1F63806-3F95-47B1-A8FC-936CE11E41B2}" srcOrd="0" destOrd="1" presId="urn:microsoft.com/office/officeart/2005/8/layout/chevron2"/>
    <dgm:cxn modelId="{08744D63-46D0-44D2-900A-8851AAD8CEA3}" srcId="{21FE27EC-10F4-47A1-8FD5-CD3496F54607}" destId="{B4C039DB-28DF-4F2E-9047-FCE10E8B50F4}" srcOrd="1" destOrd="0" parTransId="{88E2D7DD-A20A-4D82-B7BA-495E3CA5520E}" sibTransId="{EFC160FF-009E-419D-9011-2FCCED5BFCAE}"/>
    <dgm:cxn modelId="{7D3C6765-2503-464F-8915-4219C7FFA67E}" type="presOf" srcId="{B4C039DB-28DF-4F2E-9047-FCE10E8B50F4}" destId="{3F6A9F3A-70DD-47A1-BAF1-6047BA10BEF8}" srcOrd="0" destOrd="1" presId="urn:microsoft.com/office/officeart/2005/8/layout/chevron2"/>
    <dgm:cxn modelId="{C27A3E67-85B3-441D-954E-43FBB720893C}" type="presOf" srcId="{49A0E634-58A5-4059-9E7D-9503F5568F0E}" destId="{5B4E17BA-CB83-4086-AB9F-98D828E680FB}" srcOrd="0" destOrd="1" presId="urn:microsoft.com/office/officeart/2005/8/layout/chevron2"/>
    <dgm:cxn modelId="{72F5A847-4C7B-47C0-A9E1-518AC505C169}" type="presOf" srcId="{68798DD1-6FC4-4C34-9F3F-53BBEB998853}" destId="{CAD0188A-56FC-4EB6-B5CE-816C1D97209B}" srcOrd="0" destOrd="0" presId="urn:microsoft.com/office/officeart/2005/8/layout/chevron2"/>
    <dgm:cxn modelId="{061FAD70-44EC-4FA6-98DF-B43035022CDD}" type="presOf" srcId="{A47EFBC1-B8C2-4EA5-9B3A-F927674761C9}" destId="{E1F63806-3F95-47B1-A8FC-936CE11E41B2}" srcOrd="0" destOrd="2" presId="urn:microsoft.com/office/officeart/2005/8/layout/chevron2"/>
    <dgm:cxn modelId="{9453C970-A133-42A1-BB1A-7672CEFA0687}" srcId="{21FE27EC-10F4-47A1-8FD5-CD3496F54607}" destId="{31E0BBA0-32AB-44DE-85CB-3C80E6846810}" srcOrd="2" destOrd="0" parTransId="{BDE34EB0-9E1B-4FF4-9FC7-70742D76E4E6}" sibTransId="{45E94802-E21A-4AC8-ACCB-FA38B41DCB9F}"/>
    <dgm:cxn modelId="{E39F6071-D189-4302-81C2-C8D5AD0A841D}" srcId="{016DC79D-3BC0-41E5-8BCD-63EBA4F14C0D}" destId="{7A818774-F187-423D-B8A8-E299CC61C89C}" srcOrd="0" destOrd="0" parTransId="{C7A141B3-2B9C-4F4D-9D07-5F119890BE56}" sibTransId="{BF1D4A6B-4EBA-4D46-93B3-07C66BF920A8}"/>
    <dgm:cxn modelId="{F5A0ED73-185C-43A4-B087-39723A0B16D0}" srcId="{68798DD1-6FC4-4C34-9F3F-53BBEB998853}" destId="{B4F0F40E-29C9-496D-BDA2-525B7864A476}" srcOrd="2" destOrd="0" parTransId="{85C43083-FDDC-4EB5-8CA2-AF1A2A539AE5}" sibTransId="{C9BD2B50-714A-4AF3-9879-8E0D2682421F}"/>
    <dgm:cxn modelId="{19E0D479-A15D-4862-AFB6-01537DAB1029}" type="presOf" srcId="{016DC79D-3BC0-41E5-8BCD-63EBA4F14C0D}" destId="{94386F4B-5B07-46D9-B7E2-E761F0E5054B}" srcOrd="0" destOrd="0" presId="urn:microsoft.com/office/officeart/2005/8/layout/chevron2"/>
    <dgm:cxn modelId="{AD3BFA8E-5D82-48E4-B9AD-318B305BF8CB}" type="presOf" srcId="{FB981EA0-3DDD-41E5-994C-58106823DD87}" destId="{5B4E17BA-CB83-4086-AB9F-98D828E680FB}" srcOrd="0" destOrd="2" presId="urn:microsoft.com/office/officeart/2005/8/layout/chevron2"/>
    <dgm:cxn modelId="{B62C6E92-AB91-468B-B358-EDF92131A7AF}" srcId="{B4F0F40E-29C9-496D-BDA2-525B7864A476}" destId="{CEF1FAE8-58A8-4837-8EE2-2DD9C2A199A3}" srcOrd="0" destOrd="0" parTransId="{58151A2E-80AA-4AD6-A185-C0F5E8DA47AD}" sibTransId="{CBE4C6D7-AAFF-485C-A9FE-75A1ADEB00AD}"/>
    <dgm:cxn modelId="{8228239C-D034-41ED-AF1F-44B9D40545C6}" type="presOf" srcId="{B4F0F40E-29C9-496D-BDA2-525B7864A476}" destId="{6686DA01-4710-4887-9ED3-F851DFA90AFC}" srcOrd="0" destOrd="0" presId="urn:microsoft.com/office/officeart/2005/8/layout/chevron2"/>
    <dgm:cxn modelId="{B1127C9E-9D3C-4AAD-80DF-F94D479995DA}" type="presOf" srcId="{C24B2941-8C4E-47E5-93BE-9390D2CDBC89}" destId="{3F6A9F3A-70DD-47A1-BAF1-6047BA10BEF8}" srcOrd="0" destOrd="0" presId="urn:microsoft.com/office/officeart/2005/8/layout/chevron2"/>
    <dgm:cxn modelId="{4BA45AA0-961A-4D1B-A3F6-BB5A22DE0A36}" type="presOf" srcId="{21FE27EC-10F4-47A1-8FD5-CD3496F54607}" destId="{09C26579-FE7E-4FCA-AD7A-C9F14DC9A41C}" srcOrd="0" destOrd="0" presId="urn:microsoft.com/office/officeart/2005/8/layout/chevron2"/>
    <dgm:cxn modelId="{862989A2-6D7C-42A4-A92A-2FD429FB0840}" srcId="{B4F0F40E-29C9-496D-BDA2-525B7864A476}" destId="{FB981EA0-3DDD-41E5-994C-58106823DD87}" srcOrd="2" destOrd="0" parTransId="{F3950239-A916-4097-A7B6-DDA6653C9CB5}" sibTransId="{63E1678F-6B99-4762-B916-5E63C98E7666}"/>
    <dgm:cxn modelId="{277C8FA6-6B12-4298-833C-34A046A9226D}" type="presOf" srcId="{CEF1FAE8-58A8-4837-8EE2-2DD9C2A199A3}" destId="{5B4E17BA-CB83-4086-AB9F-98D828E680FB}" srcOrd="0" destOrd="0" presId="urn:microsoft.com/office/officeart/2005/8/layout/chevron2"/>
    <dgm:cxn modelId="{529891CA-70A8-4B23-B19B-BE2328CC8E28}" srcId="{B4F0F40E-29C9-496D-BDA2-525B7864A476}" destId="{49A0E634-58A5-4059-9E7D-9503F5568F0E}" srcOrd="1" destOrd="0" parTransId="{ACD5A1DA-F5CD-48CE-B171-EC32505DF8B8}" sibTransId="{6ACADE56-6832-41F1-9403-24B505942BF3}"/>
    <dgm:cxn modelId="{6C0172DF-D88B-41D4-B3F5-CA15E159222B}" srcId="{68798DD1-6FC4-4C34-9F3F-53BBEB998853}" destId="{21FE27EC-10F4-47A1-8FD5-CD3496F54607}" srcOrd="0" destOrd="0" parTransId="{FF3D7B0C-E2C4-49B8-8C4B-AF120BF1E2B9}" sibTransId="{969895C4-5161-439F-BA5B-C7930ADA9517}"/>
    <dgm:cxn modelId="{1C3620EC-CE2A-437B-813B-D62505EEF778}" srcId="{016DC79D-3BC0-41E5-8BCD-63EBA4F14C0D}" destId="{A47EFBC1-B8C2-4EA5-9B3A-F927674761C9}" srcOrd="2" destOrd="0" parTransId="{23C95D64-ACDF-4793-AF7E-ADB56BE2841D}" sibTransId="{98F84862-E132-4EA1-89ED-AC172F965CF6}"/>
    <dgm:cxn modelId="{BC96F6EE-A452-4FD1-957C-3C61D63DF19A}" srcId="{68798DD1-6FC4-4C34-9F3F-53BBEB998853}" destId="{016DC79D-3BC0-41E5-8BCD-63EBA4F14C0D}" srcOrd="1" destOrd="0" parTransId="{2EE0B6F5-6A8E-418F-9567-1907B2738A34}" sibTransId="{E09FC7D4-5B56-4C5F-893B-848769202938}"/>
    <dgm:cxn modelId="{8F7B8CF4-1AD3-437F-943B-15C6B8A43061}" type="presParOf" srcId="{CAD0188A-56FC-4EB6-B5CE-816C1D97209B}" destId="{396FF615-DBB1-4ADF-881C-2B53DB4685F9}" srcOrd="0" destOrd="0" presId="urn:microsoft.com/office/officeart/2005/8/layout/chevron2"/>
    <dgm:cxn modelId="{A905407B-1A3A-4C4F-94A3-72D810F50497}" type="presParOf" srcId="{396FF615-DBB1-4ADF-881C-2B53DB4685F9}" destId="{09C26579-FE7E-4FCA-AD7A-C9F14DC9A41C}" srcOrd="0" destOrd="0" presId="urn:microsoft.com/office/officeart/2005/8/layout/chevron2"/>
    <dgm:cxn modelId="{FD22B06B-837D-461D-90DF-5093D7EDBD71}" type="presParOf" srcId="{396FF615-DBB1-4ADF-881C-2B53DB4685F9}" destId="{3F6A9F3A-70DD-47A1-BAF1-6047BA10BEF8}" srcOrd="1" destOrd="0" presId="urn:microsoft.com/office/officeart/2005/8/layout/chevron2"/>
    <dgm:cxn modelId="{EA8A4336-7389-4C30-8110-DAB2C1C21C0D}" type="presParOf" srcId="{CAD0188A-56FC-4EB6-B5CE-816C1D97209B}" destId="{3EBAEAF0-87C5-4A8F-A60B-5164C3139ED0}" srcOrd="1" destOrd="0" presId="urn:microsoft.com/office/officeart/2005/8/layout/chevron2"/>
    <dgm:cxn modelId="{8C3399FB-03D1-42FB-9F72-2D7B16B0B99C}" type="presParOf" srcId="{CAD0188A-56FC-4EB6-B5CE-816C1D97209B}" destId="{18A31272-9A53-4608-B75D-8841D31598E9}" srcOrd="2" destOrd="0" presId="urn:microsoft.com/office/officeart/2005/8/layout/chevron2"/>
    <dgm:cxn modelId="{0638D5CA-D355-474F-B10D-C8495E5251C1}" type="presParOf" srcId="{18A31272-9A53-4608-B75D-8841D31598E9}" destId="{94386F4B-5B07-46D9-B7E2-E761F0E5054B}" srcOrd="0" destOrd="0" presId="urn:microsoft.com/office/officeart/2005/8/layout/chevron2"/>
    <dgm:cxn modelId="{E557CDAE-CAC8-4B57-A151-C05291D75607}" type="presParOf" srcId="{18A31272-9A53-4608-B75D-8841D31598E9}" destId="{E1F63806-3F95-47B1-A8FC-936CE11E41B2}" srcOrd="1" destOrd="0" presId="urn:microsoft.com/office/officeart/2005/8/layout/chevron2"/>
    <dgm:cxn modelId="{E126AC08-CC93-4BC4-8D81-C096DE23E2B9}" type="presParOf" srcId="{CAD0188A-56FC-4EB6-B5CE-816C1D97209B}" destId="{08C09676-E15B-414E-ADE9-4CFD21277716}" srcOrd="3" destOrd="0" presId="urn:microsoft.com/office/officeart/2005/8/layout/chevron2"/>
    <dgm:cxn modelId="{4B1D40FC-B1C2-453A-8607-302FF2BC833D}" type="presParOf" srcId="{CAD0188A-56FC-4EB6-B5CE-816C1D97209B}" destId="{C4801975-71F4-48D1-B902-ED5AA41607FE}" srcOrd="4" destOrd="0" presId="urn:microsoft.com/office/officeart/2005/8/layout/chevron2"/>
    <dgm:cxn modelId="{ACA736AB-5FFF-45DB-B3E4-E228D3373A70}" type="presParOf" srcId="{C4801975-71F4-48D1-B902-ED5AA41607FE}" destId="{6686DA01-4710-4887-9ED3-F851DFA90AFC}" srcOrd="0" destOrd="0" presId="urn:microsoft.com/office/officeart/2005/8/layout/chevron2"/>
    <dgm:cxn modelId="{62960D37-07F8-4C07-8FAC-939964988643}" type="presParOf" srcId="{C4801975-71F4-48D1-B902-ED5AA41607FE}" destId="{5B4E17BA-CB83-4086-AB9F-98D828E680FB}" srcOrd="1" destOrd="0" presId="urn:microsoft.com/office/officeart/2005/8/layout/chevron2"/>
  </dgm:cxnLst>
  <dgm:bg/>
  <dgm:whole>
    <a:ln>
      <a:solidFill>
        <a:schemeClr val="bg1">
          <a:lumMod val="50000"/>
        </a:schemeClr>
      </a:solidFill>
    </a:ln>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C26579-FE7E-4FCA-AD7A-C9F14DC9A41C}">
      <dsp:nvSpPr>
        <dsp:cNvPr id="0" name=""/>
        <dsp:cNvSpPr/>
      </dsp:nvSpPr>
      <dsp:spPr>
        <a:xfrm rot="5400000">
          <a:off x="-400080" y="401101"/>
          <a:ext cx="2667200" cy="1867040"/>
        </a:xfrm>
        <a:prstGeom prst="chevron">
          <a:avLst/>
        </a:prstGeom>
        <a:solidFill>
          <a:srgbClr val="C00000"/>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US" sz="2500" b="1" kern="1200" dirty="0"/>
            <a:t>Individuals</a:t>
          </a:r>
        </a:p>
      </dsp:txBody>
      <dsp:txXfrm rot="-5400000">
        <a:off x="0" y="934541"/>
        <a:ext cx="1867040" cy="800160"/>
      </dsp:txXfrm>
    </dsp:sp>
    <dsp:sp modelId="{3F6A9F3A-70DD-47A1-BAF1-6047BA10BEF8}">
      <dsp:nvSpPr>
        <dsp:cNvPr id="0" name=""/>
        <dsp:cNvSpPr/>
      </dsp:nvSpPr>
      <dsp:spPr>
        <a:xfrm rot="5400000">
          <a:off x="8867780" y="-6999718"/>
          <a:ext cx="1733680" cy="15735159"/>
        </a:xfrm>
        <a:prstGeom prst="round2SameRect">
          <a:avLst/>
        </a:prstGeom>
        <a:solidFill>
          <a:schemeClr val="lt1">
            <a:alpha val="90000"/>
            <a:hueOff val="0"/>
            <a:satOff val="0"/>
            <a:lumOff val="0"/>
            <a:alphaOff val="0"/>
          </a:schemeClr>
        </a:solidFill>
        <a:ln w="25400" cap="flat" cmpd="sng" algn="ctr">
          <a:solidFill>
            <a:schemeClr val="bg1">
              <a:lumMod val="50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7584" tIns="20320" rIns="20320" bIns="20320" numCol="1" spcCol="1270" anchor="ctr" anchorCtr="0">
          <a:noAutofit/>
        </a:bodyPr>
        <a:lstStyle/>
        <a:p>
          <a:pPr marL="285750" lvl="1" indent="-285750" algn="l" defTabSz="1422400">
            <a:lnSpc>
              <a:spcPct val="90000"/>
            </a:lnSpc>
            <a:spcBef>
              <a:spcPct val="0"/>
            </a:spcBef>
            <a:spcAft>
              <a:spcPct val="15000"/>
            </a:spcAft>
            <a:buChar char="•"/>
          </a:pPr>
          <a:r>
            <a:rPr lang="en-US" sz="3200" kern="1200" dirty="0"/>
            <a:t>Self-paced courses &amp; live workshops</a:t>
          </a:r>
        </a:p>
        <a:p>
          <a:pPr marL="285750" lvl="1" indent="-285750" algn="l" defTabSz="1422400">
            <a:lnSpc>
              <a:spcPct val="90000"/>
            </a:lnSpc>
            <a:spcBef>
              <a:spcPct val="0"/>
            </a:spcBef>
            <a:spcAft>
              <a:spcPct val="15000"/>
            </a:spcAft>
            <a:buChar char="•"/>
          </a:pPr>
          <a:r>
            <a:rPr lang="en-US" sz="3200" kern="1200" dirty="0"/>
            <a:t>Learn when to use formulas, Power Query, Python, and Copilot</a:t>
          </a:r>
        </a:p>
        <a:p>
          <a:pPr marL="285750" lvl="1" indent="-285750" algn="l" defTabSz="1422400">
            <a:lnSpc>
              <a:spcPct val="90000"/>
            </a:lnSpc>
            <a:spcBef>
              <a:spcPct val="0"/>
            </a:spcBef>
            <a:spcAft>
              <a:spcPct val="15000"/>
            </a:spcAft>
            <a:buChar char="•"/>
          </a:pPr>
          <a:r>
            <a:rPr lang="en-US" sz="3200" kern="1200" dirty="0"/>
            <a:t>Focus on clarity, maintainability, and confidence</a:t>
          </a:r>
        </a:p>
      </dsp:txBody>
      <dsp:txXfrm rot="-5400000">
        <a:off x="1867041" y="85652"/>
        <a:ext cx="15650528" cy="1564418"/>
      </dsp:txXfrm>
    </dsp:sp>
    <dsp:sp modelId="{94386F4B-5B07-46D9-B7E2-E761F0E5054B}">
      <dsp:nvSpPr>
        <dsp:cNvPr id="0" name=""/>
        <dsp:cNvSpPr/>
      </dsp:nvSpPr>
      <dsp:spPr>
        <a:xfrm rot="5400000">
          <a:off x="-400080" y="2881023"/>
          <a:ext cx="2667200" cy="1867040"/>
        </a:xfrm>
        <a:prstGeom prst="chevron">
          <a:avLst/>
        </a:prstGeom>
        <a:solidFill>
          <a:srgbClr val="C00000"/>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US" sz="2500" b="1" kern="1200" dirty="0"/>
            <a:t>Teams</a:t>
          </a:r>
        </a:p>
      </dsp:txBody>
      <dsp:txXfrm rot="-5400000">
        <a:off x="0" y="3414463"/>
        <a:ext cx="1867040" cy="800160"/>
      </dsp:txXfrm>
    </dsp:sp>
    <dsp:sp modelId="{E1F63806-3F95-47B1-A8FC-936CE11E41B2}">
      <dsp:nvSpPr>
        <dsp:cNvPr id="0" name=""/>
        <dsp:cNvSpPr/>
      </dsp:nvSpPr>
      <dsp:spPr>
        <a:xfrm rot="5400000">
          <a:off x="8867780" y="-4519796"/>
          <a:ext cx="1733680" cy="15735159"/>
        </a:xfrm>
        <a:prstGeom prst="round2SameRect">
          <a:avLst/>
        </a:prstGeom>
        <a:solidFill>
          <a:schemeClr val="lt1">
            <a:alpha val="90000"/>
            <a:hueOff val="0"/>
            <a:satOff val="0"/>
            <a:lumOff val="0"/>
            <a:alphaOff val="0"/>
          </a:schemeClr>
        </a:solidFill>
        <a:ln w="25400" cap="flat" cmpd="sng" algn="ctr">
          <a:solidFill>
            <a:schemeClr val="bg1">
              <a:lumMod val="50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7584" tIns="20320" rIns="20320" bIns="20320" numCol="1" spcCol="1270" anchor="ctr" anchorCtr="0">
          <a:noAutofit/>
        </a:bodyPr>
        <a:lstStyle/>
        <a:p>
          <a:pPr marL="285750" lvl="1" indent="-285750" algn="l" defTabSz="1422400">
            <a:lnSpc>
              <a:spcPct val="90000"/>
            </a:lnSpc>
            <a:spcBef>
              <a:spcPct val="0"/>
            </a:spcBef>
            <a:spcAft>
              <a:spcPct val="15000"/>
            </a:spcAft>
            <a:buChar char="•"/>
          </a:pPr>
          <a:r>
            <a:rPr lang="en-US" sz="3200" kern="1200" dirty="0"/>
            <a:t>Practical corporate training</a:t>
          </a:r>
        </a:p>
        <a:p>
          <a:pPr marL="285750" lvl="1" indent="-285750" algn="l" defTabSz="1422400">
            <a:lnSpc>
              <a:spcPct val="90000"/>
            </a:lnSpc>
            <a:spcBef>
              <a:spcPct val="0"/>
            </a:spcBef>
            <a:spcAft>
              <a:spcPct val="15000"/>
            </a:spcAft>
            <a:buChar char="•"/>
          </a:pPr>
          <a:r>
            <a:rPr lang="en-US" sz="3200" kern="1200" dirty="0"/>
            <a:t>Apply modern Excel patterns to real workflows</a:t>
          </a:r>
        </a:p>
        <a:p>
          <a:pPr marL="285750" lvl="1" indent="-285750" algn="l" defTabSz="1422400">
            <a:lnSpc>
              <a:spcPct val="90000"/>
            </a:lnSpc>
            <a:spcBef>
              <a:spcPct val="0"/>
            </a:spcBef>
            <a:spcAft>
              <a:spcPct val="15000"/>
            </a:spcAft>
            <a:buChar char="•"/>
          </a:pPr>
          <a:r>
            <a:rPr lang="en-US" sz="3200" kern="1200" dirty="0"/>
            <a:t>Reduce errors, rework, and one-off fixes</a:t>
          </a:r>
        </a:p>
      </dsp:txBody>
      <dsp:txXfrm rot="-5400000">
        <a:off x="1867041" y="2565574"/>
        <a:ext cx="15650528" cy="1564418"/>
      </dsp:txXfrm>
    </dsp:sp>
    <dsp:sp modelId="{6686DA01-4710-4887-9ED3-F851DFA90AFC}">
      <dsp:nvSpPr>
        <dsp:cNvPr id="0" name=""/>
        <dsp:cNvSpPr/>
      </dsp:nvSpPr>
      <dsp:spPr>
        <a:xfrm rot="5400000">
          <a:off x="-400080" y="5360944"/>
          <a:ext cx="2667200" cy="1867040"/>
        </a:xfrm>
        <a:prstGeom prst="chevron">
          <a:avLst/>
        </a:prstGeom>
        <a:solidFill>
          <a:srgbClr val="C00000"/>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US" sz="2500" b="1" kern="1200" dirty="0"/>
            <a:t>Organizations</a:t>
          </a:r>
        </a:p>
      </dsp:txBody>
      <dsp:txXfrm rot="-5400000">
        <a:off x="0" y="5894384"/>
        <a:ext cx="1867040" cy="800160"/>
      </dsp:txXfrm>
    </dsp:sp>
    <dsp:sp modelId="{5B4E17BA-CB83-4086-AB9F-98D828E680FB}">
      <dsp:nvSpPr>
        <dsp:cNvPr id="0" name=""/>
        <dsp:cNvSpPr/>
      </dsp:nvSpPr>
      <dsp:spPr>
        <a:xfrm rot="5400000">
          <a:off x="8867780" y="-2039874"/>
          <a:ext cx="1733680" cy="15735159"/>
        </a:xfrm>
        <a:prstGeom prst="round2SameRect">
          <a:avLst/>
        </a:prstGeom>
        <a:solidFill>
          <a:schemeClr val="lt1">
            <a:alpha val="90000"/>
            <a:hueOff val="0"/>
            <a:satOff val="0"/>
            <a:lumOff val="0"/>
            <a:alphaOff val="0"/>
          </a:schemeClr>
        </a:solidFill>
        <a:ln w="25400" cap="flat" cmpd="sng" algn="ctr">
          <a:solidFill>
            <a:schemeClr val="bg1">
              <a:lumMod val="50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7584" tIns="20320" rIns="20320" bIns="20320" numCol="1" spcCol="1270" anchor="ctr" anchorCtr="0">
          <a:noAutofit/>
        </a:bodyPr>
        <a:lstStyle/>
        <a:p>
          <a:pPr marL="285750" lvl="1" indent="-285750" algn="l" defTabSz="1422400">
            <a:lnSpc>
              <a:spcPct val="90000"/>
            </a:lnSpc>
            <a:spcBef>
              <a:spcPct val="0"/>
            </a:spcBef>
            <a:spcAft>
              <a:spcPct val="15000"/>
            </a:spcAft>
            <a:buChar char="•"/>
          </a:pPr>
          <a:r>
            <a:rPr lang="en-US" sz="3200" kern="1200" dirty="0"/>
            <a:t>Guided, multi-week modernization program</a:t>
          </a:r>
        </a:p>
        <a:p>
          <a:pPr marL="285750" lvl="1" indent="-285750" algn="l" defTabSz="1422400">
            <a:lnSpc>
              <a:spcPct val="90000"/>
            </a:lnSpc>
            <a:spcBef>
              <a:spcPct val="0"/>
            </a:spcBef>
            <a:spcAft>
              <a:spcPct val="15000"/>
            </a:spcAft>
            <a:buChar char="•"/>
          </a:pPr>
          <a:r>
            <a:rPr lang="en-US" sz="3200" kern="1200" dirty="0"/>
            <a:t>Teams learn to build pipelines, automation, and documentation</a:t>
          </a:r>
        </a:p>
        <a:p>
          <a:pPr marL="285750" lvl="1" indent="-285750" algn="l" defTabSz="1422400">
            <a:lnSpc>
              <a:spcPct val="90000"/>
            </a:lnSpc>
            <a:spcBef>
              <a:spcPct val="0"/>
            </a:spcBef>
            <a:spcAft>
              <a:spcPct val="15000"/>
            </a:spcAft>
            <a:buChar char="•"/>
          </a:pPr>
          <a:r>
            <a:rPr lang="en-US" sz="3200" kern="1200" dirty="0"/>
            <a:t>Internal ownership of reliable, </a:t>
          </a:r>
          <a:r>
            <a:rPr lang="en-US" sz="3200" kern="1200"/>
            <a:t>auditable workflows</a:t>
          </a:r>
          <a:endParaRPr lang="en-US" sz="3200" kern="1200" dirty="0"/>
        </a:p>
      </dsp:txBody>
      <dsp:txXfrm rot="-5400000">
        <a:off x="1867041" y="5045496"/>
        <a:ext cx="15650528" cy="1564418"/>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A98A70-FA8C-4354-959C-C70678AC9BCF}" type="datetimeFigureOut">
              <a:rPr lang="en-US" smtClean="0"/>
              <a:t>5/26/2026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B500C5-13F7-48FC-8160-C29AECF6C602}" type="slidenum">
              <a:rPr lang="en-US" smtClean="0"/>
              <a:t>‹#›</a:t>
            </a:fld>
            <a:endParaRPr lang="en-US"/>
          </a:p>
        </p:txBody>
      </p:sp>
    </p:spTree>
    <p:extLst>
      <p:ext uri="{BB962C8B-B14F-4D97-AF65-F5344CB8AC3E}">
        <p14:creationId xmlns:p14="http://schemas.microsoft.com/office/powerpoint/2010/main" val="30183505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FB500C5-13F7-48FC-8160-C29AECF6C602}" type="slidenum">
              <a:rPr lang="en-US" smtClean="0"/>
              <a:t>1</a:t>
            </a:fld>
            <a:endParaRPr lang="en-US"/>
          </a:p>
        </p:txBody>
      </p:sp>
    </p:spTree>
    <p:extLst>
      <p:ext uri="{BB962C8B-B14F-4D97-AF65-F5344CB8AC3E}">
        <p14:creationId xmlns:p14="http://schemas.microsoft.com/office/powerpoint/2010/main" val="40951597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now you have a proper Excel Table. It auto-expands, it has structured references, it’s clean. But here’s what I want you to notice: this Table is still sitting by itself. What happens when you need to connect it to another dataset? Say you have a sales table AND a customer table, and you need to analyze them together. That’s where the Data Model comes in, and that’s where things get really powerful. We’re not going there today, but just know: what you just built is the foundation for something much bigger.</a:t>
            </a:r>
          </a:p>
        </p:txBody>
      </p:sp>
      <p:sp>
        <p:nvSpPr>
          <p:cNvPr id="4" name="Slide Number Placeholder 3"/>
          <p:cNvSpPr>
            <a:spLocks noGrp="1"/>
          </p:cNvSpPr>
          <p:nvPr>
            <p:ph type="sldNum" sz="quarter" idx="5"/>
          </p:nvPr>
        </p:nvSpPr>
        <p:spPr/>
        <p:txBody>
          <a:bodyPr/>
          <a:lstStyle/>
          <a:p>
            <a:fld id="{1300335D-9F13-4B80-ADC5-B0EA3E10FF6B}" type="slidenum">
              <a:rPr lang="en-US" smtClean="0"/>
              <a:t>5</a:t>
            </a:fld>
            <a:endParaRPr lang="en-US"/>
          </a:p>
        </p:txBody>
      </p:sp>
    </p:spTree>
    <p:extLst>
      <p:ext uri="{BB962C8B-B14F-4D97-AF65-F5344CB8AC3E}">
        <p14:creationId xmlns:p14="http://schemas.microsoft.com/office/powerpoint/2010/main" val="6245492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ED567-4E92-5456-76DE-64BB8D1D7E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6FAB1C-F351-A3B8-EF0C-07B74DD934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1C3273-B52E-75C7-4AA5-00426F7665DC}"/>
              </a:ext>
            </a:extLst>
          </p:cNvPr>
          <p:cNvSpPr>
            <a:spLocks noGrp="1"/>
          </p:cNvSpPr>
          <p:nvPr>
            <p:ph type="body" idx="1"/>
          </p:nvPr>
        </p:nvSpPr>
        <p:spPr/>
        <p:txBody>
          <a:bodyPr/>
          <a:lstStyle/>
          <a:p>
            <a:r>
              <a:rPr lang="en-US" dirty="0"/>
              <a:t>Pretty cool, right? Analyze Data gave you instant charts and summaries with zero formulas. But I want to be upfront about something: this is great for quick exploration. It’s not great for repeatable analysis. Next week when your boss asks “can you run that same analysis on the new numbers?” you’re starting from scratch. There’s no saved workflow. That’s the gap between a quick insight and a reliable process — and it’s the gap most Excel users never close.</a:t>
            </a:r>
          </a:p>
        </p:txBody>
      </p:sp>
      <p:sp>
        <p:nvSpPr>
          <p:cNvPr id="4" name="Slide Number Placeholder 3">
            <a:extLst>
              <a:ext uri="{FF2B5EF4-FFF2-40B4-BE49-F238E27FC236}">
                <a16:creationId xmlns:a16="http://schemas.microsoft.com/office/drawing/2014/main" id="{1850843E-9294-D301-C38E-EC9A5838A381}"/>
              </a:ext>
            </a:extLst>
          </p:cNvPr>
          <p:cNvSpPr>
            <a:spLocks noGrp="1"/>
          </p:cNvSpPr>
          <p:nvPr>
            <p:ph type="sldNum" sz="quarter" idx="5"/>
          </p:nvPr>
        </p:nvSpPr>
        <p:spPr/>
        <p:txBody>
          <a:bodyPr/>
          <a:lstStyle/>
          <a:p>
            <a:fld id="{1300335D-9F13-4B80-ADC5-B0EA3E10FF6B}" type="slidenum">
              <a:rPr lang="en-US" smtClean="0"/>
              <a:t>6</a:t>
            </a:fld>
            <a:endParaRPr lang="en-US"/>
          </a:p>
        </p:txBody>
      </p:sp>
    </p:spTree>
    <p:extLst>
      <p:ext uri="{BB962C8B-B14F-4D97-AF65-F5344CB8AC3E}">
        <p14:creationId xmlns:p14="http://schemas.microsoft.com/office/powerpoint/2010/main" val="556426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39B45-FCD9-C2E1-5121-5C6BF4C998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94D143-DDA1-96A8-FAFB-F9C6B37BA7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41BDB9-9282-E5F0-D75A-94F61F4D72DC}"/>
              </a:ext>
            </a:extLst>
          </p:cNvPr>
          <p:cNvSpPr>
            <a:spLocks noGrp="1"/>
          </p:cNvSpPr>
          <p:nvPr>
            <p:ph type="body" idx="1"/>
          </p:nvPr>
        </p:nvSpPr>
        <p:spPr/>
        <p:txBody>
          <a:bodyPr/>
          <a:lstStyle/>
          <a:p>
            <a:r>
              <a:rPr lang="en-US" dirty="0"/>
              <a:t>OK so now your data is clean and it refreshes automatically. Beautiful. But what would you do next? You’d probably load this into the Data Model, create a relationship with another table, build a PivotTable with DAX measures, maybe even bring Python in for a statistical breakdown. That’s the full pipeline — from messy raw data all the way to an insight your team can act on. We just did step one.</a:t>
            </a:r>
          </a:p>
          <a:p>
            <a:r>
              <a:rPr lang="en-US" dirty="0"/>
              <a:t>I’m not going to pretend steps two through five are simple enough for a demo. That’s the work I do with people in the Modern Excel AI Stack.</a:t>
            </a:r>
          </a:p>
        </p:txBody>
      </p:sp>
      <p:sp>
        <p:nvSpPr>
          <p:cNvPr id="4" name="Slide Number Placeholder 3">
            <a:extLst>
              <a:ext uri="{FF2B5EF4-FFF2-40B4-BE49-F238E27FC236}">
                <a16:creationId xmlns:a16="http://schemas.microsoft.com/office/drawing/2014/main" id="{ECD23788-BD0E-83B3-6825-80BAEA177181}"/>
              </a:ext>
            </a:extLst>
          </p:cNvPr>
          <p:cNvSpPr>
            <a:spLocks noGrp="1"/>
          </p:cNvSpPr>
          <p:nvPr>
            <p:ph type="sldNum" sz="quarter" idx="5"/>
          </p:nvPr>
        </p:nvSpPr>
        <p:spPr/>
        <p:txBody>
          <a:bodyPr/>
          <a:lstStyle/>
          <a:p>
            <a:fld id="{1300335D-9F13-4B80-ADC5-B0EA3E10FF6B}" type="slidenum">
              <a:rPr lang="en-US" smtClean="0"/>
              <a:t>7</a:t>
            </a:fld>
            <a:endParaRPr lang="en-US"/>
          </a:p>
        </p:txBody>
      </p:sp>
    </p:spTree>
    <p:extLst>
      <p:ext uri="{BB962C8B-B14F-4D97-AF65-F5344CB8AC3E}">
        <p14:creationId xmlns:p14="http://schemas.microsoft.com/office/powerpoint/2010/main" val="20553819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Those three things are genuinely useful and you can use them tomorrow. But I’d be doing you a disservice if I pretended that’s the whole story.</a:t>
            </a:r>
          </a:p>
          <a:p>
            <a:r>
              <a:rPr lang="en-US" dirty="0"/>
              <a:t>Tables give you structure — but a table sitting by itself is still flat. You can’t relate it to other data, you can’t build measures on top of it, you can’t answer questions that span multiple datasets. For that you need the Data Model, and most people never get there.</a:t>
            </a:r>
          </a:p>
          <a:p>
            <a:r>
              <a:rPr lang="en-US" dirty="0"/>
              <a:t>Power Query cleaned your data beautifully — once. But what happens next month when the source file changes format? Or when you need to merge five files instead of one? Or when someone asks why your numbers don’t match finance’s report? One cleanup is not a pipeline. A pipeline is something that runs reliably every time without you babysitting it.</a:t>
            </a:r>
          </a:p>
          <a:p>
            <a:r>
              <a:rPr lang="en-US" dirty="0"/>
              <a:t>Analyze Data gave you quick insights — but they’re gone the moment you close the pane. There’s no saved analysis. No audit trail. No way to hand it to a colleague and say “here, run this again next quarter.” Quick insights are great for exploration, but they’re not how you make decisions you can defend.</a:t>
            </a:r>
          </a:p>
          <a:p>
            <a:r>
              <a:rPr lang="en-US" dirty="0"/>
              <a:t>Each of these is step one of a longer process. And the gap between step one and a reliable workflow is where most people get stuck and give up.</a:t>
            </a:r>
          </a:p>
        </p:txBody>
      </p:sp>
      <p:sp>
        <p:nvSpPr>
          <p:cNvPr id="4" name="Slide Number Placeholder 3"/>
          <p:cNvSpPr>
            <a:spLocks noGrp="1"/>
          </p:cNvSpPr>
          <p:nvPr>
            <p:ph type="sldNum" sz="quarter" idx="5"/>
          </p:nvPr>
        </p:nvSpPr>
        <p:spPr/>
        <p:txBody>
          <a:bodyPr/>
          <a:lstStyle/>
          <a:p>
            <a:fld id="{1300335D-9F13-4B80-ADC5-B0EA3E10FF6B}" type="slidenum">
              <a:rPr lang="en-US" smtClean="0"/>
              <a:t>8</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give you a clear picture of everything I offer so you can decide what’s right for you. I’m not going to be coy about the fact that I have paid offerings. I think you deserve to know what exists.</a:t>
            </a:r>
          </a:p>
        </p:txBody>
      </p:sp>
      <p:sp>
        <p:nvSpPr>
          <p:cNvPr id="4" name="Slide Number Placeholder 3"/>
          <p:cNvSpPr>
            <a:spLocks noGrp="1"/>
          </p:cNvSpPr>
          <p:nvPr>
            <p:ph type="sldNum" sz="quarter" idx="5"/>
          </p:nvPr>
        </p:nvSpPr>
        <p:spPr/>
        <p:txBody>
          <a:bodyPr/>
          <a:lstStyle/>
          <a:p>
            <a:fld id="{1300335D-9F13-4B80-ADC5-B0EA3E10FF6B}" type="slidenum">
              <a:rPr lang="en-US" smtClean="0"/>
              <a:t>9</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of this is free and I mean it. I publish regularly, it’s substantive, and it’s not gated behind anything. If free is where you want to stay, I’m genuinely fine with that.</a:t>
            </a:r>
          </a:p>
        </p:txBody>
      </p:sp>
      <p:sp>
        <p:nvSpPr>
          <p:cNvPr id="4" name="Slide Number Placeholder 3"/>
          <p:cNvSpPr>
            <a:spLocks noGrp="1"/>
          </p:cNvSpPr>
          <p:nvPr>
            <p:ph type="sldNum" sz="quarter" idx="5"/>
          </p:nvPr>
        </p:nvSpPr>
        <p:spPr/>
        <p:txBody>
          <a:bodyPr/>
          <a:lstStyle/>
          <a:p>
            <a:fld id="{1300335D-9F13-4B80-ADC5-B0EA3E10FF6B}" type="slidenum">
              <a:rPr lang="en-US" smtClean="0"/>
              <a:t>10</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just saw three genuinely useful things. And you could absolutely go home and use all of them tomorrow. But here’s what I’ve seen happen hundreds of times: someone watches a demo like this, tries it on Monday, hits a snag that wasn’t in the demo, Googles around for 45 minutes, gets a partial answer, and moves on. Two weeks later they’re back to doing it the old way.</a:t>
            </a:r>
          </a:p>
          <a:p>
            <a:r>
              <a:rPr lang="en-US" dirty="0"/>
              <a:t>Free content — including today — is great at showing you what’s possible. What it can’t do is hold your hand through the messy middle when your actual data doesn’t look like the demo data. That’s not a flaw in the content. It’s just the nature of free. If you’re here for the third or fourth time and still feel stuck, that’s not a failure — it’s a signal that you need structure, not more content.</a:t>
            </a:r>
          </a:p>
        </p:txBody>
      </p:sp>
      <p:sp>
        <p:nvSpPr>
          <p:cNvPr id="4" name="Slide Number Placeholder 3"/>
          <p:cNvSpPr>
            <a:spLocks noGrp="1"/>
          </p:cNvSpPr>
          <p:nvPr>
            <p:ph type="sldNum" sz="quarter" idx="5"/>
          </p:nvPr>
        </p:nvSpPr>
        <p:spPr/>
        <p:txBody>
          <a:bodyPr/>
          <a:lstStyle/>
          <a:p>
            <a:fld id="{FFB500C5-13F7-48FC-8160-C29AECF6C602}" type="slidenum">
              <a:rPr lang="en-US" smtClean="0"/>
              <a:t>11</a:t>
            </a:fld>
            <a:endParaRPr lang="en-US"/>
          </a:p>
        </p:txBody>
      </p:sp>
    </p:spTree>
    <p:extLst>
      <p:ext uri="{BB962C8B-B14F-4D97-AF65-F5344CB8AC3E}">
        <p14:creationId xmlns:p14="http://schemas.microsoft.com/office/powerpoint/2010/main" val="18241933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work with individuals, teams, and organizations at different levels, but the philosophy is always the same: reduce chaos, increase clarity, and build workflows that actually hold up over time.</a:t>
            </a:r>
          </a:p>
          <a:p>
            <a:r>
              <a:rPr lang="en-US" dirty="0"/>
              <a:t>For individuals, this usually means self-paced courses or live workshops focused not just on learning features, but on developing judgment — understanding when to use formulas, Power Query, Python, or Copilot, and when not to.</a:t>
            </a:r>
          </a:p>
          <a:p>
            <a:r>
              <a:rPr lang="en-US" dirty="0"/>
              <a:t>With teams, the work becomes more applied and workflow-driven — practical corporate training that helps reduce errors, rework, and fragile one-off fixes by applying modern Excel patterns to real business processes.</a:t>
            </a:r>
          </a:p>
          <a:p>
            <a:r>
              <a:rPr lang="en-US" dirty="0"/>
              <a:t>At the organizational level, this often takes the form of a guided, multi-week modernization program where teams learn to build pipelines, automation, and documentation around Excel-based systems.</a:t>
            </a:r>
          </a:p>
        </p:txBody>
      </p:sp>
      <p:sp>
        <p:nvSpPr>
          <p:cNvPr id="4" name="Slide Number Placeholder 3"/>
          <p:cNvSpPr>
            <a:spLocks noGrp="1"/>
          </p:cNvSpPr>
          <p:nvPr>
            <p:ph type="sldNum" sz="quarter" idx="5"/>
          </p:nvPr>
        </p:nvSpPr>
        <p:spPr/>
        <p:txBody>
          <a:bodyPr/>
          <a:lstStyle/>
          <a:p>
            <a:fld id="{1053C468-B4D7-40C4-885B-735937C382A2}" type="slidenum">
              <a:rPr lang="en-US" smtClean="0"/>
              <a:t>12</a:t>
            </a:fld>
            <a:endParaRPr lang="en-US"/>
          </a:p>
        </p:txBody>
      </p:sp>
    </p:spTree>
    <p:extLst>
      <p:ext uri="{BB962C8B-B14F-4D97-AF65-F5344CB8AC3E}">
        <p14:creationId xmlns:p14="http://schemas.microsoft.com/office/powerpoint/2010/main" val="41228936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got value from today and you want to keep going — not just watch another demo in six months, but actually build the full pipeline we talked about — the Modern Excel AI Stack is where that happens. It’s a membership, not a big course. You get ongoing guidance as tools change, and you’re not starting from scratch every time Microsoft ships something new.</a:t>
            </a:r>
          </a:p>
          <a:p>
            <a:r>
              <a:rPr lang="en-US" dirty="0"/>
              <a:t>If you want to go deep on one specific topic, I have standalone courses like Python in Excel: Quick Wins. If you prefer self-paced, my LinkedIn Learning courses are designed to be clear and sequenced. If you want live, hands-on training, that’s what my O’Reilly sessions and Eventbrite workshops are for.</a:t>
            </a:r>
          </a:p>
          <a:p>
            <a:r>
              <a:rPr lang="en-US" dirty="0"/>
              <a:t>And if you’re a manager or team lead and you’re thinking “my whole team needs this,” book a discovery call. That link is on the slide.</a:t>
            </a:r>
          </a:p>
        </p:txBody>
      </p:sp>
      <p:sp>
        <p:nvSpPr>
          <p:cNvPr id="4" name="Slide Number Placeholder 3"/>
          <p:cNvSpPr>
            <a:spLocks noGrp="1"/>
          </p:cNvSpPr>
          <p:nvPr>
            <p:ph type="sldNum" sz="quarter" idx="5"/>
          </p:nvPr>
        </p:nvSpPr>
        <p:spPr/>
        <p:txBody>
          <a:bodyPr/>
          <a:lstStyle/>
          <a:p>
            <a:fld id="{FFB500C5-13F7-48FC-8160-C29AECF6C602}" type="slidenum">
              <a:rPr lang="en-US" smtClean="0"/>
              <a:t>13</a:t>
            </a:fld>
            <a:endParaRPr lang="en-US"/>
          </a:p>
        </p:txBody>
      </p:sp>
    </p:spTree>
    <p:extLst>
      <p:ext uri="{BB962C8B-B14F-4D97-AF65-F5344CB8AC3E}">
        <p14:creationId xmlns:p14="http://schemas.microsoft.com/office/powerpoint/2010/main" val="19585015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Starter Kit is in your downloads. It’s a great orientation to everything Modern Excel can do. Just know that the kit is a map, not a guide. If you want someone walking beside you telling you where to go, that’s what the membership is for.</a:t>
            </a:r>
          </a:p>
        </p:txBody>
      </p:sp>
      <p:sp>
        <p:nvSpPr>
          <p:cNvPr id="4" name="Slide Number Placeholder 3"/>
          <p:cNvSpPr>
            <a:spLocks noGrp="1"/>
          </p:cNvSpPr>
          <p:nvPr>
            <p:ph type="sldNum" sz="quarter" idx="5"/>
          </p:nvPr>
        </p:nvSpPr>
        <p:spPr/>
        <p:txBody>
          <a:bodyPr/>
          <a:lstStyle/>
          <a:p>
            <a:fld id="{1300335D-9F13-4B80-ADC5-B0EA3E10FF6B}" type="slidenum">
              <a:rPr lang="en-US" smtClean="0"/>
              <a:t>14</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know someone who’s still manually cleaning data every Monday morning or rebuilding the same report from scratch every month, send them this recording. That’s the person this is for.</a:t>
            </a:r>
          </a:p>
        </p:txBody>
      </p:sp>
      <p:sp>
        <p:nvSpPr>
          <p:cNvPr id="4" name="Slide Number Placeholder 3"/>
          <p:cNvSpPr>
            <a:spLocks noGrp="1"/>
          </p:cNvSpPr>
          <p:nvPr>
            <p:ph type="sldNum" sz="quarter" idx="5"/>
          </p:nvPr>
        </p:nvSpPr>
        <p:spPr/>
        <p:txBody>
          <a:bodyPr/>
          <a:lstStyle/>
          <a:p>
            <a:fld id="{1300335D-9F13-4B80-ADC5-B0EA3E10FF6B}" type="slidenum">
              <a:rPr lang="en-US" smtClean="0"/>
              <a:t>15</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spending this time with me. I hope you got something useful out of today.</a:t>
            </a:r>
          </a:p>
        </p:txBody>
      </p:sp>
      <p:sp>
        <p:nvSpPr>
          <p:cNvPr id="4" name="Slide Number Placeholder 3"/>
          <p:cNvSpPr>
            <a:spLocks noGrp="1"/>
          </p:cNvSpPr>
          <p:nvPr>
            <p:ph type="sldNum" sz="quarter" idx="5"/>
          </p:nvPr>
        </p:nvSpPr>
        <p:spPr/>
        <p:txBody>
          <a:bodyPr/>
          <a:lstStyle/>
          <a:p>
            <a:fld id="{1300335D-9F13-4B80-ADC5-B0EA3E10FF6B}" type="slidenum">
              <a:rPr lang="en-US" smtClean="0"/>
              <a:t>16</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image" Target="../media/image8.jpe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jpe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swiy.co/mxldd" TargetMode="Externa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stringfestanalytics.com/"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0.jpeg"/><Relationship Id="rId5" Type="http://schemas.openxmlformats.org/officeDocument/2006/relationships/image" Target="../media/image9.png"/><Relationship Id="rId4" Type="http://schemas.openxmlformats.org/officeDocument/2006/relationships/hyperlink" Target="https://www.linkedin.com/in/gjmount/"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1.jpeg"/></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3.xml.rels><?xml version="1.0" encoding="UTF-8" standalone="yes"?>
<Relationships xmlns="http://schemas.openxmlformats.org/package/2006/relationships"><Relationship Id="rId8" Type="http://schemas.openxmlformats.org/officeDocument/2006/relationships/hyperlink" Target="https://stringfestanalytics.com/book-me/" TargetMode="External"/><Relationship Id="rId3" Type="http://schemas.openxmlformats.org/officeDocument/2006/relationships/hyperlink" Target="https://stringfestdata.gumroad.com/l/mxlais" TargetMode="External"/><Relationship Id="rId7" Type="http://schemas.openxmlformats.org/officeDocument/2006/relationships/hyperlink" Target="https://www.eventbrite.com/o/stringfest-analytics-34157163075"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hyperlink" Target="https://www.oreilly.com/pub/au/7969" TargetMode="External"/><Relationship Id="rId5" Type="http://schemas.openxmlformats.org/officeDocument/2006/relationships/hyperlink" Target="https://www.linkedin.com/learning/instructors/george-mount" TargetMode="External"/><Relationship Id="rId4" Type="http://schemas.openxmlformats.org/officeDocument/2006/relationships/hyperlink" Target="https://stringfestdata.gumroad.com/l/pie-qw?layout=profile" TargetMode="External"/><Relationship Id="rId9"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https://stringfestanalytics.com/book-me/"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png"/><Relationship Id="rId1" Type="http://schemas.openxmlformats.org/officeDocument/2006/relationships/slideLayout" Target="../slideLayouts/slideLayout1.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3">
            <a:extLst>
              <a:ext uri="{28A0092B-C50C-407E-A947-70E740481C1C}">
                <a14:useLocalDpi xmlns:a14="http://schemas.microsoft.com/office/drawing/2010/main" val="0"/>
              </a:ext>
            </a:extLst>
          </a:blip>
          <a:srcRect/>
          <a:stretch/>
        </p:blipFill>
        <p:spPr>
          <a:xfrm>
            <a:off x="13542796" y="4850092"/>
            <a:ext cx="4745204" cy="5435819"/>
          </a:xfrm>
          <a:prstGeom prst="rect">
            <a:avLst/>
          </a:prstGeom>
        </p:spPr>
      </p:pic>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4400" y="-3440159"/>
            <a:ext cx="15257208" cy="11189825"/>
          </a:xfrm>
          <a:prstGeom prst="rect">
            <a:avLst/>
          </a:prstGeom>
        </p:spPr>
      </p:pic>
      <p:sp>
        <p:nvSpPr>
          <p:cNvPr id="11" name="TextBox 10"/>
          <p:cNvSpPr txBox="1"/>
          <p:nvPr/>
        </p:nvSpPr>
        <p:spPr>
          <a:xfrm>
            <a:off x="486137" y="2531318"/>
            <a:ext cx="11979797" cy="923330"/>
          </a:xfrm>
          <a:prstGeom prst="rect">
            <a:avLst/>
          </a:prstGeom>
          <a:noFill/>
        </p:spPr>
        <p:txBody>
          <a:bodyPr wrap="square" rtlCol="0">
            <a:spAutoFit/>
          </a:bodyPr>
          <a:lstStyle/>
          <a:p>
            <a:r>
              <a:rPr lang="en-US" sz="5400" b="1">
                <a:solidFill>
                  <a:srgbClr val="CF3338"/>
                </a:solidFill>
                <a:latin typeface="Pragmatica" panose="020B0403040502020204" pitchFamily="34" charset="0"/>
              </a:rPr>
              <a:t>Modern Excel Demo Day</a:t>
            </a:r>
            <a:endParaRPr lang="en-US" sz="5400" b="1" dirty="0">
              <a:solidFill>
                <a:srgbClr val="CF3338"/>
              </a:solidFill>
              <a:latin typeface="Pragmatica" panose="020B0403040502020204" pitchFamily="34" charset="0"/>
            </a:endParaRPr>
          </a:p>
        </p:txBody>
      </p:sp>
      <p:sp>
        <p:nvSpPr>
          <p:cNvPr id="2" name="AutoShape 2" descr="Home | Full Stack Modeller">
            <a:extLst>
              <a:ext uri="{FF2B5EF4-FFF2-40B4-BE49-F238E27FC236}">
                <a16:creationId xmlns:a16="http://schemas.microsoft.com/office/drawing/2014/main" id="{6CCAA77C-4E76-640C-066C-F3E39EE1AC92}"/>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556591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8288000" cy="10287000"/>
          </a:xfrm>
          <a:prstGeom prst="rect">
            <a:avLst/>
          </a:prstGeom>
          <a:solidFill>
            <a:srgbClr val="CF3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5" name="TextBox 4"/>
          <p:cNvSpPr txBox="1"/>
          <p:nvPr/>
        </p:nvSpPr>
        <p:spPr>
          <a:xfrm>
            <a:off x="781292" y="590309"/>
            <a:ext cx="15486926" cy="1446550"/>
          </a:xfrm>
          <a:prstGeom prst="rect">
            <a:avLst/>
          </a:prstGeom>
          <a:noFill/>
        </p:spPr>
        <p:txBody>
          <a:bodyPr wrap="square" rtlCol="0">
            <a:spAutoFit/>
          </a:bodyPr>
          <a:lstStyle/>
          <a:p>
            <a:r>
              <a:rPr lang="en-US" sz="4400" b="1" dirty="0">
                <a:solidFill>
                  <a:schemeClr val="bg1"/>
                </a:solidFill>
              </a:rPr>
              <a:t>I help Excel users move from fragile spreadsheets</a:t>
            </a:r>
          </a:p>
          <a:p>
            <a:r>
              <a:rPr lang="en-US" sz="4400" b="1" dirty="0">
                <a:solidFill>
                  <a:schemeClr val="bg1"/>
                </a:solidFill>
              </a:rPr>
              <a:t>to confident, scalable analysis.</a:t>
            </a:r>
          </a:p>
        </p:txBody>
      </p:sp>
      <p:pic>
        <p:nvPicPr>
          <p:cNvPr id="3" name="Picture 4" descr="Advancing into Analytics Cover Image">
            <a:extLst>
              <a:ext uri="{FF2B5EF4-FFF2-40B4-BE49-F238E27FC236}">
                <a16:creationId xmlns:a16="http://schemas.microsoft.com/office/drawing/2014/main" id="{588F684B-18EF-D76C-5F7B-15E4BAD6064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077075" y="195640"/>
            <a:ext cx="3130385" cy="408866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Free photos of Cleveland">
            <a:extLst>
              <a:ext uri="{FF2B5EF4-FFF2-40B4-BE49-F238E27FC236}">
                <a16:creationId xmlns:a16="http://schemas.microsoft.com/office/drawing/2014/main" id="{CBA53EEE-E3E1-D99E-A4DC-1C4DD2E6CE4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95692" y="2968810"/>
            <a:ext cx="5535359" cy="3684473"/>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Logo  Description automatically generated">
            <a:extLst>
              <a:ext uri="{FF2B5EF4-FFF2-40B4-BE49-F238E27FC236}">
                <a16:creationId xmlns:a16="http://schemas.microsoft.com/office/drawing/2014/main" id="{97E0F267-87DF-961E-1FAA-47FD4F27A5C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683691" y="6002696"/>
            <a:ext cx="7448309" cy="5462681"/>
          </a:xfrm>
          <a:prstGeom prst="rect">
            <a:avLst/>
          </a:prstGeom>
        </p:spPr>
      </p:pic>
      <p:pic>
        <p:nvPicPr>
          <p:cNvPr id="1026" name="Picture 2" descr="Modern data analytics in Excel book cover">
            <a:extLst>
              <a:ext uri="{FF2B5EF4-FFF2-40B4-BE49-F238E27FC236}">
                <a16:creationId xmlns:a16="http://schemas.microsoft.com/office/drawing/2014/main" id="{874ADA5E-A7A7-1D02-C728-513187DE1EF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321136" y="2210054"/>
            <a:ext cx="3437261" cy="4507995"/>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Microsoft Most Valuable Professional - Wikipedia">
            <a:extLst>
              <a:ext uri="{FF2B5EF4-FFF2-40B4-BE49-F238E27FC236}">
                <a16:creationId xmlns:a16="http://schemas.microsoft.com/office/drawing/2014/main" id="{36C71929-5967-B93D-05FE-E330D621C59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4642" y="7832951"/>
            <a:ext cx="5057775" cy="2028825"/>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Thais Cooke on LinkedIn: #linkedinlearninginstructor #linkedinlearning | 82  comments">
            <a:extLst>
              <a:ext uri="{FF2B5EF4-FFF2-40B4-BE49-F238E27FC236}">
                <a16:creationId xmlns:a16="http://schemas.microsoft.com/office/drawing/2014/main" id="{2E3C0D6C-F7C9-F3C4-3BAA-FF34E086E7E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478000" y="5312978"/>
            <a:ext cx="333375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29011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520861" y="170082"/>
            <a:ext cx="11979797" cy="1477328"/>
          </a:xfrm>
          <a:prstGeom prst="rect">
            <a:avLst/>
          </a:prstGeom>
          <a:noFill/>
        </p:spPr>
        <p:txBody>
          <a:bodyPr wrap="square" rtlCol="0">
            <a:spAutoFit/>
          </a:bodyPr>
          <a:lstStyle/>
          <a:p>
            <a:r>
              <a:rPr lang="en-US" sz="9000" dirty="0">
                <a:latin typeface="Aliens &amp; cows" panose="00000500000000000000" pitchFamily="2" charset="0"/>
              </a:rPr>
              <a:t>What to expect today</a:t>
            </a:r>
          </a:p>
        </p:txBody>
      </p:sp>
      <p:sp>
        <p:nvSpPr>
          <p:cNvPr id="3" name="TextBox 2"/>
          <p:cNvSpPr txBox="1"/>
          <p:nvPr/>
        </p:nvSpPr>
        <p:spPr>
          <a:xfrm>
            <a:off x="520861" y="3191948"/>
            <a:ext cx="14393120" cy="2585323"/>
          </a:xfrm>
          <a:prstGeom prst="rect">
            <a:avLst/>
          </a:prstGeom>
          <a:noFill/>
        </p:spPr>
        <p:txBody>
          <a:bodyPr wrap="square" rtlCol="0">
            <a:spAutoFit/>
          </a:bodyPr>
          <a:lstStyle/>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Practical Excel demos</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Transparent look at my services and offerings</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Bonus resources</a:t>
            </a:r>
          </a:p>
        </p:txBody>
      </p:sp>
      <p:pic>
        <p:nvPicPr>
          <p:cNvPr id="15" name="Picture 14" descr="A close up of a sign  Description automatically generated">
            <a:extLst>
              <a:ext uri="{FF2B5EF4-FFF2-40B4-BE49-F238E27FC236}">
                <a16:creationId xmlns:a16="http://schemas.microsoft.com/office/drawing/2014/main" id="{29761B90-A7DE-4A60-A915-F085BD87CA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Tree>
    <p:extLst>
      <p:ext uri="{BB962C8B-B14F-4D97-AF65-F5344CB8AC3E}">
        <p14:creationId xmlns:p14="http://schemas.microsoft.com/office/powerpoint/2010/main" val="7870763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A9E9DD-6C52-11D7-FF34-4264EA227251}"/>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E34997D2-521B-C2AB-A68A-2EB202160AAF}"/>
              </a:ext>
            </a:extLst>
          </p:cNvPr>
          <p:cNvSpPr txBox="1"/>
          <p:nvPr/>
        </p:nvSpPr>
        <p:spPr>
          <a:xfrm>
            <a:off x="520861" y="170082"/>
            <a:ext cx="11979797" cy="1477328"/>
          </a:xfrm>
          <a:prstGeom prst="rect">
            <a:avLst/>
          </a:prstGeom>
          <a:noFill/>
        </p:spPr>
        <p:txBody>
          <a:bodyPr wrap="square" rtlCol="0">
            <a:spAutoFit/>
          </a:bodyPr>
          <a:lstStyle/>
          <a:p>
            <a:r>
              <a:rPr lang="en-US" sz="9000" dirty="0">
                <a:latin typeface="Aliens &amp; cows" panose="00000500000000000000" pitchFamily="2" charset="0"/>
              </a:rPr>
              <a:t>Resources for today</a:t>
            </a:r>
          </a:p>
        </p:txBody>
      </p:sp>
      <p:sp>
        <p:nvSpPr>
          <p:cNvPr id="3" name="TextBox 2">
            <a:extLst>
              <a:ext uri="{FF2B5EF4-FFF2-40B4-BE49-F238E27FC236}">
                <a16:creationId xmlns:a16="http://schemas.microsoft.com/office/drawing/2014/main" id="{0770AD58-6393-FAA1-1B49-C4E35BD89376}"/>
              </a:ext>
            </a:extLst>
          </p:cNvPr>
          <p:cNvSpPr txBox="1"/>
          <p:nvPr/>
        </p:nvSpPr>
        <p:spPr>
          <a:xfrm>
            <a:off x="520861" y="3191948"/>
            <a:ext cx="14393120" cy="3046988"/>
          </a:xfrm>
          <a:prstGeom prst="rect">
            <a:avLst/>
          </a:prstGeom>
          <a:noFill/>
        </p:spPr>
        <p:txBody>
          <a:bodyPr wrap="square" rtlCol="0">
            <a:spAutoFit/>
          </a:bodyPr>
          <a:lstStyle/>
          <a:p>
            <a:pPr marL="685800" indent="-685800">
              <a:buClr>
                <a:srgbClr val="CF3338"/>
              </a:buClr>
              <a:buFont typeface="Arial" panose="020B0604020202020204" pitchFamily="34" charset="0"/>
              <a:buChar char="•"/>
            </a:pPr>
            <a:r>
              <a:rPr lang="en-US" sz="9600" dirty="0">
                <a:solidFill>
                  <a:srgbClr val="707070"/>
                </a:solidFill>
                <a:latin typeface="Pragmatica" panose="020B0403040502020204" pitchFamily="34" charset="0"/>
              </a:rPr>
              <a:t>Download at </a:t>
            </a:r>
            <a:r>
              <a:rPr lang="en-US" sz="9600" dirty="0">
                <a:solidFill>
                  <a:srgbClr val="CF3338"/>
                </a:solidFill>
                <a:latin typeface="Pragmatica" panose="020B0403040502020204" pitchFamily="34" charset="0"/>
                <a:hlinkClick r:id="rId2">
                  <a:extLst>
                    <a:ext uri="{A12FA001-AC4F-418D-AE19-62706E023703}">
                      <ahyp:hlinkClr xmlns:ahyp="http://schemas.microsoft.com/office/drawing/2018/hyperlinkcolor" val="tx"/>
                    </a:ext>
                  </a:extLst>
                </a:hlinkClick>
              </a:rPr>
              <a:t>https://swiy.co/mxldd</a:t>
            </a:r>
            <a:r>
              <a:rPr lang="en-US" sz="9600" dirty="0">
                <a:solidFill>
                  <a:srgbClr val="CF3338"/>
                </a:solidFill>
                <a:latin typeface="Pragmatica" panose="020B0403040502020204" pitchFamily="34" charset="0"/>
              </a:rPr>
              <a:t> </a:t>
            </a:r>
          </a:p>
        </p:txBody>
      </p:sp>
      <p:pic>
        <p:nvPicPr>
          <p:cNvPr id="15" name="Picture 14" descr="A close up of a sign  Description automatically generated">
            <a:extLst>
              <a:ext uri="{FF2B5EF4-FFF2-40B4-BE49-F238E27FC236}">
                <a16:creationId xmlns:a16="http://schemas.microsoft.com/office/drawing/2014/main" id="{9B8F3280-B18F-CF7A-E13E-97BB5CDA86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Tree>
    <p:extLst>
      <p:ext uri="{BB962C8B-B14F-4D97-AF65-F5344CB8AC3E}">
        <p14:creationId xmlns:p14="http://schemas.microsoft.com/office/powerpoint/2010/main" val="13214590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861630" y="0"/>
            <a:ext cx="8426370" cy="10287000"/>
          </a:xfrm>
          <a:prstGeom prst="rect">
            <a:avLst/>
          </a:prstGeom>
          <a:solidFill>
            <a:srgbClr val="CF3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pic>
        <p:nvPicPr>
          <p:cNvPr id="2" name="Picture 1"/>
          <p:cNvPicPr>
            <a:picLocks noChangeAspect="1"/>
          </p:cNvPicPr>
          <p:nvPr/>
        </p:nvPicPr>
        <p:blipFill rotWithShape="1">
          <a:blip r:embed="rId3">
            <a:extLst>
              <a:ext uri="{28A0092B-C50C-407E-A947-70E740481C1C}">
                <a14:useLocalDpi xmlns:a14="http://schemas.microsoft.com/office/drawing/2010/main" val="0"/>
              </a:ext>
            </a:extLst>
          </a:blip>
          <a:srcRect l="69227" t="33418" r="20112" b="50548"/>
          <a:stretch/>
        </p:blipFill>
        <p:spPr>
          <a:xfrm>
            <a:off x="15579524" y="7544693"/>
            <a:ext cx="2708477" cy="2987579"/>
          </a:xfrm>
          <a:prstGeom prst="rect">
            <a:avLst/>
          </a:prstGeom>
        </p:spPr>
      </p:pic>
      <p:sp>
        <p:nvSpPr>
          <p:cNvPr id="3" name="TextBox 2"/>
          <p:cNvSpPr txBox="1"/>
          <p:nvPr/>
        </p:nvSpPr>
        <p:spPr>
          <a:xfrm>
            <a:off x="260431" y="329879"/>
            <a:ext cx="8906720" cy="7561557"/>
          </a:xfrm>
          <a:prstGeom prst="rect">
            <a:avLst/>
          </a:prstGeom>
          <a:noFill/>
        </p:spPr>
        <p:txBody>
          <a:bodyPr wrap="square" rtlCol="0">
            <a:spAutoFit/>
          </a:bodyPr>
          <a:lstStyle/>
          <a:p>
            <a:r>
              <a:rPr lang="en-US" sz="6000" b="1" dirty="0">
                <a:solidFill>
                  <a:srgbClr val="CF3338"/>
                </a:solidFill>
                <a:latin typeface="Pragmatica" panose="020B0403040502020204" pitchFamily="34" charset="0"/>
              </a:rPr>
              <a:t>Quick Win #1: Reliable Data Inputs with Excel Tables</a:t>
            </a:r>
            <a:endParaRPr lang="en-US" sz="4200" dirty="0">
              <a:solidFill>
                <a:srgbClr val="CF3338"/>
              </a:solidFill>
              <a:latin typeface="Pragmatica" panose="020B0403040502020204" pitchFamily="34" charset="0"/>
            </a:endParaRPr>
          </a:p>
          <a:p>
            <a:pPr marL="685800" indent="-542925">
              <a:lnSpc>
                <a:spcPct val="115000"/>
              </a:lnSpc>
              <a:spcBef>
                <a:spcPts val="1125"/>
              </a:spcBef>
              <a:buClr>
                <a:srgbClr val="C00000"/>
              </a:buClr>
              <a:buSzPts val="2100"/>
              <a:buFont typeface="Arial"/>
              <a:buAutoNum type="arabicPeriod"/>
            </a:pPr>
            <a:endParaRPr lang="en-US" sz="3600" dirty="0">
              <a:solidFill>
                <a:srgbClr val="C00000"/>
              </a:solidFill>
              <a:latin typeface="Pragmatica" panose="020B0403040502020204"/>
              <a:sym typeface="Consolas"/>
            </a:endParaRPr>
          </a:p>
          <a:p>
            <a:pPr marL="685800" indent="-542925">
              <a:lnSpc>
                <a:spcPct val="115000"/>
              </a:lnSpc>
              <a:spcBef>
                <a:spcPts val="1125"/>
              </a:spcBef>
              <a:buClr>
                <a:srgbClr val="C00000"/>
              </a:buClr>
              <a:buSzPts val="2100"/>
              <a:buFont typeface="Arial"/>
              <a:buAutoNum type="arabicPeriod"/>
            </a:pPr>
            <a:r>
              <a:rPr lang="en-US" sz="4000" dirty="0">
                <a:solidFill>
                  <a:srgbClr val="C00000"/>
                </a:solidFill>
                <a:latin typeface="Pragmatica" panose="020B0403040502020204"/>
                <a:sym typeface="Consolas"/>
              </a:rPr>
              <a:t>Problem: Manual range updates and formatting chaos</a:t>
            </a:r>
          </a:p>
          <a:p>
            <a:pPr marL="685800" indent="-542925">
              <a:lnSpc>
                <a:spcPct val="115000"/>
              </a:lnSpc>
              <a:spcBef>
                <a:spcPts val="1125"/>
              </a:spcBef>
              <a:buClr>
                <a:srgbClr val="C00000"/>
              </a:buClr>
              <a:buSzPts val="2100"/>
              <a:buFont typeface="Arial"/>
              <a:buAutoNum type="arabicPeriod"/>
            </a:pPr>
            <a:r>
              <a:rPr lang="en-US" sz="4000" dirty="0">
                <a:solidFill>
                  <a:srgbClr val="C00000"/>
                </a:solidFill>
                <a:latin typeface="Pragmatica" panose="020B0403040502020204"/>
                <a:sym typeface="Consolas"/>
              </a:rPr>
              <a:t>Demo: Transform ranges into smart Excel Tables</a:t>
            </a:r>
          </a:p>
          <a:p>
            <a:pPr marL="685800" indent="-542925">
              <a:lnSpc>
                <a:spcPct val="115000"/>
              </a:lnSpc>
              <a:spcBef>
                <a:spcPts val="1125"/>
              </a:spcBef>
              <a:buClr>
                <a:srgbClr val="C00000"/>
              </a:buClr>
              <a:buSzPts val="2100"/>
              <a:buFont typeface="Arial"/>
              <a:buAutoNum type="arabicPeriod"/>
            </a:pPr>
            <a:r>
              <a:rPr lang="en-US" sz="4000" dirty="0">
                <a:solidFill>
                  <a:srgbClr val="C00000"/>
                </a:solidFill>
                <a:latin typeface="Pragmatica" panose="020B0403040502020204"/>
                <a:sym typeface="Consolas"/>
              </a:rPr>
              <a:t>Result: Faster, cleaner spreadsheets</a:t>
            </a:r>
          </a:p>
        </p:txBody>
      </p:sp>
    </p:spTree>
    <p:extLst>
      <p:ext uri="{BB962C8B-B14F-4D97-AF65-F5344CB8AC3E}">
        <p14:creationId xmlns:p14="http://schemas.microsoft.com/office/powerpoint/2010/main" val="38715317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38B0BA-2457-E883-9B94-9EF4CB53F46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B2669EB-FDD3-FD04-8DC6-CC0F1E621197}"/>
              </a:ext>
            </a:extLst>
          </p:cNvPr>
          <p:cNvSpPr/>
          <p:nvPr/>
        </p:nvSpPr>
        <p:spPr>
          <a:xfrm>
            <a:off x="9861630" y="0"/>
            <a:ext cx="8426370" cy="10287000"/>
          </a:xfrm>
          <a:prstGeom prst="rect">
            <a:avLst/>
          </a:prstGeom>
          <a:solidFill>
            <a:srgbClr val="CF3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pic>
        <p:nvPicPr>
          <p:cNvPr id="2" name="Picture 1">
            <a:extLst>
              <a:ext uri="{FF2B5EF4-FFF2-40B4-BE49-F238E27FC236}">
                <a16:creationId xmlns:a16="http://schemas.microsoft.com/office/drawing/2014/main" id="{1AF1603A-5226-7133-332B-9ED91B061A51}"/>
              </a:ext>
            </a:extLst>
          </p:cNvPr>
          <p:cNvPicPr>
            <a:picLocks noChangeAspect="1"/>
          </p:cNvPicPr>
          <p:nvPr/>
        </p:nvPicPr>
        <p:blipFill rotWithShape="1">
          <a:blip r:embed="rId3">
            <a:extLst>
              <a:ext uri="{28A0092B-C50C-407E-A947-70E740481C1C}">
                <a14:useLocalDpi xmlns:a14="http://schemas.microsoft.com/office/drawing/2010/main" val="0"/>
              </a:ext>
            </a:extLst>
          </a:blip>
          <a:srcRect l="69227" t="33418" r="20112" b="50548"/>
          <a:stretch/>
        </p:blipFill>
        <p:spPr>
          <a:xfrm>
            <a:off x="15579524" y="7544693"/>
            <a:ext cx="2708477" cy="2987579"/>
          </a:xfrm>
          <a:prstGeom prst="rect">
            <a:avLst/>
          </a:prstGeom>
        </p:spPr>
      </p:pic>
      <p:sp>
        <p:nvSpPr>
          <p:cNvPr id="3" name="TextBox 2">
            <a:extLst>
              <a:ext uri="{FF2B5EF4-FFF2-40B4-BE49-F238E27FC236}">
                <a16:creationId xmlns:a16="http://schemas.microsoft.com/office/drawing/2014/main" id="{3A1F1624-DFBB-B741-F011-B1F4773062C8}"/>
              </a:ext>
            </a:extLst>
          </p:cNvPr>
          <p:cNvSpPr txBox="1"/>
          <p:nvPr/>
        </p:nvSpPr>
        <p:spPr>
          <a:xfrm>
            <a:off x="260431" y="329879"/>
            <a:ext cx="8906720" cy="8045279"/>
          </a:xfrm>
          <a:prstGeom prst="rect">
            <a:avLst/>
          </a:prstGeom>
          <a:noFill/>
        </p:spPr>
        <p:txBody>
          <a:bodyPr wrap="square" rtlCol="0">
            <a:spAutoFit/>
          </a:bodyPr>
          <a:lstStyle/>
          <a:p>
            <a:r>
              <a:rPr lang="en-US" sz="6000" b="1" dirty="0">
                <a:solidFill>
                  <a:srgbClr val="CF3338"/>
                </a:solidFill>
                <a:latin typeface="Pragmatica" panose="020B0403040502020204" pitchFamily="34" charset="0"/>
              </a:rPr>
              <a:t>Quick Win #2: Analyze Data (AI in Excel… No Copilot Needed!)</a:t>
            </a:r>
            <a:br>
              <a:rPr lang="en-US" sz="6000" b="1" dirty="0">
                <a:solidFill>
                  <a:srgbClr val="CF3338"/>
                </a:solidFill>
                <a:latin typeface="Pragmatica" panose="020B0403040502020204" pitchFamily="34" charset="0"/>
              </a:rPr>
            </a:br>
            <a:endParaRPr lang="en-US" sz="3600" dirty="0">
              <a:solidFill>
                <a:srgbClr val="C00000"/>
              </a:solidFill>
              <a:latin typeface="Pragmatica" panose="020B0403040502020204"/>
              <a:sym typeface="Consolas"/>
            </a:endParaRPr>
          </a:p>
          <a:p>
            <a:pPr marL="685800" indent="-542925">
              <a:lnSpc>
                <a:spcPct val="115000"/>
              </a:lnSpc>
              <a:spcBef>
                <a:spcPts val="1125"/>
              </a:spcBef>
              <a:buClr>
                <a:srgbClr val="C00000"/>
              </a:buClr>
              <a:buSzPts val="2100"/>
              <a:buFont typeface="Arial"/>
              <a:buAutoNum type="arabicPeriod"/>
            </a:pPr>
            <a:r>
              <a:rPr lang="en-US" sz="4000" dirty="0">
                <a:solidFill>
                  <a:srgbClr val="C00000"/>
                </a:solidFill>
                <a:latin typeface="Pragmatica" panose="020B0403040502020204"/>
                <a:sym typeface="Consolas"/>
              </a:rPr>
              <a:t>Problem: Overwhelmed by large datasets</a:t>
            </a:r>
          </a:p>
          <a:p>
            <a:pPr marL="685800" indent="-542925">
              <a:lnSpc>
                <a:spcPct val="115000"/>
              </a:lnSpc>
              <a:spcBef>
                <a:spcPts val="1125"/>
              </a:spcBef>
              <a:buClr>
                <a:srgbClr val="C00000"/>
              </a:buClr>
              <a:buSzPts val="2100"/>
              <a:buFont typeface="Arial"/>
              <a:buAutoNum type="arabicPeriod"/>
            </a:pPr>
            <a:r>
              <a:rPr lang="en-US" sz="4000" dirty="0">
                <a:solidFill>
                  <a:srgbClr val="C00000"/>
                </a:solidFill>
                <a:latin typeface="Pragmatica" panose="020B0403040502020204"/>
                <a:sym typeface="Consolas"/>
              </a:rPr>
              <a:t>Demo: Get instant AI-powered insights from Excel’s Analyze Data</a:t>
            </a:r>
          </a:p>
          <a:p>
            <a:pPr marL="685800" indent="-542925">
              <a:lnSpc>
                <a:spcPct val="115000"/>
              </a:lnSpc>
              <a:spcBef>
                <a:spcPts val="1125"/>
              </a:spcBef>
              <a:buClr>
                <a:srgbClr val="C00000"/>
              </a:buClr>
              <a:buSzPts val="2100"/>
              <a:buFont typeface="Arial"/>
              <a:buAutoNum type="arabicPeriod"/>
            </a:pPr>
            <a:r>
              <a:rPr lang="en-US" sz="4000" dirty="0">
                <a:solidFill>
                  <a:srgbClr val="C00000"/>
                </a:solidFill>
                <a:latin typeface="Pragmatica" panose="020B0403040502020204"/>
                <a:sym typeface="Consolas"/>
              </a:rPr>
              <a:t>Result: Quick, actionable analysis… no formulas required</a:t>
            </a:r>
          </a:p>
        </p:txBody>
      </p:sp>
    </p:spTree>
    <p:extLst>
      <p:ext uri="{BB962C8B-B14F-4D97-AF65-F5344CB8AC3E}">
        <p14:creationId xmlns:p14="http://schemas.microsoft.com/office/powerpoint/2010/main" val="37108753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61A27C-8894-1039-C10D-49DEF731C87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9AA0A13-9A6F-743A-214C-42DDAEB6B116}"/>
              </a:ext>
            </a:extLst>
          </p:cNvPr>
          <p:cNvSpPr/>
          <p:nvPr/>
        </p:nvSpPr>
        <p:spPr>
          <a:xfrm>
            <a:off x="9861630" y="0"/>
            <a:ext cx="8426370" cy="10287000"/>
          </a:xfrm>
          <a:prstGeom prst="rect">
            <a:avLst/>
          </a:prstGeom>
          <a:solidFill>
            <a:srgbClr val="CF3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pic>
        <p:nvPicPr>
          <p:cNvPr id="2" name="Picture 1">
            <a:extLst>
              <a:ext uri="{FF2B5EF4-FFF2-40B4-BE49-F238E27FC236}">
                <a16:creationId xmlns:a16="http://schemas.microsoft.com/office/drawing/2014/main" id="{CE70788E-B0DE-D358-5D84-0751068117D4}"/>
              </a:ext>
            </a:extLst>
          </p:cNvPr>
          <p:cNvPicPr>
            <a:picLocks noChangeAspect="1"/>
          </p:cNvPicPr>
          <p:nvPr/>
        </p:nvPicPr>
        <p:blipFill rotWithShape="1">
          <a:blip r:embed="rId3">
            <a:extLst>
              <a:ext uri="{28A0092B-C50C-407E-A947-70E740481C1C}">
                <a14:useLocalDpi xmlns:a14="http://schemas.microsoft.com/office/drawing/2010/main" val="0"/>
              </a:ext>
            </a:extLst>
          </a:blip>
          <a:srcRect l="69227" t="33418" r="20112" b="50548"/>
          <a:stretch/>
        </p:blipFill>
        <p:spPr>
          <a:xfrm>
            <a:off x="15579524" y="7544693"/>
            <a:ext cx="2708477" cy="2987579"/>
          </a:xfrm>
          <a:prstGeom prst="rect">
            <a:avLst/>
          </a:prstGeom>
        </p:spPr>
      </p:pic>
      <p:sp>
        <p:nvSpPr>
          <p:cNvPr id="3" name="TextBox 2">
            <a:extLst>
              <a:ext uri="{FF2B5EF4-FFF2-40B4-BE49-F238E27FC236}">
                <a16:creationId xmlns:a16="http://schemas.microsoft.com/office/drawing/2014/main" id="{DDDA3F19-3713-EED4-6645-27996F2BE4BF}"/>
              </a:ext>
            </a:extLst>
          </p:cNvPr>
          <p:cNvSpPr txBox="1"/>
          <p:nvPr/>
        </p:nvSpPr>
        <p:spPr>
          <a:xfrm>
            <a:off x="260431" y="329879"/>
            <a:ext cx="8906720" cy="8054000"/>
          </a:xfrm>
          <a:prstGeom prst="rect">
            <a:avLst/>
          </a:prstGeom>
          <a:noFill/>
        </p:spPr>
        <p:txBody>
          <a:bodyPr wrap="square" rtlCol="0">
            <a:spAutoFit/>
          </a:bodyPr>
          <a:lstStyle/>
          <a:p>
            <a:r>
              <a:rPr lang="en-US" sz="6000" b="1" dirty="0">
                <a:solidFill>
                  <a:srgbClr val="CF3338"/>
                </a:solidFill>
                <a:latin typeface="Pragmatica" panose="020B0403040502020204" pitchFamily="34" charset="0"/>
              </a:rPr>
              <a:t>Quick Win #3: Power Query Data Cleanup</a:t>
            </a:r>
            <a:endParaRPr lang="en-US" sz="4200" dirty="0">
              <a:solidFill>
                <a:srgbClr val="CF3338"/>
              </a:solidFill>
              <a:latin typeface="Pragmatica" panose="020B0403040502020204" pitchFamily="34" charset="0"/>
            </a:endParaRPr>
          </a:p>
          <a:p>
            <a:pPr marL="685800" indent="-542925">
              <a:lnSpc>
                <a:spcPct val="115000"/>
              </a:lnSpc>
              <a:spcBef>
                <a:spcPts val="1125"/>
              </a:spcBef>
              <a:buClr>
                <a:srgbClr val="C00000"/>
              </a:buClr>
              <a:buSzPts val="2100"/>
              <a:buFont typeface="Arial"/>
              <a:buAutoNum type="arabicPeriod"/>
            </a:pPr>
            <a:endParaRPr lang="en-US" sz="3600" dirty="0">
              <a:solidFill>
                <a:srgbClr val="C00000"/>
              </a:solidFill>
              <a:latin typeface="Pragmatica" panose="020B0403040502020204"/>
              <a:sym typeface="Consolas"/>
            </a:endParaRPr>
          </a:p>
          <a:p>
            <a:pPr marL="685800" indent="-542925">
              <a:lnSpc>
                <a:spcPct val="115000"/>
              </a:lnSpc>
              <a:spcBef>
                <a:spcPts val="1125"/>
              </a:spcBef>
              <a:buClr>
                <a:srgbClr val="C00000"/>
              </a:buClr>
              <a:buSzPts val="2100"/>
              <a:buFont typeface="Arial"/>
              <a:buAutoNum type="arabicPeriod"/>
            </a:pPr>
            <a:r>
              <a:rPr lang="en-US" sz="4000" dirty="0">
                <a:solidFill>
                  <a:srgbClr val="C00000"/>
                </a:solidFill>
                <a:latin typeface="Pragmatica" panose="020B0403040502020204"/>
                <a:sym typeface="Consolas"/>
              </a:rPr>
              <a:t>Problem: Repetitive, error-prone data prep</a:t>
            </a:r>
          </a:p>
          <a:p>
            <a:pPr marL="685800" indent="-542925">
              <a:lnSpc>
                <a:spcPct val="115000"/>
              </a:lnSpc>
              <a:spcBef>
                <a:spcPts val="1125"/>
              </a:spcBef>
              <a:buClr>
                <a:srgbClr val="C00000"/>
              </a:buClr>
              <a:buSzPts val="2100"/>
              <a:buFont typeface="Arial"/>
              <a:buAutoNum type="arabicPeriod"/>
            </a:pPr>
            <a:r>
              <a:rPr lang="en-US" sz="4000" dirty="0">
                <a:solidFill>
                  <a:srgbClr val="C00000"/>
                </a:solidFill>
                <a:latin typeface="Pragmatica" panose="020B0403040502020204"/>
                <a:sym typeface="Consolas"/>
              </a:rPr>
              <a:t>Demo: Automate data cleaning with Power Query</a:t>
            </a:r>
          </a:p>
          <a:p>
            <a:pPr marL="685800" indent="-542925">
              <a:lnSpc>
                <a:spcPct val="115000"/>
              </a:lnSpc>
              <a:spcBef>
                <a:spcPts val="1125"/>
              </a:spcBef>
              <a:buClr>
                <a:srgbClr val="C00000"/>
              </a:buClr>
              <a:buSzPts val="2100"/>
              <a:buFont typeface="Arial"/>
              <a:buAutoNum type="arabicPeriod"/>
            </a:pPr>
            <a:r>
              <a:rPr lang="en-US" sz="4000" dirty="0">
                <a:solidFill>
                  <a:srgbClr val="C00000"/>
                </a:solidFill>
                <a:latin typeface="Pragmatica" panose="020B0403040502020204"/>
                <a:sym typeface="Consolas"/>
              </a:rPr>
              <a:t>Result: Reliable, repeatable data workflows.. AND better analysis results!</a:t>
            </a:r>
          </a:p>
        </p:txBody>
      </p:sp>
    </p:spTree>
    <p:extLst>
      <p:ext uri="{BB962C8B-B14F-4D97-AF65-F5344CB8AC3E}">
        <p14:creationId xmlns:p14="http://schemas.microsoft.com/office/powerpoint/2010/main" val="35953466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E07818-29D2-F5F6-BFE3-AC95409C3FDA}"/>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B2629BB8-6DE7-E426-3AFF-CFA5F3FBCCF4}"/>
              </a:ext>
            </a:extLst>
          </p:cNvPr>
          <p:cNvSpPr txBox="1"/>
          <p:nvPr/>
        </p:nvSpPr>
        <p:spPr>
          <a:xfrm>
            <a:off x="520861" y="170082"/>
            <a:ext cx="11979797" cy="1477328"/>
          </a:xfrm>
          <a:prstGeom prst="rect">
            <a:avLst/>
          </a:prstGeom>
          <a:noFill/>
        </p:spPr>
        <p:txBody>
          <a:bodyPr wrap="square" rtlCol="0">
            <a:spAutoFit/>
          </a:bodyPr>
          <a:lstStyle/>
          <a:p>
            <a:r>
              <a:rPr lang="en-US" sz="9000" dirty="0">
                <a:latin typeface="Aliens &amp; cows" panose="00000500000000000000" pitchFamily="2" charset="0"/>
              </a:rPr>
              <a:t>What you saw vs. what’s left</a:t>
            </a:r>
          </a:p>
        </p:txBody>
      </p:sp>
      <p:sp>
        <p:nvSpPr>
          <p:cNvPr id="3" name="TextBox 2">
            <a:extLst>
              <a:ext uri="{FF2B5EF4-FFF2-40B4-BE49-F238E27FC236}">
                <a16:creationId xmlns:a16="http://schemas.microsoft.com/office/drawing/2014/main" id="{84647282-4EAE-D08B-0199-F568519F58C3}"/>
              </a:ext>
            </a:extLst>
          </p:cNvPr>
          <p:cNvSpPr txBox="1"/>
          <p:nvPr/>
        </p:nvSpPr>
        <p:spPr>
          <a:xfrm>
            <a:off x="520861" y="3191948"/>
            <a:ext cx="14393120" cy="2585323"/>
          </a:xfrm>
          <a:prstGeom prst="rect">
            <a:avLst/>
          </a:prstGeom>
          <a:noFill/>
        </p:spPr>
        <p:txBody>
          <a:bodyPr wrap="square" rtlCol="0">
            <a:spAutoFit/>
          </a:bodyPr>
          <a:lstStyle/>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Tables → but without a Data Model, still flat</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Power Query → but one cleanup isn’t a pipeline</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Analyze Data → but quick insights aren’t repeatable</a:t>
            </a:r>
          </a:p>
        </p:txBody>
      </p:sp>
      <p:pic>
        <p:nvPicPr>
          <p:cNvPr id="15" name="Picture 14" descr="A close up of a sign  Description automatically generated">
            <a:extLst>
              <a:ext uri="{FF2B5EF4-FFF2-40B4-BE49-F238E27FC236}">
                <a16:creationId xmlns:a16="http://schemas.microsoft.com/office/drawing/2014/main" id="{C54442A3-1184-472E-336C-0DB56D7A71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Tree>
    <p:extLst>
      <p:ext uri="{BB962C8B-B14F-4D97-AF65-F5344CB8AC3E}">
        <p14:creationId xmlns:p14="http://schemas.microsoft.com/office/powerpoint/2010/main" val="11387478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5323C9-D5F7-C820-78B9-E169BDF2311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8971779-1F50-1702-DEC1-87CD482189F0}"/>
              </a:ext>
            </a:extLst>
          </p:cNvPr>
          <p:cNvSpPr/>
          <p:nvPr/>
        </p:nvSpPr>
        <p:spPr>
          <a:xfrm>
            <a:off x="0" y="0"/>
            <a:ext cx="18288000" cy="10287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5" name="TextBox 4">
            <a:extLst>
              <a:ext uri="{FF2B5EF4-FFF2-40B4-BE49-F238E27FC236}">
                <a16:creationId xmlns:a16="http://schemas.microsoft.com/office/drawing/2014/main" id="{5ECC4C7B-C529-5329-03AC-796804551DC1}"/>
              </a:ext>
            </a:extLst>
          </p:cNvPr>
          <p:cNvSpPr txBox="1"/>
          <p:nvPr/>
        </p:nvSpPr>
        <p:spPr>
          <a:xfrm>
            <a:off x="781292" y="590309"/>
            <a:ext cx="15486926" cy="1615827"/>
          </a:xfrm>
          <a:prstGeom prst="rect">
            <a:avLst/>
          </a:prstGeom>
          <a:noFill/>
        </p:spPr>
        <p:txBody>
          <a:bodyPr wrap="square" rtlCol="0">
            <a:spAutoFit/>
          </a:bodyPr>
          <a:lstStyle/>
          <a:p>
            <a:r>
              <a:rPr lang="en-US" sz="9900" b="1" dirty="0">
                <a:solidFill>
                  <a:schemeClr val="bg1"/>
                </a:solidFill>
                <a:latin typeface="Normafixed Tryout" panose="00000409000000000000" pitchFamily="49" charset="0"/>
              </a:rPr>
              <a:t>My offerings at a glance</a:t>
            </a:r>
          </a:p>
        </p:txBody>
      </p:sp>
    </p:spTree>
    <p:extLst>
      <p:ext uri="{BB962C8B-B14F-4D97-AF65-F5344CB8AC3E}">
        <p14:creationId xmlns:p14="http://schemas.microsoft.com/office/powerpoint/2010/main" val="6578290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032428-543A-1FB6-4F74-63D34C7EE7A7}"/>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B10226A7-24F8-E564-1775-ADA2DA03E717}"/>
              </a:ext>
            </a:extLst>
          </p:cNvPr>
          <p:cNvSpPr txBox="1"/>
          <p:nvPr/>
        </p:nvSpPr>
        <p:spPr>
          <a:xfrm>
            <a:off x="520861" y="170082"/>
            <a:ext cx="11979797" cy="1477328"/>
          </a:xfrm>
          <a:prstGeom prst="rect">
            <a:avLst/>
          </a:prstGeom>
          <a:noFill/>
        </p:spPr>
        <p:txBody>
          <a:bodyPr wrap="square" rtlCol="0">
            <a:spAutoFit/>
          </a:bodyPr>
          <a:lstStyle/>
          <a:p>
            <a:r>
              <a:rPr lang="en-US" sz="9000" dirty="0">
                <a:latin typeface="Aliens &amp; cows" panose="00000500000000000000" pitchFamily="2" charset="0"/>
              </a:rPr>
              <a:t>Free!</a:t>
            </a:r>
          </a:p>
        </p:txBody>
      </p:sp>
      <p:sp>
        <p:nvSpPr>
          <p:cNvPr id="3" name="TextBox 2">
            <a:extLst>
              <a:ext uri="{FF2B5EF4-FFF2-40B4-BE49-F238E27FC236}">
                <a16:creationId xmlns:a16="http://schemas.microsoft.com/office/drawing/2014/main" id="{AD6CB09B-7406-0F2F-D781-339748F9E539}"/>
              </a:ext>
            </a:extLst>
          </p:cNvPr>
          <p:cNvSpPr txBox="1"/>
          <p:nvPr/>
        </p:nvSpPr>
        <p:spPr>
          <a:xfrm>
            <a:off x="990600" y="2095500"/>
            <a:ext cx="8546939" cy="6555641"/>
          </a:xfrm>
          <a:prstGeom prst="rect">
            <a:avLst/>
          </a:prstGeom>
          <a:noFill/>
        </p:spPr>
        <p:txBody>
          <a:bodyPr wrap="square" rtlCol="0">
            <a:spAutoFit/>
          </a:bodyPr>
          <a:lstStyle/>
          <a:p>
            <a:pPr marL="685800" indent="-685800">
              <a:buClr>
                <a:srgbClr val="CF3338"/>
              </a:buClr>
              <a:buFont typeface="Arial" panose="020B0604020202020204" pitchFamily="34" charset="0"/>
              <a:buChar char="•"/>
            </a:pPr>
            <a:r>
              <a:rPr lang="en-US" sz="6000" dirty="0">
                <a:solidFill>
                  <a:srgbClr val="707070"/>
                </a:solidFill>
                <a:latin typeface="Pragmatica" panose="020B0403040502020204" pitchFamily="34" charset="0"/>
              </a:rPr>
              <a:t>Blog: </a:t>
            </a:r>
            <a:r>
              <a:rPr lang="en-US" sz="6000" dirty="0">
                <a:solidFill>
                  <a:srgbClr val="CF3338"/>
                </a:solidFill>
                <a:latin typeface="Pragmatica" panose="020B0403040502020204" pitchFamily="34" charset="0"/>
                <a:hlinkClick r:id="rId3">
                  <a:extLst>
                    <a:ext uri="{A12FA001-AC4F-418D-AE19-62706E023703}">
                      <ahyp:hlinkClr xmlns:ahyp="http://schemas.microsoft.com/office/drawing/2018/hyperlinkcolor" val="tx"/>
                    </a:ext>
                  </a:extLst>
                </a:hlinkClick>
              </a:rPr>
              <a:t>stringfestanalytics.com</a:t>
            </a:r>
            <a:r>
              <a:rPr lang="en-US" sz="6000" dirty="0">
                <a:solidFill>
                  <a:srgbClr val="707070"/>
                </a:solidFill>
                <a:latin typeface="Pragmatica" panose="020B0403040502020204" pitchFamily="34" charset="0"/>
              </a:rPr>
              <a:t>  </a:t>
            </a:r>
          </a:p>
          <a:p>
            <a:pPr marL="685800" indent="-685800">
              <a:buClr>
                <a:srgbClr val="CF3338"/>
              </a:buClr>
              <a:buFont typeface="Arial" panose="020B0604020202020204" pitchFamily="34" charset="0"/>
              <a:buChar char="•"/>
            </a:pPr>
            <a:r>
              <a:rPr lang="en-US" sz="6000" dirty="0">
                <a:solidFill>
                  <a:srgbClr val="707070"/>
                </a:solidFill>
                <a:latin typeface="Pragmatica" panose="020B0403040502020204" pitchFamily="34" charset="0"/>
              </a:rPr>
              <a:t>Newsletter/email course: Subscribe at blog</a:t>
            </a:r>
          </a:p>
          <a:p>
            <a:pPr marL="685800" indent="-685800">
              <a:buClr>
                <a:srgbClr val="CF3338"/>
              </a:buClr>
              <a:buFont typeface="Arial" panose="020B0604020202020204" pitchFamily="34" charset="0"/>
              <a:buChar char="•"/>
            </a:pPr>
            <a:r>
              <a:rPr lang="en-US" sz="6000" dirty="0">
                <a:solidFill>
                  <a:srgbClr val="CF3338"/>
                </a:solidFill>
                <a:latin typeface="Pragmatica" panose="020B0403040502020204" pitchFamily="34" charset="0"/>
                <a:hlinkClick r:id="rId4">
                  <a:extLst>
                    <a:ext uri="{A12FA001-AC4F-418D-AE19-62706E023703}">
                      <ahyp:hlinkClr xmlns:ahyp="http://schemas.microsoft.com/office/drawing/2018/hyperlinkcolor" val="tx"/>
                    </a:ext>
                  </a:extLst>
                </a:hlinkClick>
              </a:rPr>
              <a:t>LinkedIn</a:t>
            </a:r>
            <a:r>
              <a:rPr lang="en-US" sz="6000" dirty="0">
                <a:solidFill>
                  <a:srgbClr val="707070"/>
                </a:solidFill>
                <a:latin typeface="Pragmatica" panose="020B0403040502020204" pitchFamily="34" charset="0"/>
              </a:rPr>
              <a:t>: Follow for daily(</a:t>
            </a:r>
            <a:r>
              <a:rPr lang="en-US" sz="6000" dirty="0" err="1">
                <a:solidFill>
                  <a:srgbClr val="707070"/>
                </a:solidFill>
                <a:latin typeface="Pragmatica" panose="020B0403040502020204" pitchFamily="34" charset="0"/>
              </a:rPr>
              <a:t>ish</a:t>
            </a:r>
            <a:r>
              <a:rPr lang="en-US" sz="6000" dirty="0">
                <a:solidFill>
                  <a:srgbClr val="707070"/>
                </a:solidFill>
                <a:latin typeface="Pragmatica" panose="020B0403040502020204" pitchFamily="34" charset="0"/>
              </a:rPr>
              <a:t>) free resources</a:t>
            </a:r>
          </a:p>
        </p:txBody>
      </p:sp>
      <p:pic>
        <p:nvPicPr>
          <p:cNvPr id="15" name="Picture 14" descr="A close up of a sign  Description automatically generated">
            <a:extLst>
              <a:ext uri="{FF2B5EF4-FFF2-40B4-BE49-F238E27FC236}">
                <a16:creationId xmlns:a16="http://schemas.microsoft.com/office/drawing/2014/main" id="{0FC37808-A34B-5C68-C9BC-F79DB06A951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pic>
        <p:nvPicPr>
          <p:cNvPr id="2" name="Picture 1" descr="No alternative text description for this image">
            <a:extLst>
              <a:ext uri="{FF2B5EF4-FFF2-40B4-BE49-F238E27FC236}">
                <a16:creationId xmlns:a16="http://schemas.microsoft.com/office/drawing/2014/main" id="{67292FAA-CD5F-946F-10C1-3DA65714AC96}"/>
              </a:ext>
            </a:extLst>
          </p:cNvPr>
          <p:cNvPicPr>
            <a:picLocks noChangeAspect="1"/>
          </p:cNvPicPr>
          <p:nvPr/>
        </p:nvPicPr>
        <p:blipFill>
          <a:blip r:embed="rId6"/>
          <a:stretch>
            <a:fillRect/>
          </a:stretch>
        </p:blipFill>
        <p:spPr>
          <a:xfrm>
            <a:off x="9906000" y="1257300"/>
            <a:ext cx="8077200" cy="5384800"/>
          </a:xfrm>
          <a:prstGeom prst="rect">
            <a:avLst/>
          </a:prstGeom>
        </p:spPr>
      </p:pic>
    </p:spTree>
    <p:extLst>
      <p:ext uri="{BB962C8B-B14F-4D97-AF65-F5344CB8AC3E}">
        <p14:creationId xmlns:p14="http://schemas.microsoft.com/office/powerpoint/2010/main" val="28250199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4A7281-8A5D-AF68-7E15-AF7741A2D78A}"/>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E8953D25-E302-D215-CA86-7ED7A621F0F3}"/>
              </a:ext>
            </a:extLst>
          </p:cNvPr>
          <p:cNvSpPr txBox="1"/>
          <p:nvPr/>
        </p:nvSpPr>
        <p:spPr>
          <a:xfrm>
            <a:off x="520861" y="170082"/>
            <a:ext cx="4889339" cy="4247317"/>
          </a:xfrm>
          <a:prstGeom prst="rect">
            <a:avLst/>
          </a:prstGeom>
          <a:noFill/>
        </p:spPr>
        <p:txBody>
          <a:bodyPr wrap="square" rtlCol="0">
            <a:spAutoFit/>
          </a:bodyPr>
          <a:lstStyle/>
          <a:p>
            <a:r>
              <a:rPr lang="en-US" sz="9000" dirty="0">
                <a:latin typeface="Aliens &amp; cows" panose="00000500000000000000" pitchFamily="2" charset="0"/>
              </a:rPr>
              <a:t>Why not stop at free?</a:t>
            </a:r>
          </a:p>
        </p:txBody>
      </p:sp>
      <p:pic>
        <p:nvPicPr>
          <p:cNvPr id="15" name="Picture 14" descr="A close up of a sign  Description automatically generated">
            <a:extLst>
              <a:ext uri="{FF2B5EF4-FFF2-40B4-BE49-F238E27FC236}">
                <a16:creationId xmlns:a16="http://schemas.microsoft.com/office/drawing/2014/main" id="{AC82ECB6-E6FE-DDE5-7269-AB90DC1212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pic>
        <p:nvPicPr>
          <p:cNvPr id="9" name="Picture 8" descr="Image">
            <a:extLst>
              <a:ext uri="{FF2B5EF4-FFF2-40B4-BE49-F238E27FC236}">
                <a16:creationId xmlns:a16="http://schemas.microsoft.com/office/drawing/2014/main" id="{15892E52-DDDD-BA54-D242-9974FFD58BA2}"/>
              </a:ext>
            </a:extLst>
          </p:cNvPr>
          <p:cNvPicPr>
            <a:picLocks noChangeAspect="1"/>
          </p:cNvPicPr>
          <p:nvPr/>
        </p:nvPicPr>
        <p:blipFill>
          <a:blip r:embed="rId4"/>
          <a:stretch>
            <a:fillRect/>
          </a:stretch>
        </p:blipFill>
        <p:spPr>
          <a:xfrm>
            <a:off x="6435838" y="419100"/>
            <a:ext cx="9220200" cy="6142958"/>
          </a:xfrm>
          <a:prstGeom prst="rect">
            <a:avLst/>
          </a:prstGeom>
        </p:spPr>
      </p:pic>
      <p:sp>
        <p:nvSpPr>
          <p:cNvPr id="14" name="TextBox 13">
            <a:extLst>
              <a:ext uri="{FF2B5EF4-FFF2-40B4-BE49-F238E27FC236}">
                <a16:creationId xmlns:a16="http://schemas.microsoft.com/office/drawing/2014/main" id="{538D5CE6-1962-62F3-C966-A47A010AE0BB}"/>
              </a:ext>
            </a:extLst>
          </p:cNvPr>
          <p:cNvSpPr txBox="1"/>
          <p:nvPr/>
        </p:nvSpPr>
        <p:spPr>
          <a:xfrm>
            <a:off x="6487991" y="7003283"/>
            <a:ext cx="4419600" cy="1815882"/>
          </a:xfrm>
          <a:prstGeom prst="rect">
            <a:avLst/>
          </a:prstGeom>
          <a:noFill/>
        </p:spPr>
        <p:txBody>
          <a:bodyPr wrap="square">
            <a:spAutoFit/>
          </a:bodyPr>
          <a:lstStyle/>
          <a:p>
            <a:r>
              <a:rPr lang="en-US" sz="2800" b="1" dirty="0"/>
              <a:t>Free content is good for</a:t>
            </a:r>
          </a:p>
          <a:p>
            <a:pPr marL="285750" indent="-285750">
              <a:buFont typeface="Arial" panose="020B0604020202020204" pitchFamily="34" charset="0"/>
              <a:buChar char="•"/>
            </a:pPr>
            <a:r>
              <a:rPr lang="en-US" sz="2800" dirty="0"/>
              <a:t>Seeing what’s possible (like today)</a:t>
            </a:r>
          </a:p>
          <a:p>
            <a:pPr marL="285750" indent="-285750">
              <a:buFont typeface="Arial" panose="020B0604020202020204" pitchFamily="34" charset="0"/>
              <a:buChar char="•"/>
            </a:pPr>
            <a:r>
              <a:rPr lang="en-US" sz="2800" dirty="0"/>
              <a:t>Knowing features exist</a:t>
            </a:r>
          </a:p>
          <a:p>
            <a:pPr marL="285750" indent="-285750">
              <a:buFont typeface="Arial" panose="020B0604020202020204" pitchFamily="34" charset="0"/>
              <a:buChar char="•"/>
            </a:pPr>
            <a:r>
              <a:rPr lang="en-US" sz="2800" dirty="0"/>
              <a:t>Getting inspired to try things</a:t>
            </a:r>
          </a:p>
        </p:txBody>
      </p:sp>
      <p:sp>
        <p:nvSpPr>
          <p:cNvPr id="16" name="TextBox 15">
            <a:extLst>
              <a:ext uri="{FF2B5EF4-FFF2-40B4-BE49-F238E27FC236}">
                <a16:creationId xmlns:a16="http://schemas.microsoft.com/office/drawing/2014/main" id="{3753DF97-EFFE-90D8-3C5C-903CC3B89938}"/>
              </a:ext>
            </a:extLst>
          </p:cNvPr>
          <p:cNvSpPr txBox="1"/>
          <p:nvPr/>
        </p:nvSpPr>
        <p:spPr>
          <a:xfrm>
            <a:off x="11201400" y="6979038"/>
            <a:ext cx="4602973" cy="2246769"/>
          </a:xfrm>
          <a:prstGeom prst="rect">
            <a:avLst/>
          </a:prstGeom>
          <a:noFill/>
        </p:spPr>
        <p:txBody>
          <a:bodyPr wrap="square">
            <a:spAutoFit/>
          </a:bodyPr>
          <a:lstStyle/>
          <a:p>
            <a:r>
              <a:rPr lang="en-US" sz="2800" b="1" dirty="0"/>
              <a:t>Paid content is good for</a:t>
            </a:r>
          </a:p>
          <a:p>
            <a:pPr marL="285750" indent="-285750">
              <a:buFont typeface="Arial" panose="020B0604020202020204" pitchFamily="34" charset="0"/>
              <a:buChar char="•"/>
            </a:pPr>
            <a:r>
              <a:rPr lang="en-US" sz="2800" dirty="0"/>
              <a:t>Building the full pipeline you saw gaps in</a:t>
            </a:r>
          </a:p>
          <a:p>
            <a:pPr marL="285750" indent="-285750">
              <a:buFont typeface="Arial" panose="020B0604020202020204" pitchFamily="34" charset="0"/>
              <a:buChar char="•"/>
            </a:pPr>
            <a:r>
              <a:rPr lang="en-US" sz="2800" dirty="0"/>
              <a:t>Someone saying “do this next, skip that”</a:t>
            </a:r>
          </a:p>
          <a:p>
            <a:pPr marL="285750" indent="-285750">
              <a:buFont typeface="Arial" panose="020B0604020202020204" pitchFamily="34" charset="0"/>
              <a:buChar char="•"/>
            </a:pPr>
            <a:r>
              <a:rPr lang="en-US" sz="2800" dirty="0"/>
              <a:t>Not starting over every time tools change</a:t>
            </a:r>
          </a:p>
        </p:txBody>
      </p:sp>
    </p:spTree>
    <p:extLst>
      <p:ext uri="{BB962C8B-B14F-4D97-AF65-F5344CB8AC3E}">
        <p14:creationId xmlns:p14="http://schemas.microsoft.com/office/powerpoint/2010/main" val="20073277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50FB3-E2D7-1660-BAD7-9582BABBCCC9}"/>
              </a:ext>
            </a:extLst>
          </p:cNvPr>
          <p:cNvSpPr>
            <a:spLocks noGrp="1"/>
          </p:cNvSpPr>
          <p:nvPr>
            <p:ph type="title"/>
          </p:nvPr>
        </p:nvSpPr>
        <p:spPr>
          <a:xfrm>
            <a:off x="1257300" y="547689"/>
            <a:ext cx="15773400" cy="1116807"/>
          </a:xfrm>
        </p:spPr>
        <p:txBody>
          <a:bodyPr>
            <a:normAutofit/>
          </a:bodyPr>
          <a:lstStyle/>
          <a:p>
            <a:r>
              <a:rPr lang="en-US" sz="5400" dirty="0"/>
              <a:t>How I work</a:t>
            </a:r>
          </a:p>
        </p:txBody>
      </p:sp>
      <p:graphicFrame>
        <p:nvGraphicFramePr>
          <p:cNvPr id="15" name="Content Placeholder 14">
            <a:extLst>
              <a:ext uri="{FF2B5EF4-FFF2-40B4-BE49-F238E27FC236}">
                <a16:creationId xmlns:a16="http://schemas.microsoft.com/office/drawing/2014/main" id="{E77C6111-36B5-9583-89F4-35827CAC7B23}"/>
              </a:ext>
            </a:extLst>
          </p:cNvPr>
          <p:cNvGraphicFramePr>
            <a:graphicFrameLocks noGrp="1"/>
          </p:cNvGraphicFramePr>
          <p:nvPr>
            <p:ph idx="1"/>
            <p:extLst>
              <p:ext uri="{D42A27DB-BD31-4B8C-83A1-F6EECF244321}">
                <p14:modId xmlns:p14="http://schemas.microsoft.com/office/powerpoint/2010/main" val="4002875284"/>
              </p:ext>
            </p:extLst>
          </p:nvPr>
        </p:nvGraphicFramePr>
        <p:xfrm>
          <a:off x="381000" y="2110224"/>
          <a:ext cx="17602200" cy="76290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327324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94E238-B928-9A45-6C07-F784EA6E2DC3}"/>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E03A3D75-7011-685D-6601-35E8D4148BB0}"/>
              </a:ext>
            </a:extLst>
          </p:cNvPr>
          <p:cNvSpPr txBox="1"/>
          <p:nvPr/>
        </p:nvSpPr>
        <p:spPr>
          <a:xfrm>
            <a:off x="520861" y="170082"/>
            <a:ext cx="11979797" cy="1477328"/>
          </a:xfrm>
          <a:prstGeom prst="rect">
            <a:avLst/>
          </a:prstGeom>
          <a:noFill/>
        </p:spPr>
        <p:txBody>
          <a:bodyPr wrap="square" rtlCol="0">
            <a:spAutoFit/>
          </a:bodyPr>
          <a:lstStyle/>
          <a:p>
            <a:r>
              <a:rPr lang="en-US" sz="9000" dirty="0">
                <a:latin typeface="Aliens &amp; cows" panose="00000500000000000000" pitchFamily="2" charset="0"/>
              </a:rPr>
              <a:t>One next step</a:t>
            </a:r>
          </a:p>
        </p:txBody>
      </p:sp>
      <p:sp>
        <p:nvSpPr>
          <p:cNvPr id="3" name="TextBox 2">
            <a:extLst>
              <a:ext uri="{FF2B5EF4-FFF2-40B4-BE49-F238E27FC236}">
                <a16:creationId xmlns:a16="http://schemas.microsoft.com/office/drawing/2014/main" id="{A70D9C35-08C9-2B39-29C7-C0EA500B7E30}"/>
              </a:ext>
            </a:extLst>
          </p:cNvPr>
          <p:cNvSpPr txBox="1"/>
          <p:nvPr/>
        </p:nvSpPr>
        <p:spPr>
          <a:xfrm>
            <a:off x="1143000" y="1866900"/>
            <a:ext cx="14935200" cy="6863417"/>
          </a:xfrm>
          <a:prstGeom prst="rect">
            <a:avLst/>
          </a:prstGeom>
          <a:noFill/>
        </p:spPr>
        <p:txBody>
          <a:bodyPr wrap="square" rtlCol="0">
            <a:spAutoFit/>
          </a:bodyPr>
          <a:lstStyle/>
          <a:p>
            <a:pPr marL="285750" indent="-285750">
              <a:buFont typeface="Arial" panose="020B0604020202020204" pitchFamily="34" charset="0"/>
              <a:buChar char="•"/>
            </a:pPr>
            <a:r>
              <a:rPr lang="en-US" sz="4400" dirty="0">
                <a:latin typeface="Pragmatica" panose="020B0403040502020204"/>
              </a:rPr>
              <a:t>Want the full pipeline, not just demos? → </a:t>
            </a:r>
            <a:r>
              <a:rPr lang="en-US" sz="4400" b="1" u="sng" dirty="0">
                <a:latin typeface="Pragmatica" panose="020B0403040502020204"/>
                <a:hlinkClick r:id="rId3"/>
              </a:rPr>
              <a:t>The Modern Excel AI Stack</a:t>
            </a:r>
            <a:r>
              <a:rPr lang="en-US" sz="4400" dirty="0">
                <a:latin typeface="Pragmatica" panose="020B0403040502020204"/>
              </a:rPr>
              <a:t> </a:t>
            </a:r>
          </a:p>
          <a:p>
            <a:pPr marL="285750" indent="-285750">
              <a:buFont typeface="Arial" panose="020B0604020202020204" pitchFamily="34" charset="0"/>
              <a:buChar char="•"/>
            </a:pPr>
            <a:r>
              <a:rPr lang="en-US" sz="4400" dirty="0">
                <a:latin typeface="Pragmatica" panose="020B0403040502020204"/>
              </a:rPr>
              <a:t>Want to go deep on one topic? → Try </a:t>
            </a:r>
            <a:r>
              <a:rPr lang="en-US" sz="4400" b="1" u="sng" dirty="0">
                <a:latin typeface="Pragmatica" panose="020B0403040502020204"/>
                <a:hlinkClick r:id="rId4"/>
              </a:rPr>
              <a:t>Python in Excel: Quick Wins</a:t>
            </a:r>
            <a:endParaRPr lang="en-US" sz="4400" dirty="0">
              <a:latin typeface="Pragmatica" panose="020B0403040502020204"/>
            </a:endParaRPr>
          </a:p>
          <a:p>
            <a:pPr marL="285750" indent="-285750">
              <a:buFont typeface="Arial" panose="020B0604020202020204" pitchFamily="34" charset="0"/>
              <a:buChar char="•"/>
            </a:pPr>
            <a:r>
              <a:rPr lang="en-US" sz="4400" dirty="0">
                <a:latin typeface="Pragmatica" panose="020B0403040502020204"/>
              </a:rPr>
              <a:t>Prefer self-paced? → My </a:t>
            </a:r>
            <a:r>
              <a:rPr lang="en-US" sz="4400" b="1" u="sng" dirty="0">
                <a:latin typeface="Pragmatica" panose="020B0403040502020204"/>
                <a:hlinkClick r:id="rId5"/>
              </a:rPr>
              <a:t>LinkedIn Learning</a:t>
            </a:r>
            <a:r>
              <a:rPr lang="en-US" sz="4400" dirty="0">
                <a:latin typeface="Pragmatica" panose="020B0403040502020204"/>
              </a:rPr>
              <a:t> courses</a:t>
            </a:r>
          </a:p>
          <a:p>
            <a:pPr marL="285750" indent="-285750">
              <a:buFont typeface="Arial" panose="020B0604020202020204" pitchFamily="34" charset="0"/>
              <a:buChar char="•"/>
            </a:pPr>
            <a:r>
              <a:rPr lang="en-US" sz="4400" dirty="0">
                <a:latin typeface="Pragmatica" panose="020B0403040502020204"/>
              </a:rPr>
              <a:t>Want live training? → Join an </a:t>
            </a:r>
            <a:r>
              <a:rPr lang="en-US" sz="4400" b="1" u="sng" dirty="0">
                <a:latin typeface="Pragmatica" panose="020B0403040502020204"/>
                <a:hlinkClick r:id="rId6"/>
              </a:rPr>
              <a:t>O’Reilly</a:t>
            </a:r>
            <a:r>
              <a:rPr lang="en-US" sz="4400" dirty="0">
                <a:latin typeface="Pragmatica" panose="020B0403040502020204"/>
              </a:rPr>
              <a:t> session or </a:t>
            </a:r>
            <a:r>
              <a:rPr lang="en-US" sz="4400" b="1" u="sng" dirty="0">
                <a:latin typeface="Pragmatica" panose="020B0403040502020204"/>
                <a:hlinkClick r:id="rId7"/>
              </a:rPr>
              <a:t>Eventbrite</a:t>
            </a:r>
            <a:r>
              <a:rPr lang="en-US" sz="4400" dirty="0">
                <a:latin typeface="Pragmatica" panose="020B0403040502020204"/>
              </a:rPr>
              <a:t> workshop</a:t>
            </a:r>
          </a:p>
          <a:p>
            <a:pPr marL="285750" indent="-285750">
              <a:buFont typeface="Arial" panose="020B0604020202020204" pitchFamily="34" charset="0"/>
              <a:buChar char="•"/>
            </a:pPr>
            <a:r>
              <a:rPr lang="en-US" sz="4400" dirty="0">
                <a:latin typeface="Pragmatica" panose="020B0403040502020204"/>
              </a:rPr>
              <a:t>For teams/organizations → Book a </a:t>
            </a:r>
            <a:r>
              <a:rPr lang="en-US" sz="4400" b="1" u="sng" dirty="0">
                <a:latin typeface="Pragmatica" panose="020B0403040502020204"/>
                <a:hlinkClick r:id="rId8"/>
              </a:rPr>
              <a:t>discovery call</a:t>
            </a:r>
          </a:p>
        </p:txBody>
      </p:sp>
      <p:pic>
        <p:nvPicPr>
          <p:cNvPr id="15" name="Picture 14" descr="A close up of a sign  Description automatically generated">
            <a:extLst>
              <a:ext uri="{FF2B5EF4-FFF2-40B4-BE49-F238E27FC236}">
                <a16:creationId xmlns:a16="http://schemas.microsoft.com/office/drawing/2014/main" id="{BD2DCCC6-87AC-828C-1922-475B4458EAF8}"/>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Tree>
    <p:extLst>
      <p:ext uri="{BB962C8B-B14F-4D97-AF65-F5344CB8AC3E}">
        <p14:creationId xmlns:p14="http://schemas.microsoft.com/office/powerpoint/2010/main" val="1691826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52D9D2-23A1-2523-B018-04A1EB9914C5}"/>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198C7299-844B-E70F-73B1-9B96434CB00E}"/>
              </a:ext>
            </a:extLst>
          </p:cNvPr>
          <p:cNvSpPr txBox="1"/>
          <p:nvPr/>
        </p:nvSpPr>
        <p:spPr>
          <a:xfrm>
            <a:off x="520861" y="170082"/>
            <a:ext cx="14947739" cy="1323439"/>
          </a:xfrm>
          <a:prstGeom prst="rect">
            <a:avLst/>
          </a:prstGeom>
          <a:noFill/>
        </p:spPr>
        <p:txBody>
          <a:bodyPr wrap="square" rtlCol="0">
            <a:spAutoFit/>
          </a:bodyPr>
          <a:lstStyle/>
          <a:p>
            <a:r>
              <a:rPr lang="en-US" sz="8000" dirty="0">
                <a:latin typeface="Aliens &amp; cows" panose="00000500000000000000" pitchFamily="2" charset="0"/>
              </a:rPr>
              <a:t>Free download</a:t>
            </a:r>
          </a:p>
        </p:txBody>
      </p:sp>
      <p:sp>
        <p:nvSpPr>
          <p:cNvPr id="3" name="TextBox 2">
            <a:extLst>
              <a:ext uri="{FF2B5EF4-FFF2-40B4-BE49-F238E27FC236}">
                <a16:creationId xmlns:a16="http://schemas.microsoft.com/office/drawing/2014/main" id="{CF58984F-0299-7F52-EFC0-830F0B077821}"/>
              </a:ext>
            </a:extLst>
          </p:cNvPr>
          <p:cNvSpPr txBox="1"/>
          <p:nvPr/>
        </p:nvSpPr>
        <p:spPr>
          <a:xfrm>
            <a:off x="520861" y="3191948"/>
            <a:ext cx="14393120" cy="3785652"/>
          </a:xfrm>
          <a:prstGeom prst="rect">
            <a:avLst/>
          </a:prstGeom>
          <a:noFill/>
        </p:spPr>
        <p:txBody>
          <a:bodyPr wrap="square" rtlCol="0">
            <a:spAutoFit/>
          </a:bodyPr>
          <a:lstStyle/>
          <a:p>
            <a:pPr marL="685800" indent="-685800">
              <a:buClr>
                <a:srgbClr val="CF3338"/>
              </a:buClr>
              <a:buFont typeface="Arial" panose="020B0604020202020204" pitchFamily="34" charset="0"/>
              <a:buChar char="•"/>
            </a:pPr>
            <a:r>
              <a:rPr lang="en-US" sz="4800" dirty="0">
                <a:solidFill>
                  <a:srgbClr val="707070"/>
                </a:solidFill>
                <a:latin typeface="Pragmatica" panose="020B0403040502020204" pitchFamily="34" charset="0"/>
              </a:rPr>
              <a:t>Download: Modern Excel Starter Kit PDF</a:t>
            </a:r>
          </a:p>
          <a:p>
            <a:pPr marL="1143000" lvl="1" indent="-685800">
              <a:buClr>
                <a:srgbClr val="CF3338"/>
              </a:buClr>
              <a:buFont typeface="Arial" panose="020B0604020202020204" pitchFamily="34" charset="0"/>
              <a:buChar char="•"/>
            </a:pPr>
            <a:r>
              <a:rPr lang="en-US" sz="4800" dirty="0">
                <a:solidFill>
                  <a:srgbClr val="707070"/>
                </a:solidFill>
                <a:latin typeface="Pragmatica" panose="020B0403040502020204" pitchFamily="34" charset="0"/>
              </a:rPr>
              <a:t>Introduction, learning strategies, additional resources to master Modern Excel</a:t>
            </a:r>
          </a:p>
          <a:p>
            <a:pPr marL="1143000" lvl="1" indent="-685800">
              <a:buClr>
                <a:srgbClr val="CF3338"/>
              </a:buClr>
              <a:buFont typeface="Arial" panose="020B0604020202020204" pitchFamily="34" charset="0"/>
              <a:buChar char="•"/>
            </a:pPr>
            <a:r>
              <a:rPr lang="en-US" sz="4800" dirty="0">
                <a:solidFill>
                  <a:srgbClr val="707070"/>
                </a:solidFill>
                <a:latin typeface="Pragmatica" panose="020B0403040502020204" pitchFamily="34" charset="0"/>
              </a:rPr>
              <a:t>The kit shows you what exists. Ongoing resources show you what to do with them</a:t>
            </a:r>
          </a:p>
        </p:txBody>
      </p:sp>
      <p:pic>
        <p:nvPicPr>
          <p:cNvPr id="15" name="Picture 14" descr="A close up of a sign  Description automatically generated">
            <a:extLst>
              <a:ext uri="{FF2B5EF4-FFF2-40B4-BE49-F238E27FC236}">
                <a16:creationId xmlns:a16="http://schemas.microsoft.com/office/drawing/2014/main" id="{B155E1CE-7355-30EE-3EE6-738EC92875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Tree>
    <p:extLst>
      <p:ext uri="{BB962C8B-B14F-4D97-AF65-F5344CB8AC3E}">
        <p14:creationId xmlns:p14="http://schemas.microsoft.com/office/powerpoint/2010/main" val="1171602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8CB409-CE91-9113-CF5B-9EF56BE94356}"/>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DB8D7723-DD6F-44FA-345F-472CF117590F}"/>
              </a:ext>
            </a:extLst>
          </p:cNvPr>
          <p:cNvSpPr txBox="1"/>
          <p:nvPr/>
        </p:nvSpPr>
        <p:spPr>
          <a:xfrm>
            <a:off x="520861" y="170082"/>
            <a:ext cx="14947739" cy="1323439"/>
          </a:xfrm>
          <a:prstGeom prst="rect">
            <a:avLst/>
          </a:prstGeom>
          <a:noFill/>
        </p:spPr>
        <p:txBody>
          <a:bodyPr wrap="square" rtlCol="0">
            <a:spAutoFit/>
          </a:bodyPr>
          <a:lstStyle/>
          <a:p>
            <a:r>
              <a:rPr lang="en-US" sz="8000" dirty="0">
                <a:latin typeface="Aliens &amp; cows" panose="00000500000000000000" pitchFamily="2" charset="0"/>
              </a:rPr>
              <a:t>Next steps</a:t>
            </a:r>
          </a:p>
        </p:txBody>
      </p:sp>
      <p:sp>
        <p:nvSpPr>
          <p:cNvPr id="3" name="TextBox 2">
            <a:extLst>
              <a:ext uri="{FF2B5EF4-FFF2-40B4-BE49-F238E27FC236}">
                <a16:creationId xmlns:a16="http://schemas.microsoft.com/office/drawing/2014/main" id="{80175D3E-AE80-1413-C125-5F34E069E354}"/>
              </a:ext>
            </a:extLst>
          </p:cNvPr>
          <p:cNvSpPr txBox="1"/>
          <p:nvPr/>
        </p:nvSpPr>
        <p:spPr>
          <a:xfrm>
            <a:off x="520861" y="3191948"/>
            <a:ext cx="14393120" cy="4708981"/>
          </a:xfrm>
          <a:prstGeom prst="rect">
            <a:avLst/>
          </a:prstGeom>
          <a:noFill/>
        </p:spPr>
        <p:txBody>
          <a:bodyPr wrap="square" rtlCol="0">
            <a:spAutoFit/>
          </a:bodyPr>
          <a:lstStyle/>
          <a:p>
            <a:pPr marL="685800" indent="-685800">
              <a:buClr>
                <a:srgbClr val="CF3338"/>
              </a:buClr>
              <a:buFont typeface="Arial" panose="020B0604020202020204" pitchFamily="34" charset="0"/>
              <a:buChar char="•"/>
            </a:pPr>
            <a:r>
              <a:rPr lang="en-US" sz="6000" dirty="0">
                <a:solidFill>
                  <a:srgbClr val="707070"/>
                </a:solidFill>
                <a:latin typeface="Pragmatica" panose="020B0403040502020204" pitchFamily="34" charset="0"/>
              </a:rPr>
              <a:t>Follow me on LinkedIn</a:t>
            </a:r>
          </a:p>
          <a:p>
            <a:pPr marL="685800" indent="-685800">
              <a:buClr>
                <a:srgbClr val="CF3338"/>
              </a:buClr>
              <a:buFont typeface="Arial" panose="020B0604020202020204" pitchFamily="34" charset="0"/>
              <a:buChar char="•"/>
            </a:pPr>
            <a:r>
              <a:rPr lang="en-US" sz="6000" dirty="0">
                <a:solidFill>
                  <a:srgbClr val="707070"/>
                </a:solidFill>
                <a:latin typeface="Pragmatica" panose="020B0403040502020204" pitchFamily="34" charset="0"/>
              </a:rPr>
              <a:t>Share this event with someone who’s still doing it the hard way</a:t>
            </a:r>
          </a:p>
          <a:p>
            <a:pPr marL="685800" indent="-685800">
              <a:buClr>
                <a:srgbClr val="CF3338"/>
              </a:buClr>
              <a:buFont typeface="Arial" panose="020B0604020202020204" pitchFamily="34" charset="0"/>
              <a:buChar char="•"/>
            </a:pPr>
            <a:r>
              <a:rPr lang="en-US" sz="6000" dirty="0">
                <a:solidFill>
                  <a:srgbClr val="707070"/>
                </a:solidFill>
                <a:latin typeface="Pragmatica" panose="020B0403040502020204" pitchFamily="34" charset="0"/>
              </a:rPr>
              <a:t>For teams/organizations: Book a discovery call at </a:t>
            </a:r>
            <a:r>
              <a:rPr lang="en-US" sz="6000" dirty="0">
                <a:solidFill>
                  <a:srgbClr val="CF3338"/>
                </a:solidFill>
                <a:latin typeface="Pragmatica" panose="020B0403040502020204" pitchFamily="34" charset="0"/>
                <a:hlinkClick r:id="rId3">
                  <a:extLst>
                    <a:ext uri="{A12FA001-AC4F-418D-AE19-62706E023703}">
                      <ahyp:hlinkClr xmlns:ahyp="http://schemas.microsoft.com/office/drawing/2018/hyperlinkcolor" val="tx"/>
                    </a:ext>
                  </a:extLst>
                </a:hlinkClick>
              </a:rPr>
              <a:t>https://stringfestanalytics.com/book-me/</a:t>
            </a:r>
            <a:r>
              <a:rPr lang="en-US" sz="6000" dirty="0">
                <a:solidFill>
                  <a:srgbClr val="CF3338"/>
                </a:solidFill>
                <a:latin typeface="Pragmatica" panose="020B0403040502020204" pitchFamily="34" charset="0"/>
              </a:rPr>
              <a:t> </a:t>
            </a:r>
          </a:p>
        </p:txBody>
      </p:sp>
      <p:pic>
        <p:nvPicPr>
          <p:cNvPr id="15" name="Picture 14" descr="A close up of a sign  Description automatically generated">
            <a:extLst>
              <a:ext uri="{FF2B5EF4-FFF2-40B4-BE49-F238E27FC236}">
                <a16:creationId xmlns:a16="http://schemas.microsoft.com/office/drawing/2014/main" id="{23401A70-278E-956F-C05F-181A5C8C8A7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Tree>
    <p:extLst>
      <p:ext uri="{BB962C8B-B14F-4D97-AF65-F5344CB8AC3E}">
        <p14:creationId xmlns:p14="http://schemas.microsoft.com/office/powerpoint/2010/main" val="32787768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0C042-4FA7-C99A-DB6A-E56C8A4C9FF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38FBC8C-6CC2-040B-E74D-EA0547D9066A}"/>
              </a:ext>
            </a:extLst>
          </p:cNvPr>
          <p:cNvSpPr/>
          <p:nvPr/>
        </p:nvSpPr>
        <p:spPr>
          <a:xfrm>
            <a:off x="0" y="0"/>
            <a:ext cx="18288000" cy="10287000"/>
          </a:xfrm>
          <a:prstGeom prst="rect">
            <a:avLst/>
          </a:prstGeom>
          <a:solidFill>
            <a:srgbClr val="CF3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5" name="TextBox 4">
            <a:extLst>
              <a:ext uri="{FF2B5EF4-FFF2-40B4-BE49-F238E27FC236}">
                <a16:creationId xmlns:a16="http://schemas.microsoft.com/office/drawing/2014/main" id="{C3242B5A-8DE0-9FEB-CCC9-737A969B938A}"/>
              </a:ext>
            </a:extLst>
          </p:cNvPr>
          <p:cNvSpPr txBox="1"/>
          <p:nvPr/>
        </p:nvSpPr>
        <p:spPr>
          <a:xfrm>
            <a:off x="781292" y="590309"/>
            <a:ext cx="15486926" cy="1615827"/>
          </a:xfrm>
          <a:prstGeom prst="rect">
            <a:avLst/>
          </a:prstGeom>
          <a:noFill/>
        </p:spPr>
        <p:txBody>
          <a:bodyPr wrap="square" rtlCol="0">
            <a:spAutoFit/>
          </a:bodyPr>
          <a:lstStyle/>
          <a:p>
            <a:r>
              <a:rPr lang="en-US" sz="9900" b="1" dirty="0">
                <a:solidFill>
                  <a:schemeClr val="bg1"/>
                </a:solidFill>
                <a:latin typeface="Normafixed Tryout" panose="00000409000000000000" pitchFamily="49" charset="0"/>
              </a:rPr>
              <a:t>Thank you!</a:t>
            </a:r>
          </a:p>
        </p:txBody>
      </p:sp>
    </p:spTree>
    <p:extLst>
      <p:ext uri="{BB962C8B-B14F-4D97-AF65-F5344CB8AC3E}">
        <p14:creationId xmlns:p14="http://schemas.microsoft.com/office/powerpoint/2010/main" val="39986720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rotWithShape="1">
          <a:blip r:embed="rId2">
            <a:extLst>
              <a:ext uri="{28A0092B-C50C-407E-A947-70E740481C1C}">
                <a14:useLocalDpi xmlns:a14="http://schemas.microsoft.com/office/drawing/2010/main" val="0"/>
              </a:ext>
            </a:extLst>
          </a:blip>
          <a:srcRect l="50728" t="56371"/>
          <a:stretch/>
        </p:blipFill>
        <p:spPr>
          <a:xfrm>
            <a:off x="12204691" y="3316148"/>
            <a:ext cx="6083309" cy="6970854"/>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7744" y="-3724155"/>
            <a:ext cx="15257208" cy="11189825"/>
          </a:xfrm>
          <a:prstGeom prst="rect">
            <a:avLst/>
          </a:prstGeom>
        </p:spPr>
      </p:pic>
      <p:sp>
        <p:nvSpPr>
          <p:cNvPr id="11" name="TextBox 10"/>
          <p:cNvSpPr txBox="1"/>
          <p:nvPr/>
        </p:nvSpPr>
        <p:spPr>
          <a:xfrm>
            <a:off x="486137" y="2531318"/>
            <a:ext cx="11979797" cy="923330"/>
          </a:xfrm>
          <a:prstGeom prst="rect">
            <a:avLst/>
          </a:prstGeom>
          <a:noFill/>
        </p:spPr>
        <p:txBody>
          <a:bodyPr wrap="square" rtlCol="0">
            <a:spAutoFit/>
          </a:bodyPr>
          <a:lstStyle/>
          <a:p>
            <a:r>
              <a:rPr lang="en-US" sz="5400" b="1" dirty="0">
                <a:solidFill>
                  <a:srgbClr val="CF3338"/>
                </a:solidFill>
                <a:latin typeface="Pragmatica" panose="020B0403040502020204" pitchFamily="34" charset="0"/>
              </a:rPr>
              <a:t>Questions?</a:t>
            </a:r>
          </a:p>
        </p:txBody>
      </p:sp>
      <p:pic>
        <p:nvPicPr>
          <p:cNvPr id="5" name="Picture 4">
            <a:extLst>
              <a:ext uri="{FF2B5EF4-FFF2-40B4-BE49-F238E27FC236}">
                <a16:creationId xmlns:a16="http://schemas.microsoft.com/office/drawing/2014/main" id="{54A06221-5316-4BCF-9FDA-BDB95FF4A77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2204691" y="3317239"/>
            <a:ext cx="6083309" cy="6968672"/>
          </a:xfrm>
          <a:prstGeom prst="rect">
            <a:avLst/>
          </a:prstGeom>
        </p:spPr>
      </p:pic>
    </p:spTree>
    <p:extLst>
      <p:ext uri="{BB962C8B-B14F-4D97-AF65-F5344CB8AC3E}">
        <p14:creationId xmlns:p14="http://schemas.microsoft.com/office/powerpoint/2010/main" val="16898607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2665</TotalTime>
  <Words>1713</Words>
  <Application>Microsoft Office PowerPoint</Application>
  <PresentationFormat>Custom</PresentationFormat>
  <Paragraphs>106</Paragraphs>
  <Slides>17</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Normafixed Tryout</vt:lpstr>
      <vt:lpstr>Pragmatica</vt:lpstr>
      <vt:lpstr>Aliens &amp; cows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How I work</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excel-statistics-for-business-analytics</dc:title>
  <dc:creator>User</dc:creator>
  <cp:lastModifiedBy>George Mount</cp:lastModifiedBy>
  <cp:revision>240</cp:revision>
  <dcterms:created xsi:type="dcterms:W3CDTF">2006-08-16T00:00:00Z</dcterms:created>
  <dcterms:modified xsi:type="dcterms:W3CDTF">2026-05-26T13:59:43Z</dcterms:modified>
  <dc:identifier>DADurESpNu8</dc:identifier>
</cp:coreProperties>
</file>