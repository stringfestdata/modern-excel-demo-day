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9"/>
  </p:notesMasterIdLst>
  <p:sldIdLst>
    <p:sldId id="256" r:id="rId2"/>
    <p:sldId id="425" r:id="rId3"/>
    <p:sldId id="426" r:id="rId4"/>
    <p:sldId id="437" r:id="rId5"/>
    <p:sldId id="407" r:id="rId6"/>
    <p:sldId id="440" r:id="rId7"/>
    <p:sldId id="438" r:id="rId8"/>
    <p:sldId id="439" r:id="rId9"/>
    <p:sldId id="427" r:id="rId10"/>
    <p:sldId id="441" r:id="rId11"/>
    <p:sldId id="457" r:id="rId12"/>
    <p:sldId id="257" r:id="rId13"/>
    <p:sldId id="455" r:id="rId14"/>
    <p:sldId id="456" r:id="rId15"/>
    <p:sldId id="452" r:id="rId16"/>
    <p:sldId id="453" r:id="rId17"/>
    <p:sldId id="415" r:id="rId18"/>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7684158-E8C8-9BE0-21EB-718D906F94A5}" name="George Mount" initials="GM" userId="S::george@stringfestanalytics.com::22d0b802-afc6-4b8f-ba57-7a855d9692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eorge Mount" initials="GM" lastIdx="9" clrIdx="0">
    <p:extLst>
      <p:ext uri="{19B8F6BF-5375-455C-9EA6-DF929625EA0E}">
        <p15:presenceInfo xmlns:p15="http://schemas.microsoft.com/office/powerpoint/2012/main" userId="57d2ab2a84d54c81"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3338"/>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92" autoAdjust="0"/>
    <p:restoredTop sz="63484" autoAdjust="0"/>
  </p:normalViewPr>
  <p:slideViewPr>
    <p:cSldViewPr>
      <p:cViewPr varScale="1">
        <p:scale>
          <a:sx n="31" d="100"/>
          <a:sy n="31" d="100"/>
        </p:scale>
        <p:origin x="912" y="32"/>
      </p:cViewPr>
      <p:guideLst>
        <p:guide orient="horz" pos="2160"/>
        <p:guide pos="2880"/>
      </p:guideLst>
    </p:cSldViewPr>
  </p:slideViewPr>
  <p:outlineViewPr>
    <p:cViewPr>
      <p:scale>
        <a:sx n="33" d="100"/>
        <a:sy n="33" d="100"/>
      </p:scale>
      <p:origin x="0" y="0"/>
    </p:cViewPr>
  </p:outlin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8798DD1-6FC4-4C34-9F3F-53BBEB998853}" type="doc">
      <dgm:prSet loTypeId="urn:microsoft.com/office/officeart/2005/8/layout/chevron2" loCatId="process" qsTypeId="urn:microsoft.com/office/officeart/2005/8/quickstyle/simple1" qsCatId="simple" csTypeId="urn:microsoft.com/office/officeart/2005/8/colors/accent1_2" csCatId="accent1" phldr="1"/>
      <dgm:spPr/>
      <dgm:t>
        <a:bodyPr/>
        <a:lstStyle/>
        <a:p>
          <a:endParaRPr lang="en-US"/>
        </a:p>
      </dgm:t>
    </dgm:pt>
    <dgm:pt modelId="{21FE27EC-10F4-47A1-8FD5-CD3496F54607}">
      <dgm:prSet phldrT="[Text]" phldr="0"/>
      <dgm:spPr>
        <a:solidFill>
          <a:srgbClr val="C00000"/>
        </a:solidFill>
      </dgm:spPr>
      <dgm:t>
        <a:bodyPr/>
        <a:lstStyle/>
        <a:p>
          <a:r>
            <a:rPr lang="en-US" b="1" dirty="0"/>
            <a:t>Individuals</a:t>
          </a:r>
        </a:p>
      </dgm:t>
    </dgm:pt>
    <dgm:pt modelId="{FF3D7B0C-E2C4-49B8-8C4B-AF120BF1E2B9}" type="parTrans" cxnId="{6C0172DF-D88B-41D4-B3F5-CA15E159222B}">
      <dgm:prSet/>
      <dgm:spPr/>
      <dgm:t>
        <a:bodyPr/>
        <a:lstStyle/>
        <a:p>
          <a:endParaRPr lang="en-US"/>
        </a:p>
      </dgm:t>
    </dgm:pt>
    <dgm:pt modelId="{969895C4-5161-439F-BA5B-C7930ADA9517}" type="sibTrans" cxnId="{6C0172DF-D88B-41D4-B3F5-CA15E159222B}">
      <dgm:prSet/>
      <dgm:spPr/>
      <dgm:t>
        <a:bodyPr/>
        <a:lstStyle/>
        <a:p>
          <a:endParaRPr lang="en-US"/>
        </a:p>
      </dgm:t>
    </dgm:pt>
    <dgm:pt modelId="{C24B2941-8C4E-47E5-93BE-9390D2CDBC89}">
      <dgm:prSet phldrT="[Text]" phldr="0"/>
      <dgm:spPr>
        <a:ln>
          <a:solidFill>
            <a:schemeClr val="bg1">
              <a:lumMod val="50000"/>
            </a:schemeClr>
          </a:solidFill>
        </a:ln>
      </dgm:spPr>
      <dgm:t>
        <a:bodyPr/>
        <a:lstStyle/>
        <a:p>
          <a:r>
            <a:rPr lang="en-US" dirty="0"/>
            <a:t>Self-paced courses &amp; live workshops</a:t>
          </a:r>
        </a:p>
      </dgm:t>
    </dgm:pt>
    <dgm:pt modelId="{C97A6C3A-9B27-45E4-8D96-A0B3EE805D38}" type="parTrans" cxnId="{6C6CBB06-B18A-42AC-8E9C-1FECB4298C8E}">
      <dgm:prSet/>
      <dgm:spPr/>
      <dgm:t>
        <a:bodyPr/>
        <a:lstStyle/>
        <a:p>
          <a:endParaRPr lang="en-US"/>
        </a:p>
      </dgm:t>
    </dgm:pt>
    <dgm:pt modelId="{95B33339-D74D-43E7-BBDD-70E0EB607FD8}" type="sibTrans" cxnId="{6C6CBB06-B18A-42AC-8E9C-1FECB4298C8E}">
      <dgm:prSet/>
      <dgm:spPr/>
      <dgm:t>
        <a:bodyPr/>
        <a:lstStyle/>
        <a:p>
          <a:endParaRPr lang="en-US"/>
        </a:p>
      </dgm:t>
    </dgm:pt>
    <dgm:pt modelId="{B4C039DB-28DF-4F2E-9047-FCE10E8B50F4}">
      <dgm:prSet phldrT="[Text]" phldr="0"/>
      <dgm:spPr>
        <a:ln>
          <a:solidFill>
            <a:schemeClr val="bg1">
              <a:lumMod val="50000"/>
            </a:schemeClr>
          </a:solidFill>
        </a:ln>
      </dgm:spPr>
      <dgm:t>
        <a:bodyPr/>
        <a:lstStyle/>
        <a:p>
          <a:r>
            <a:rPr lang="en-US" dirty="0"/>
            <a:t>Learn when to use formulas, Power Query, Python, and Copilot</a:t>
          </a:r>
        </a:p>
      </dgm:t>
    </dgm:pt>
    <dgm:pt modelId="{88E2D7DD-A20A-4D82-B7BA-495E3CA5520E}" type="parTrans" cxnId="{08744D63-46D0-44D2-900A-8851AAD8CEA3}">
      <dgm:prSet/>
      <dgm:spPr/>
      <dgm:t>
        <a:bodyPr/>
        <a:lstStyle/>
        <a:p>
          <a:endParaRPr lang="en-US"/>
        </a:p>
      </dgm:t>
    </dgm:pt>
    <dgm:pt modelId="{EFC160FF-009E-419D-9011-2FCCED5BFCAE}" type="sibTrans" cxnId="{08744D63-46D0-44D2-900A-8851AAD8CEA3}">
      <dgm:prSet/>
      <dgm:spPr/>
      <dgm:t>
        <a:bodyPr/>
        <a:lstStyle/>
        <a:p>
          <a:endParaRPr lang="en-US"/>
        </a:p>
      </dgm:t>
    </dgm:pt>
    <dgm:pt modelId="{31E0BBA0-32AB-44DE-85CB-3C80E6846810}">
      <dgm:prSet phldrT="[Text]" phldr="0"/>
      <dgm:spPr>
        <a:ln>
          <a:solidFill>
            <a:schemeClr val="bg1">
              <a:lumMod val="50000"/>
            </a:schemeClr>
          </a:solidFill>
        </a:ln>
      </dgm:spPr>
      <dgm:t>
        <a:bodyPr/>
        <a:lstStyle/>
        <a:p>
          <a:r>
            <a:rPr lang="en-US" dirty="0"/>
            <a:t>Focus on clarity, maintainability, and confidence</a:t>
          </a:r>
        </a:p>
      </dgm:t>
    </dgm:pt>
    <dgm:pt modelId="{BDE34EB0-9E1B-4FF4-9FC7-70742D76E4E6}" type="parTrans" cxnId="{9453C970-A133-42A1-BB1A-7672CEFA0687}">
      <dgm:prSet/>
      <dgm:spPr/>
      <dgm:t>
        <a:bodyPr/>
        <a:lstStyle/>
        <a:p>
          <a:endParaRPr lang="en-US"/>
        </a:p>
      </dgm:t>
    </dgm:pt>
    <dgm:pt modelId="{45E94802-E21A-4AC8-ACCB-FA38B41DCB9F}" type="sibTrans" cxnId="{9453C970-A133-42A1-BB1A-7672CEFA0687}">
      <dgm:prSet/>
      <dgm:spPr/>
      <dgm:t>
        <a:bodyPr/>
        <a:lstStyle/>
        <a:p>
          <a:endParaRPr lang="en-US"/>
        </a:p>
      </dgm:t>
    </dgm:pt>
    <dgm:pt modelId="{016DC79D-3BC0-41E5-8BCD-63EBA4F14C0D}">
      <dgm:prSet phldrT="[Text]" phldr="0"/>
      <dgm:spPr>
        <a:solidFill>
          <a:srgbClr val="C00000"/>
        </a:solidFill>
      </dgm:spPr>
      <dgm:t>
        <a:bodyPr/>
        <a:lstStyle/>
        <a:p>
          <a:r>
            <a:rPr lang="en-US" b="1" dirty="0"/>
            <a:t>Teams</a:t>
          </a:r>
        </a:p>
      </dgm:t>
    </dgm:pt>
    <dgm:pt modelId="{2EE0B6F5-6A8E-418F-9567-1907B2738A34}" type="parTrans" cxnId="{BC96F6EE-A452-4FD1-957C-3C61D63DF19A}">
      <dgm:prSet/>
      <dgm:spPr/>
      <dgm:t>
        <a:bodyPr/>
        <a:lstStyle/>
        <a:p>
          <a:endParaRPr lang="en-US"/>
        </a:p>
      </dgm:t>
    </dgm:pt>
    <dgm:pt modelId="{E09FC7D4-5B56-4C5F-893B-848769202938}" type="sibTrans" cxnId="{BC96F6EE-A452-4FD1-957C-3C61D63DF19A}">
      <dgm:prSet/>
      <dgm:spPr/>
      <dgm:t>
        <a:bodyPr/>
        <a:lstStyle/>
        <a:p>
          <a:endParaRPr lang="en-US"/>
        </a:p>
      </dgm:t>
    </dgm:pt>
    <dgm:pt modelId="{7A818774-F187-423D-B8A8-E299CC61C89C}">
      <dgm:prSet phldrT="[Text]" phldr="0"/>
      <dgm:spPr>
        <a:ln>
          <a:solidFill>
            <a:schemeClr val="bg1">
              <a:lumMod val="50000"/>
            </a:schemeClr>
          </a:solidFill>
        </a:ln>
      </dgm:spPr>
      <dgm:t>
        <a:bodyPr/>
        <a:lstStyle/>
        <a:p>
          <a:r>
            <a:rPr lang="en-US" dirty="0"/>
            <a:t>Practical corporate training</a:t>
          </a:r>
        </a:p>
      </dgm:t>
    </dgm:pt>
    <dgm:pt modelId="{C7A141B3-2B9C-4F4D-9D07-5F119890BE56}" type="parTrans" cxnId="{E39F6071-D189-4302-81C2-C8D5AD0A841D}">
      <dgm:prSet/>
      <dgm:spPr/>
      <dgm:t>
        <a:bodyPr/>
        <a:lstStyle/>
        <a:p>
          <a:endParaRPr lang="en-US"/>
        </a:p>
      </dgm:t>
    </dgm:pt>
    <dgm:pt modelId="{BF1D4A6B-4EBA-4D46-93B3-07C66BF920A8}" type="sibTrans" cxnId="{E39F6071-D189-4302-81C2-C8D5AD0A841D}">
      <dgm:prSet/>
      <dgm:spPr/>
      <dgm:t>
        <a:bodyPr/>
        <a:lstStyle/>
        <a:p>
          <a:endParaRPr lang="en-US"/>
        </a:p>
      </dgm:t>
    </dgm:pt>
    <dgm:pt modelId="{CED61807-9E1D-41DC-A0C2-C410C92668D0}">
      <dgm:prSet phldrT="[Text]" phldr="0"/>
      <dgm:spPr>
        <a:ln>
          <a:solidFill>
            <a:schemeClr val="bg1">
              <a:lumMod val="50000"/>
            </a:schemeClr>
          </a:solidFill>
        </a:ln>
      </dgm:spPr>
      <dgm:t>
        <a:bodyPr/>
        <a:lstStyle/>
        <a:p>
          <a:r>
            <a:rPr lang="en-US" dirty="0"/>
            <a:t>Apply modern Excel patterns to real workflows</a:t>
          </a:r>
        </a:p>
      </dgm:t>
    </dgm:pt>
    <dgm:pt modelId="{DF6760EA-CD03-4B40-8B21-BE7EBE5C8B51}" type="parTrans" cxnId="{D544EC0C-557D-4137-BBE5-D7047405AD61}">
      <dgm:prSet/>
      <dgm:spPr/>
      <dgm:t>
        <a:bodyPr/>
        <a:lstStyle/>
        <a:p>
          <a:endParaRPr lang="en-US"/>
        </a:p>
      </dgm:t>
    </dgm:pt>
    <dgm:pt modelId="{56F627CE-8FDB-492D-9146-C96F55B7E1C0}" type="sibTrans" cxnId="{D544EC0C-557D-4137-BBE5-D7047405AD61}">
      <dgm:prSet/>
      <dgm:spPr/>
      <dgm:t>
        <a:bodyPr/>
        <a:lstStyle/>
        <a:p>
          <a:endParaRPr lang="en-US"/>
        </a:p>
      </dgm:t>
    </dgm:pt>
    <dgm:pt modelId="{A47EFBC1-B8C2-4EA5-9B3A-F927674761C9}">
      <dgm:prSet phldrT="[Text]" phldr="0"/>
      <dgm:spPr>
        <a:ln>
          <a:solidFill>
            <a:schemeClr val="bg1">
              <a:lumMod val="50000"/>
            </a:schemeClr>
          </a:solidFill>
        </a:ln>
      </dgm:spPr>
      <dgm:t>
        <a:bodyPr/>
        <a:lstStyle/>
        <a:p>
          <a:r>
            <a:rPr lang="en-US" dirty="0"/>
            <a:t>Reduce errors, rework, and one-off fixes</a:t>
          </a:r>
        </a:p>
      </dgm:t>
    </dgm:pt>
    <dgm:pt modelId="{23C95D64-ACDF-4793-AF7E-ADB56BE2841D}" type="parTrans" cxnId="{1C3620EC-CE2A-437B-813B-D62505EEF778}">
      <dgm:prSet/>
      <dgm:spPr/>
      <dgm:t>
        <a:bodyPr/>
        <a:lstStyle/>
        <a:p>
          <a:endParaRPr lang="en-US"/>
        </a:p>
      </dgm:t>
    </dgm:pt>
    <dgm:pt modelId="{98F84862-E132-4EA1-89ED-AC172F965CF6}" type="sibTrans" cxnId="{1C3620EC-CE2A-437B-813B-D62505EEF778}">
      <dgm:prSet/>
      <dgm:spPr/>
      <dgm:t>
        <a:bodyPr/>
        <a:lstStyle/>
        <a:p>
          <a:endParaRPr lang="en-US"/>
        </a:p>
      </dgm:t>
    </dgm:pt>
    <dgm:pt modelId="{B4F0F40E-29C9-496D-BDA2-525B7864A476}">
      <dgm:prSet phldrT="[Text]" phldr="0"/>
      <dgm:spPr>
        <a:solidFill>
          <a:srgbClr val="C00000"/>
        </a:solidFill>
      </dgm:spPr>
      <dgm:t>
        <a:bodyPr/>
        <a:lstStyle/>
        <a:p>
          <a:r>
            <a:rPr lang="en-US" b="1" dirty="0"/>
            <a:t>Organizations</a:t>
          </a:r>
        </a:p>
      </dgm:t>
    </dgm:pt>
    <dgm:pt modelId="{85C43083-FDDC-4EB5-8CA2-AF1A2A539AE5}" type="parTrans" cxnId="{F5A0ED73-185C-43A4-B087-39723A0B16D0}">
      <dgm:prSet/>
      <dgm:spPr/>
      <dgm:t>
        <a:bodyPr/>
        <a:lstStyle/>
        <a:p>
          <a:endParaRPr lang="en-US"/>
        </a:p>
      </dgm:t>
    </dgm:pt>
    <dgm:pt modelId="{C9BD2B50-714A-4AF3-9879-8E0D2682421F}" type="sibTrans" cxnId="{F5A0ED73-185C-43A4-B087-39723A0B16D0}">
      <dgm:prSet/>
      <dgm:spPr/>
      <dgm:t>
        <a:bodyPr/>
        <a:lstStyle/>
        <a:p>
          <a:endParaRPr lang="en-US"/>
        </a:p>
      </dgm:t>
    </dgm:pt>
    <dgm:pt modelId="{CEF1FAE8-58A8-4837-8EE2-2DD9C2A199A3}">
      <dgm:prSet phldrT="[Text]" phldr="0"/>
      <dgm:spPr>
        <a:ln>
          <a:solidFill>
            <a:schemeClr val="bg1">
              <a:lumMod val="50000"/>
            </a:schemeClr>
          </a:solidFill>
        </a:ln>
      </dgm:spPr>
      <dgm:t>
        <a:bodyPr/>
        <a:lstStyle/>
        <a:p>
          <a:r>
            <a:rPr lang="en-US" dirty="0"/>
            <a:t>Guided, multi-week modernization program</a:t>
          </a:r>
        </a:p>
      </dgm:t>
    </dgm:pt>
    <dgm:pt modelId="{58151A2E-80AA-4AD6-A185-C0F5E8DA47AD}" type="parTrans" cxnId="{B62C6E92-AB91-468B-B358-EDF92131A7AF}">
      <dgm:prSet/>
      <dgm:spPr/>
      <dgm:t>
        <a:bodyPr/>
        <a:lstStyle/>
        <a:p>
          <a:endParaRPr lang="en-US"/>
        </a:p>
      </dgm:t>
    </dgm:pt>
    <dgm:pt modelId="{CBE4C6D7-AAFF-485C-A9FE-75A1ADEB00AD}" type="sibTrans" cxnId="{B62C6E92-AB91-468B-B358-EDF92131A7AF}">
      <dgm:prSet/>
      <dgm:spPr/>
      <dgm:t>
        <a:bodyPr/>
        <a:lstStyle/>
        <a:p>
          <a:endParaRPr lang="en-US"/>
        </a:p>
      </dgm:t>
    </dgm:pt>
    <dgm:pt modelId="{49A0E634-58A5-4059-9E7D-9503F5568F0E}">
      <dgm:prSet phldrT="[Text]" phldr="0"/>
      <dgm:spPr>
        <a:ln>
          <a:solidFill>
            <a:schemeClr val="bg1">
              <a:lumMod val="50000"/>
            </a:schemeClr>
          </a:solidFill>
        </a:ln>
      </dgm:spPr>
      <dgm:t>
        <a:bodyPr/>
        <a:lstStyle/>
        <a:p>
          <a:r>
            <a:rPr lang="en-US" dirty="0"/>
            <a:t>Teams learn to build pipelines, automation, and documentation</a:t>
          </a:r>
        </a:p>
      </dgm:t>
    </dgm:pt>
    <dgm:pt modelId="{ACD5A1DA-F5CD-48CE-B171-EC32505DF8B8}" type="parTrans" cxnId="{529891CA-70A8-4B23-B19B-BE2328CC8E28}">
      <dgm:prSet/>
      <dgm:spPr/>
      <dgm:t>
        <a:bodyPr/>
        <a:lstStyle/>
        <a:p>
          <a:endParaRPr lang="en-US"/>
        </a:p>
      </dgm:t>
    </dgm:pt>
    <dgm:pt modelId="{6ACADE56-6832-41F1-9403-24B505942BF3}" type="sibTrans" cxnId="{529891CA-70A8-4B23-B19B-BE2328CC8E28}">
      <dgm:prSet/>
      <dgm:spPr/>
      <dgm:t>
        <a:bodyPr/>
        <a:lstStyle/>
        <a:p>
          <a:endParaRPr lang="en-US"/>
        </a:p>
      </dgm:t>
    </dgm:pt>
    <dgm:pt modelId="{FB981EA0-3DDD-41E5-994C-58106823DD87}">
      <dgm:prSet phldrT="[Text]" phldr="0"/>
      <dgm:spPr>
        <a:ln>
          <a:solidFill>
            <a:schemeClr val="bg1">
              <a:lumMod val="50000"/>
            </a:schemeClr>
          </a:solidFill>
        </a:ln>
      </dgm:spPr>
      <dgm:t>
        <a:bodyPr/>
        <a:lstStyle/>
        <a:p>
          <a:r>
            <a:rPr lang="en-US" dirty="0"/>
            <a:t>Internal ownership of reliable, </a:t>
          </a:r>
          <a:r>
            <a:rPr lang="en-US"/>
            <a:t>auditable workflows</a:t>
          </a:r>
          <a:endParaRPr lang="en-US" dirty="0"/>
        </a:p>
      </dgm:t>
    </dgm:pt>
    <dgm:pt modelId="{F3950239-A916-4097-A7B6-DDA6653C9CB5}" type="parTrans" cxnId="{862989A2-6D7C-42A4-A92A-2FD429FB0840}">
      <dgm:prSet/>
      <dgm:spPr/>
      <dgm:t>
        <a:bodyPr/>
        <a:lstStyle/>
        <a:p>
          <a:endParaRPr lang="en-US"/>
        </a:p>
      </dgm:t>
    </dgm:pt>
    <dgm:pt modelId="{63E1678F-6B99-4762-B916-5E63C98E7666}" type="sibTrans" cxnId="{862989A2-6D7C-42A4-A92A-2FD429FB0840}">
      <dgm:prSet/>
      <dgm:spPr/>
      <dgm:t>
        <a:bodyPr/>
        <a:lstStyle/>
        <a:p>
          <a:endParaRPr lang="en-US"/>
        </a:p>
      </dgm:t>
    </dgm:pt>
    <dgm:pt modelId="{CAD0188A-56FC-4EB6-B5CE-816C1D97209B}" type="pres">
      <dgm:prSet presAssocID="{68798DD1-6FC4-4C34-9F3F-53BBEB998853}" presName="linearFlow" presStyleCnt="0">
        <dgm:presLayoutVars>
          <dgm:dir/>
          <dgm:animLvl val="lvl"/>
          <dgm:resizeHandles val="exact"/>
        </dgm:presLayoutVars>
      </dgm:prSet>
      <dgm:spPr/>
    </dgm:pt>
    <dgm:pt modelId="{396FF615-DBB1-4ADF-881C-2B53DB4685F9}" type="pres">
      <dgm:prSet presAssocID="{21FE27EC-10F4-47A1-8FD5-CD3496F54607}" presName="composite" presStyleCnt="0"/>
      <dgm:spPr/>
    </dgm:pt>
    <dgm:pt modelId="{09C26579-FE7E-4FCA-AD7A-C9F14DC9A41C}" type="pres">
      <dgm:prSet presAssocID="{21FE27EC-10F4-47A1-8FD5-CD3496F54607}" presName="parentText" presStyleLbl="alignNode1" presStyleIdx="0" presStyleCnt="3">
        <dgm:presLayoutVars>
          <dgm:chMax val="1"/>
          <dgm:bulletEnabled val="1"/>
        </dgm:presLayoutVars>
      </dgm:prSet>
      <dgm:spPr/>
    </dgm:pt>
    <dgm:pt modelId="{3F6A9F3A-70DD-47A1-BAF1-6047BA10BEF8}" type="pres">
      <dgm:prSet presAssocID="{21FE27EC-10F4-47A1-8FD5-CD3496F54607}" presName="descendantText" presStyleLbl="alignAcc1" presStyleIdx="0" presStyleCnt="3">
        <dgm:presLayoutVars>
          <dgm:bulletEnabled val="1"/>
        </dgm:presLayoutVars>
      </dgm:prSet>
      <dgm:spPr/>
    </dgm:pt>
    <dgm:pt modelId="{3EBAEAF0-87C5-4A8F-A60B-5164C3139ED0}" type="pres">
      <dgm:prSet presAssocID="{969895C4-5161-439F-BA5B-C7930ADA9517}" presName="sp" presStyleCnt="0"/>
      <dgm:spPr/>
    </dgm:pt>
    <dgm:pt modelId="{18A31272-9A53-4608-B75D-8841D31598E9}" type="pres">
      <dgm:prSet presAssocID="{016DC79D-3BC0-41E5-8BCD-63EBA4F14C0D}" presName="composite" presStyleCnt="0"/>
      <dgm:spPr/>
    </dgm:pt>
    <dgm:pt modelId="{94386F4B-5B07-46D9-B7E2-E761F0E5054B}" type="pres">
      <dgm:prSet presAssocID="{016DC79D-3BC0-41E5-8BCD-63EBA4F14C0D}" presName="parentText" presStyleLbl="alignNode1" presStyleIdx="1" presStyleCnt="3">
        <dgm:presLayoutVars>
          <dgm:chMax val="1"/>
          <dgm:bulletEnabled val="1"/>
        </dgm:presLayoutVars>
      </dgm:prSet>
      <dgm:spPr/>
    </dgm:pt>
    <dgm:pt modelId="{E1F63806-3F95-47B1-A8FC-936CE11E41B2}" type="pres">
      <dgm:prSet presAssocID="{016DC79D-3BC0-41E5-8BCD-63EBA4F14C0D}" presName="descendantText" presStyleLbl="alignAcc1" presStyleIdx="1" presStyleCnt="3">
        <dgm:presLayoutVars>
          <dgm:bulletEnabled val="1"/>
        </dgm:presLayoutVars>
      </dgm:prSet>
      <dgm:spPr/>
    </dgm:pt>
    <dgm:pt modelId="{08C09676-E15B-414E-ADE9-4CFD21277716}" type="pres">
      <dgm:prSet presAssocID="{E09FC7D4-5B56-4C5F-893B-848769202938}" presName="sp" presStyleCnt="0"/>
      <dgm:spPr/>
    </dgm:pt>
    <dgm:pt modelId="{C4801975-71F4-48D1-B902-ED5AA41607FE}" type="pres">
      <dgm:prSet presAssocID="{B4F0F40E-29C9-496D-BDA2-525B7864A476}" presName="composite" presStyleCnt="0"/>
      <dgm:spPr/>
    </dgm:pt>
    <dgm:pt modelId="{6686DA01-4710-4887-9ED3-F851DFA90AFC}" type="pres">
      <dgm:prSet presAssocID="{B4F0F40E-29C9-496D-BDA2-525B7864A476}" presName="parentText" presStyleLbl="alignNode1" presStyleIdx="2" presStyleCnt="3">
        <dgm:presLayoutVars>
          <dgm:chMax val="1"/>
          <dgm:bulletEnabled val="1"/>
        </dgm:presLayoutVars>
      </dgm:prSet>
      <dgm:spPr/>
    </dgm:pt>
    <dgm:pt modelId="{5B4E17BA-CB83-4086-AB9F-98D828E680FB}" type="pres">
      <dgm:prSet presAssocID="{B4F0F40E-29C9-496D-BDA2-525B7864A476}" presName="descendantText" presStyleLbl="alignAcc1" presStyleIdx="2" presStyleCnt="3">
        <dgm:presLayoutVars>
          <dgm:bulletEnabled val="1"/>
        </dgm:presLayoutVars>
      </dgm:prSet>
      <dgm:spPr/>
    </dgm:pt>
  </dgm:ptLst>
  <dgm:cxnLst>
    <dgm:cxn modelId="{92F1CA01-19A0-4F78-A4B8-D4B4230230A6}" type="presOf" srcId="{7A818774-F187-423D-B8A8-E299CC61C89C}" destId="{E1F63806-3F95-47B1-A8FC-936CE11E41B2}" srcOrd="0" destOrd="0" presId="urn:microsoft.com/office/officeart/2005/8/layout/chevron2"/>
    <dgm:cxn modelId="{2B9F7502-FA00-4776-91FC-DCE24DE2717C}" type="presOf" srcId="{31E0BBA0-32AB-44DE-85CB-3C80E6846810}" destId="{3F6A9F3A-70DD-47A1-BAF1-6047BA10BEF8}" srcOrd="0" destOrd="2" presId="urn:microsoft.com/office/officeart/2005/8/layout/chevron2"/>
    <dgm:cxn modelId="{6C6CBB06-B18A-42AC-8E9C-1FECB4298C8E}" srcId="{21FE27EC-10F4-47A1-8FD5-CD3496F54607}" destId="{C24B2941-8C4E-47E5-93BE-9390D2CDBC89}" srcOrd="0" destOrd="0" parTransId="{C97A6C3A-9B27-45E4-8D96-A0B3EE805D38}" sibTransId="{95B33339-D74D-43E7-BBDD-70E0EB607FD8}"/>
    <dgm:cxn modelId="{D544EC0C-557D-4137-BBE5-D7047405AD61}" srcId="{016DC79D-3BC0-41E5-8BCD-63EBA4F14C0D}" destId="{CED61807-9E1D-41DC-A0C2-C410C92668D0}" srcOrd="1" destOrd="0" parTransId="{DF6760EA-CD03-4B40-8B21-BE7EBE5C8B51}" sibTransId="{56F627CE-8FDB-492D-9146-C96F55B7E1C0}"/>
    <dgm:cxn modelId="{F861C337-2A07-4392-BB25-C7074FC35D3A}" type="presOf" srcId="{CED61807-9E1D-41DC-A0C2-C410C92668D0}" destId="{E1F63806-3F95-47B1-A8FC-936CE11E41B2}" srcOrd="0" destOrd="1" presId="urn:microsoft.com/office/officeart/2005/8/layout/chevron2"/>
    <dgm:cxn modelId="{08744D63-46D0-44D2-900A-8851AAD8CEA3}" srcId="{21FE27EC-10F4-47A1-8FD5-CD3496F54607}" destId="{B4C039DB-28DF-4F2E-9047-FCE10E8B50F4}" srcOrd="1" destOrd="0" parTransId="{88E2D7DD-A20A-4D82-B7BA-495E3CA5520E}" sibTransId="{EFC160FF-009E-419D-9011-2FCCED5BFCAE}"/>
    <dgm:cxn modelId="{7D3C6765-2503-464F-8915-4219C7FFA67E}" type="presOf" srcId="{B4C039DB-28DF-4F2E-9047-FCE10E8B50F4}" destId="{3F6A9F3A-70DD-47A1-BAF1-6047BA10BEF8}" srcOrd="0" destOrd="1" presId="urn:microsoft.com/office/officeart/2005/8/layout/chevron2"/>
    <dgm:cxn modelId="{C27A3E67-85B3-441D-954E-43FBB720893C}" type="presOf" srcId="{49A0E634-58A5-4059-9E7D-9503F5568F0E}" destId="{5B4E17BA-CB83-4086-AB9F-98D828E680FB}" srcOrd="0" destOrd="1" presId="urn:microsoft.com/office/officeart/2005/8/layout/chevron2"/>
    <dgm:cxn modelId="{72F5A847-4C7B-47C0-A9E1-518AC505C169}" type="presOf" srcId="{68798DD1-6FC4-4C34-9F3F-53BBEB998853}" destId="{CAD0188A-56FC-4EB6-B5CE-816C1D97209B}" srcOrd="0" destOrd="0" presId="urn:microsoft.com/office/officeart/2005/8/layout/chevron2"/>
    <dgm:cxn modelId="{061FAD70-44EC-4FA6-98DF-B43035022CDD}" type="presOf" srcId="{A47EFBC1-B8C2-4EA5-9B3A-F927674761C9}" destId="{E1F63806-3F95-47B1-A8FC-936CE11E41B2}" srcOrd="0" destOrd="2" presId="urn:microsoft.com/office/officeart/2005/8/layout/chevron2"/>
    <dgm:cxn modelId="{9453C970-A133-42A1-BB1A-7672CEFA0687}" srcId="{21FE27EC-10F4-47A1-8FD5-CD3496F54607}" destId="{31E0BBA0-32AB-44DE-85CB-3C80E6846810}" srcOrd="2" destOrd="0" parTransId="{BDE34EB0-9E1B-4FF4-9FC7-70742D76E4E6}" sibTransId="{45E94802-E21A-4AC8-ACCB-FA38B41DCB9F}"/>
    <dgm:cxn modelId="{E39F6071-D189-4302-81C2-C8D5AD0A841D}" srcId="{016DC79D-3BC0-41E5-8BCD-63EBA4F14C0D}" destId="{7A818774-F187-423D-B8A8-E299CC61C89C}" srcOrd="0" destOrd="0" parTransId="{C7A141B3-2B9C-4F4D-9D07-5F119890BE56}" sibTransId="{BF1D4A6B-4EBA-4D46-93B3-07C66BF920A8}"/>
    <dgm:cxn modelId="{F5A0ED73-185C-43A4-B087-39723A0B16D0}" srcId="{68798DD1-6FC4-4C34-9F3F-53BBEB998853}" destId="{B4F0F40E-29C9-496D-BDA2-525B7864A476}" srcOrd="2" destOrd="0" parTransId="{85C43083-FDDC-4EB5-8CA2-AF1A2A539AE5}" sibTransId="{C9BD2B50-714A-4AF3-9879-8E0D2682421F}"/>
    <dgm:cxn modelId="{19E0D479-A15D-4862-AFB6-01537DAB1029}" type="presOf" srcId="{016DC79D-3BC0-41E5-8BCD-63EBA4F14C0D}" destId="{94386F4B-5B07-46D9-B7E2-E761F0E5054B}" srcOrd="0" destOrd="0" presId="urn:microsoft.com/office/officeart/2005/8/layout/chevron2"/>
    <dgm:cxn modelId="{AD3BFA8E-5D82-48E4-B9AD-318B305BF8CB}" type="presOf" srcId="{FB981EA0-3DDD-41E5-994C-58106823DD87}" destId="{5B4E17BA-CB83-4086-AB9F-98D828E680FB}" srcOrd="0" destOrd="2" presId="urn:microsoft.com/office/officeart/2005/8/layout/chevron2"/>
    <dgm:cxn modelId="{B62C6E92-AB91-468B-B358-EDF92131A7AF}" srcId="{B4F0F40E-29C9-496D-BDA2-525B7864A476}" destId="{CEF1FAE8-58A8-4837-8EE2-2DD9C2A199A3}" srcOrd="0" destOrd="0" parTransId="{58151A2E-80AA-4AD6-A185-C0F5E8DA47AD}" sibTransId="{CBE4C6D7-AAFF-485C-A9FE-75A1ADEB00AD}"/>
    <dgm:cxn modelId="{8228239C-D034-41ED-AF1F-44B9D40545C6}" type="presOf" srcId="{B4F0F40E-29C9-496D-BDA2-525B7864A476}" destId="{6686DA01-4710-4887-9ED3-F851DFA90AFC}" srcOrd="0" destOrd="0" presId="urn:microsoft.com/office/officeart/2005/8/layout/chevron2"/>
    <dgm:cxn modelId="{B1127C9E-9D3C-4AAD-80DF-F94D479995DA}" type="presOf" srcId="{C24B2941-8C4E-47E5-93BE-9390D2CDBC89}" destId="{3F6A9F3A-70DD-47A1-BAF1-6047BA10BEF8}" srcOrd="0" destOrd="0" presId="urn:microsoft.com/office/officeart/2005/8/layout/chevron2"/>
    <dgm:cxn modelId="{4BA45AA0-961A-4D1B-A3F6-BB5A22DE0A36}" type="presOf" srcId="{21FE27EC-10F4-47A1-8FD5-CD3496F54607}" destId="{09C26579-FE7E-4FCA-AD7A-C9F14DC9A41C}" srcOrd="0" destOrd="0" presId="urn:microsoft.com/office/officeart/2005/8/layout/chevron2"/>
    <dgm:cxn modelId="{862989A2-6D7C-42A4-A92A-2FD429FB0840}" srcId="{B4F0F40E-29C9-496D-BDA2-525B7864A476}" destId="{FB981EA0-3DDD-41E5-994C-58106823DD87}" srcOrd="2" destOrd="0" parTransId="{F3950239-A916-4097-A7B6-DDA6653C9CB5}" sibTransId="{63E1678F-6B99-4762-B916-5E63C98E7666}"/>
    <dgm:cxn modelId="{277C8FA6-6B12-4298-833C-34A046A9226D}" type="presOf" srcId="{CEF1FAE8-58A8-4837-8EE2-2DD9C2A199A3}" destId="{5B4E17BA-CB83-4086-AB9F-98D828E680FB}" srcOrd="0" destOrd="0" presId="urn:microsoft.com/office/officeart/2005/8/layout/chevron2"/>
    <dgm:cxn modelId="{529891CA-70A8-4B23-B19B-BE2328CC8E28}" srcId="{B4F0F40E-29C9-496D-BDA2-525B7864A476}" destId="{49A0E634-58A5-4059-9E7D-9503F5568F0E}" srcOrd="1" destOrd="0" parTransId="{ACD5A1DA-F5CD-48CE-B171-EC32505DF8B8}" sibTransId="{6ACADE56-6832-41F1-9403-24B505942BF3}"/>
    <dgm:cxn modelId="{6C0172DF-D88B-41D4-B3F5-CA15E159222B}" srcId="{68798DD1-6FC4-4C34-9F3F-53BBEB998853}" destId="{21FE27EC-10F4-47A1-8FD5-CD3496F54607}" srcOrd="0" destOrd="0" parTransId="{FF3D7B0C-E2C4-49B8-8C4B-AF120BF1E2B9}" sibTransId="{969895C4-5161-439F-BA5B-C7930ADA9517}"/>
    <dgm:cxn modelId="{1C3620EC-CE2A-437B-813B-D62505EEF778}" srcId="{016DC79D-3BC0-41E5-8BCD-63EBA4F14C0D}" destId="{A47EFBC1-B8C2-4EA5-9B3A-F927674761C9}" srcOrd="2" destOrd="0" parTransId="{23C95D64-ACDF-4793-AF7E-ADB56BE2841D}" sibTransId="{98F84862-E132-4EA1-89ED-AC172F965CF6}"/>
    <dgm:cxn modelId="{BC96F6EE-A452-4FD1-957C-3C61D63DF19A}" srcId="{68798DD1-6FC4-4C34-9F3F-53BBEB998853}" destId="{016DC79D-3BC0-41E5-8BCD-63EBA4F14C0D}" srcOrd="1" destOrd="0" parTransId="{2EE0B6F5-6A8E-418F-9567-1907B2738A34}" sibTransId="{E09FC7D4-5B56-4C5F-893B-848769202938}"/>
    <dgm:cxn modelId="{8F7B8CF4-1AD3-437F-943B-15C6B8A43061}" type="presParOf" srcId="{CAD0188A-56FC-4EB6-B5CE-816C1D97209B}" destId="{396FF615-DBB1-4ADF-881C-2B53DB4685F9}" srcOrd="0" destOrd="0" presId="urn:microsoft.com/office/officeart/2005/8/layout/chevron2"/>
    <dgm:cxn modelId="{A905407B-1A3A-4C4F-94A3-72D810F50497}" type="presParOf" srcId="{396FF615-DBB1-4ADF-881C-2B53DB4685F9}" destId="{09C26579-FE7E-4FCA-AD7A-C9F14DC9A41C}" srcOrd="0" destOrd="0" presId="urn:microsoft.com/office/officeart/2005/8/layout/chevron2"/>
    <dgm:cxn modelId="{FD22B06B-837D-461D-90DF-5093D7EDBD71}" type="presParOf" srcId="{396FF615-DBB1-4ADF-881C-2B53DB4685F9}" destId="{3F6A9F3A-70DD-47A1-BAF1-6047BA10BEF8}" srcOrd="1" destOrd="0" presId="urn:microsoft.com/office/officeart/2005/8/layout/chevron2"/>
    <dgm:cxn modelId="{EA8A4336-7389-4C30-8110-DAB2C1C21C0D}" type="presParOf" srcId="{CAD0188A-56FC-4EB6-B5CE-816C1D97209B}" destId="{3EBAEAF0-87C5-4A8F-A60B-5164C3139ED0}" srcOrd="1" destOrd="0" presId="urn:microsoft.com/office/officeart/2005/8/layout/chevron2"/>
    <dgm:cxn modelId="{8C3399FB-03D1-42FB-9F72-2D7B16B0B99C}" type="presParOf" srcId="{CAD0188A-56FC-4EB6-B5CE-816C1D97209B}" destId="{18A31272-9A53-4608-B75D-8841D31598E9}" srcOrd="2" destOrd="0" presId="urn:microsoft.com/office/officeart/2005/8/layout/chevron2"/>
    <dgm:cxn modelId="{0638D5CA-D355-474F-B10D-C8495E5251C1}" type="presParOf" srcId="{18A31272-9A53-4608-B75D-8841D31598E9}" destId="{94386F4B-5B07-46D9-B7E2-E761F0E5054B}" srcOrd="0" destOrd="0" presId="urn:microsoft.com/office/officeart/2005/8/layout/chevron2"/>
    <dgm:cxn modelId="{E557CDAE-CAC8-4B57-A151-C05291D75607}" type="presParOf" srcId="{18A31272-9A53-4608-B75D-8841D31598E9}" destId="{E1F63806-3F95-47B1-A8FC-936CE11E41B2}" srcOrd="1" destOrd="0" presId="urn:microsoft.com/office/officeart/2005/8/layout/chevron2"/>
    <dgm:cxn modelId="{E126AC08-CC93-4BC4-8D81-C096DE23E2B9}" type="presParOf" srcId="{CAD0188A-56FC-4EB6-B5CE-816C1D97209B}" destId="{08C09676-E15B-414E-ADE9-4CFD21277716}" srcOrd="3" destOrd="0" presId="urn:microsoft.com/office/officeart/2005/8/layout/chevron2"/>
    <dgm:cxn modelId="{4B1D40FC-B1C2-453A-8607-302FF2BC833D}" type="presParOf" srcId="{CAD0188A-56FC-4EB6-B5CE-816C1D97209B}" destId="{C4801975-71F4-48D1-B902-ED5AA41607FE}" srcOrd="4" destOrd="0" presId="urn:microsoft.com/office/officeart/2005/8/layout/chevron2"/>
    <dgm:cxn modelId="{ACA736AB-5FFF-45DB-B3E4-E228D3373A70}" type="presParOf" srcId="{C4801975-71F4-48D1-B902-ED5AA41607FE}" destId="{6686DA01-4710-4887-9ED3-F851DFA90AFC}" srcOrd="0" destOrd="0" presId="urn:microsoft.com/office/officeart/2005/8/layout/chevron2"/>
    <dgm:cxn modelId="{62960D37-07F8-4C07-8FAC-939964988643}" type="presParOf" srcId="{C4801975-71F4-48D1-B902-ED5AA41607FE}" destId="{5B4E17BA-CB83-4086-AB9F-98D828E680FB}" srcOrd="1" destOrd="0" presId="urn:microsoft.com/office/officeart/2005/8/layout/chevron2"/>
  </dgm:cxnLst>
  <dgm:bg/>
  <dgm:whole>
    <a:ln>
      <a:solidFill>
        <a:schemeClr val="bg1">
          <a:lumMod val="50000"/>
        </a:schemeClr>
      </a:solidFill>
    </a:ln>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C26579-FE7E-4FCA-AD7A-C9F14DC9A41C}">
      <dsp:nvSpPr>
        <dsp:cNvPr id="0" name=""/>
        <dsp:cNvSpPr/>
      </dsp:nvSpPr>
      <dsp:spPr>
        <a:xfrm rot="5400000">
          <a:off x="-400080" y="401101"/>
          <a:ext cx="2667200" cy="1867040"/>
        </a:xfrm>
        <a:prstGeom prst="chevron">
          <a:avLst/>
        </a:prstGeom>
        <a:solidFill>
          <a:srgbClr val="C00000"/>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pPr>
          <a:r>
            <a:rPr lang="en-US" sz="2500" b="1" kern="1200" dirty="0"/>
            <a:t>Individuals</a:t>
          </a:r>
        </a:p>
      </dsp:txBody>
      <dsp:txXfrm rot="-5400000">
        <a:off x="0" y="934541"/>
        <a:ext cx="1867040" cy="800160"/>
      </dsp:txXfrm>
    </dsp:sp>
    <dsp:sp modelId="{3F6A9F3A-70DD-47A1-BAF1-6047BA10BEF8}">
      <dsp:nvSpPr>
        <dsp:cNvPr id="0" name=""/>
        <dsp:cNvSpPr/>
      </dsp:nvSpPr>
      <dsp:spPr>
        <a:xfrm rot="5400000">
          <a:off x="8867780" y="-6999718"/>
          <a:ext cx="1733680" cy="15735159"/>
        </a:xfrm>
        <a:prstGeom prst="round2SameRect">
          <a:avLst/>
        </a:prstGeom>
        <a:solidFill>
          <a:schemeClr val="lt1">
            <a:alpha val="90000"/>
            <a:hueOff val="0"/>
            <a:satOff val="0"/>
            <a:lumOff val="0"/>
            <a:alphaOff val="0"/>
          </a:schemeClr>
        </a:solidFill>
        <a:ln w="25400" cap="flat" cmpd="sng" algn="ctr">
          <a:solidFill>
            <a:schemeClr val="bg1">
              <a:lumMod val="5000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Self-paced courses &amp; live workshops</a:t>
          </a:r>
        </a:p>
        <a:p>
          <a:pPr marL="285750" lvl="1" indent="-285750" algn="l" defTabSz="1422400">
            <a:lnSpc>
              <a:spcPct val="90000"/>
            </a:lnSpc>
            <a:spcBef>
              <a:spcPct val="0"/>
            </a:spcBef>
            <a:spcAft>
              <a:spcPct val="15000"/>
            </a:spcAft>
            <a:buChar char="•"/>
          </a:pPr>
          <a:r>
            <a:rPr lang="en-US" sz="3200" kern="1200" dirty="0"/>
            <a:t>Learn when to use formulas, Power Query, Python, and Copilot</a:t>
          </a:r>
        </a:p>
        <a:p>
          <a:pPr marL="285750" lvl="1" indent="-285750" algn="l" defTabSz="1422400">
            <a:lnSpc>
              <a:spcPct val="90000"/>
            </a:lnSpc>
            <a:spcBef>
              <a:spcPct val="0"/>
            </a:spcBef>
            <a:spcAft>
              <a:spcPct val="15000"/>
            </a:spcAft>
            <a:buChar char="•"/>
          </a:pPr>
          <a:r>
            <a:rPr lang="en-US" sz="3200" kern="1200" dirty="0"/>
            <a:t>Focus on clarity, maintainability, and confidence</a:t>
          </a:r>
        </a:p>
      </dsp:txBody>
      <dsp:txXfrm rot="-5400000">
        <a:off x="1867041" y="85652"/>
        <a:ext cx="15650528" cy="1564418"/>
      </dsp:txXfrm>
    </dsp:sp>
    <dsp:sp modelId="{94386F4B-5B07-46D9-B7E2-E761F0E5054B}">
      <dsp:nvSpPr>
        <dsp:cNvPr id="0" name=""/>
        <dsp:cNvSpPr/>
      </dsp:nvSpPr>
      <dsp:spPr>
        <a:xfrm rot="5400000">
          <a:off x="-400080" y="2881023"/>
          <a:ext cx="2667200" cy="1867040"/>
        </a:xfrm>
        <a:prstGeom prst="chevron">
          <a:avLst/>
        </a:prstGeom>
        <a:solidFill>
          <a:srgbClr val="C00000"/>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pPr>
          <a:r>
            <a:rPr lang="en-US" sz="2500" b="1" kern="1200" dirty="0"/>
            <a:t>Teams</a:t>
          </a:r>
        </a:p>
      </dsp:txBody>
      <dsp:txXfrm rot="-5400000">
        <a:off x="0" y="3414463"/>
        <a:ext cx="1867040" cy="800160"/>
      </dsp:txXfrm>
    </dsp:sp>
    <dsp:sp modelId="{E1F63806-3F95-47B1-A8FC-936CE11E41B2}">
      <dsp:nvSpPr>
        <dsp:cNvPr id="0" name=""/>
        <dsp:cNvSpPr/>
      </dsp:nvSpPr>
      <dsp:spPr>
        <a:xfrm rot="5400000">
          <a:off x="8867780" y="-4519796"/>
          <a:ext cx="1733680" cy="15735159"/>
        </a:xfrm>
        <a:prstGeom prst="round2SameRect">
          <a:avLst/>
        </a:prstGeom>
        <a:solidFill>
          <a:schemeClr val="lt1">
            <a:alpha val="90000"/>
            <a:hueOff val="0"/>
            <a:satOff val="0"/>
            <a:lumOff val="0"/>
            <a:alphaOff val="0"/>
          </a:schemeClr>
        </a:solidFill>
        <a:ln w="25400" cap="flat" cmpd="sng" algn="ctr">
          <a:solidFill>
            <a:schemeClr val="bg1">
              <a:lumMod val="5000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Practical corporate training</a:t>
          </a:r>
        </a:p>
        <a:p>
          <a:pPr marL="285750" lvl="1" indent="-285750" algn="l" defTabSz="1422400">
            <a:lnSpc>
              <a:spcPct val="90000"/>
            </a:lnSpc>
            <a:spcBef>
              <a:spcPct val="0"/>
            </a:spcBef>
            <a:spcAft>
              <a:spcPct val="15000"/>
            </a:spcAft>
            <a:buChar char="•"/>
          </a:pPr>
          <a:r>
            <a:rPr lang="en-US" sz="3200" kern="1200" dirty="0"/>
            <a:t>Apply modern Excel patterns to real workflows</a:t>
          </a:r>
        </a:p>
        <a:p>
          <a:pPr marL="285750" lvl="1" indent="-285750" algn="l" defTabSz="1422400">
            <a:lnSpc>
              <a:spcPct val="90000"/>
            </a:lnSpc>
            <a:spcBef>
              <a:spcPct val="0"/>
            </a:spcBef>
            <a:spcAft>
              <a:spcPct val="15000"/>
            </a:spcAft>
            <a:buChar char="•"/>
          </a:pPr>
          <a:r>
            <a:rPr lang="en-US" sz="3200" kern="1200" dirty="0"/>
            <a:t>Reduce errors, rework, and one-off fixes</a:t>
          </a:r>
        </a:p>
      </dsp:txBody>
      <dsp:txXfrm rot="-5400000">
        <a:off x="1867041" y="2565574"/>
        <a:ext cx="15650528" cy="1564418"/>
      </dsp:txXfrm>
    </dsp:sp>
    <dsp:sp modelId="{6686DA01-4710-4887-9ED3-F851DFA90AFC}">
      <dsp:nvSpPr>
        <dsp:cNvPr id="0" name=""/>
        <dsp:cNvSpPr/>
      </dsp:nvSpPr>
      <dsp:spPr>
        <a:xfrm rot="5400000">
          <a:off x="-400080" y="5360944"/>
          <a:ext cx="2667200" cy="1867040"/>
        </a:xfrm>
        <a:prstGeom prst="chevron">
          <a:avLst/>
        </a:prstGeom>
        <a:solidFill>
          <a:srgbClr val="C00000"/>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pPr>
          <a:r>
            <a:rPr lang="en-US" sz="2500" b="1" kern="1200" dirty="0"/>
            <a:t>Organizations</a:t>
          </a:r>
        </a:p>
      </dsp:txBody>
      <dsp:txXfrm rot="-5400000">
        <a:off x="0" y="5894384"/>
        <a:ext cx="1867040" cy="800160"/>
      </dsp:txXfrm>
    </dsp:sp>
    <dsp:sp modelId="{5B4E17BA-CB83-4086-AB9F-98D828E680FB}">
      <dsp:nvSpPr>
        <dsp:cNvPr id="0" name=""/>
        <dsp:cNvSpPr/>
      </dsp:nvSpPr>
      <dsp:spPr>
        <a:xfrm rot="5400000">
          <a:off x="8867780" y="-2039874"/>
          <a:ext cx="1733680" cy="15735159"/>
        </a:xfrm>
        <a:prstGeom prst="round2SameRect">
          <a:avLst/>
        </a:prstGeom>
        <a:solidFill>
          <a:schemeClr val="lt1">
            <a:alpha val="90000"/>
            <a:hueOff val="0"/>
            <a:satOff val="0"/>
            <a:lumOff val="0"/>
            <a:alphaOff val="0"/>
          </a:schemeClr>
        </a:solidFill>
        <a:ln w="25400" cap="flat" cmpd="sng" algn="ctr">
          <a:solidFill>
            <a:schemeClr val="bg1">
              <a:lumMod val="5000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Guided, multi-week modernization program</a:t>
          </a:r>
        </a:p>
        <a:p>
          <a:pPr marL="285750" lvl="1" indent="-285750" algn="l" defTabSz="1422400">
            <a:lnSpc>
              <a:spcPct val="90000"/>
            </a:lnSpc>
            <a:spcBef>
              <a:spcPct val="0"/>
            </a:spcBef>
            <a:spcAft>
              <a:spcPct val="15000"/>
            </a:spcAft>
            <a:buChar char="•"/>
          </a:pPr>
          <a:r>
            <a:rPr lang="en-US" sz="3200" kern="1200" dirty="0"/>
            <a:t>Teams learn to build pipelines, automation, and documentation</a:t>
          </a:r>
        </a:p>
        <a:p>
          <a:pPr marL="285750" lvl="1" indent="-285750" algn="l" defTabSz="1422400">
            <a:lnSpc>
              <a:spcPct val="90000"/>
            </a:lnSpc>
            <a:spcBef>
              <a:spcPct val="0"/>
            </a:spcBef>
            <a:spcAft>
              <a:spcPct val="15000"/>
            </a:spcAft>
            <a:buChar char="•"/>
          </a:pPr>
          <a:r>
            <a:rPr lang="en-US" sz="3200" kern="1200" dirty="0"/>
            <a:t>Internal ownership of reliable, </a:t>
          </a:r>
          <a:r>
            <a:rPr lang="en-US" sz="3200" kern="1200"/>
            <a:t>auditable workflows</a:t>
          </a:r>
          <a:endParaRPr lang="en-US" sz="3200" kern="1200" dirty="0"/>
        </a:p>
      </dsp:txBody>
      <dsp:txXfrm rot="-5400000">
        <a:off x="1867041" y="5045496"/>
        <a:ext cx="15650528" cy="156441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A98A70-FA8C-4354-959C-C70678AC9BCF}" type="datetimeFigureOut">
              <a:rPr lang="en-US" smtClean="0"/>
              <a:t>1/29/2026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B500C5-13F7-48FC-8160-C29AECF6C602}" type="slidenum">
              <a:rPr lang="en-US" smtClean="0"/>
              <a:t>‹#›</a:t>
            </a:fld>
            <a:endParaRPr lang="en-US"/>
          </a:p>
        </p:txBody>
      </p:sp>
    </p:spTree>
    <p:extLst>
      <p:ext uri="{BB962C8B-B14F-4D97-AF65-F5344CB8AC3E}">
        <p14:creationId xmlns:p14="http://schemas.microsoft.com/office/powerpoint/2010/main" val="301835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1</a:t>
            </a:fld>
            <a:endParaRPr lang="en-US"/>
          </a:p>
        </p:txBody>
      </p:sp>
    </p:spTree>
    <p:extLst>
      <p:ext uri="{BB962C8B-B14F-4D97-AF65-F5344CB8AC3E}">
        <p14:creationId xmlns:p14="http://schemas.microsoft.com/office/powerpoint/2010/main" val="40951597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endParaRPr lang="en-US" dirty="0"/>
          </a:p>
        </p:txBody>
      </p:sp>
      <p:sp>
        <p:nvSpPr>
          <p:cNvPr id="4" name="Slide Number Placeholder 3"/>
          <p:cNvSpPr>
            <a:spLocks noGrp="1"/>
          </p:cNvSpPr>
          <p:nvPr>
            <p:ph type="sldNum" sz="quarter" idx="5"/>
          </p:nvPr>
        </p:nvSpPr>
        <p:spPr/>
        <p:txBody>
          <a:bodyPr/>
          <a:lstStyle/>
          <a:p>
            <a:fld id="{1300335D-9F13-4B80-ADC5-B0EA3E10FF6B}" type="slidenum">
              <a:rPr lang="en-US" smtClean="0"/>
              <a:t>5</a:t>
            </a:fld>
            <a:endParaRPr lang="en-US"/>
          </a:p>
        </p:txBody>
      </p:sp>
    </p:spTree>
    <p:extLst>
      <p:ext uri="{BB962C8B-B14F-4D97-AF65-F5344CB8AC3E}">
        <p14:creationId xmlns:p14="http://schemas.microsoft.com/office/powerpoint/2010/main" val="6245492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ED567-4E92-5456-76DE-64BB8D1D7E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6FAB1C-F351-A3B8-EF0C-07B74DD93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1C3273-B52E-75C7-4AA5-00426F7665DC}"/>
              </a:ext>
            </a:extLst>
          </p:cNvPr>
          <p:cNvSpPr>
            <a:spLocks noGrp="1"/>
          </p:cNvSpPr>
          <p:nvPr>
            <p:ph type="body" idx="1"/>
          </p:nvPr>
        </p:nvSpPr>
        <p:spPr/>
        <p:txBody>
          <a:bodyPr/>
          <a:lstStyle/>
          <a:p>
            <a:pPr marL="228600" indent="-228600">
              <a:buAutoNum type="arabicPeriod"/>
            </a:pPr>
            <a:endParaRPr lang="en-US" dirty="0"/>
          </a:p>
        </p:txBody>
      </p:sp>
      <p:sp>
        <p:nvSpPr>
          <p:cNvPr id="4" name="Slide Number Placeholder 3">
            <a:extLst>
              <a:ext uri="{FF2B5EF4-FFF2-40B4-BE49-F238E27FC236}">
                <a16:creationId xmlns:a16="http://schemas.microsoft.com/office/drawing/2014/main" id="{1850843E-9294-D301-C38E-EC9A5838A381}"/>
              </a:ext>
            </a:extLst>
          </p:cNvPr>
          <p:cNvSpPr>
            <a:spLocks noGrp="1"/>
          </p:cNvSpPr>
          <p:nvPr>
            <p:ph type="sldNum" sz="quarter" idx="5"/>
          </p:nvPr>
        </p:nvSpPr>
        <p:spPr/>
        <p:txBody>
          <a:bodyPr/>
          <a:lstStyle/>
          <a:p>
            <a:fld id="{1300335D-9F13-4B80-ADC5-B0EA3E10FF6B}" type="slidenum">
              <a:rPr lang="en-US" smtClean="0"/>
              <a:t>6</a:t>
            </a:fld>
            <a:endParaRPr lang="en-US"/>
          </a:p>
        </p:txBody>
      </p:sp>
    </p:spTree>
    <p:extLst>
      <p:ext uri="{BB962C8B-B14F-4D97-AF65-F5344CB8AC3E}">
        <p14:creationId xmlns:p14="http://schemas.microsoft.com/office/powerpoint/2010/main" val="556426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39B45-FCD9-C2E1-5121-5C6BF4C998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94D143-DDA1-96A8-FAFB-F9C6B37BA7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41BDB9-9282-E5F0-D75A-94F61F4D72DC}"/>
              </a:ext>
            </a:extLst>
          </p:cNvPr>
          <p:cNvSpPr>
            <a:spLocks noGrp="1"/>
          </p:cNvSpPr>
          <p:nvPr>
            <p:ph type="body" idx="1"/>
          </p:nvPr>
        </p:nvSpPr>
        <p:spPr/>
        <p:txBody>
          <a:bodyPr/>
          <a:lstStyle/>
          <a:p>
            <a:pPr marL="228600" indent="-228600">
              <a:buAutoNum type="arabicPeriod"/>
            </a:pPr>
            <a:endParaRPr lang="en-US" dirty="0"/>
          </a:p>
        </p:txBody>
      </p:sp>
      <p:sp>
        <p:nvSpPr>
          <p:cNvPr id="4" name="Slide Number Placeholder 3">
            <a:extLst>
              <a:ext uri="{FF2B5EF4-FFF2-40B4-BE49-F238E27FC236}">
                <a16:creationId xmlns:a16="http://schemas.microsoft.com/office/drawing/2014/main" id="{ECD23788-BD0E-83B3-6825-80BAEA177181}"/>
              </a:ext>
            </a:extLst>
          </p:cNvPr>
          <p:cNvSpPr>
            <a:spLocks noGrp="1"/>
          </p:cNvSpPr>
          <p:nvPr>
            <p:ph type="sldNum" sz="quarter" idx="5"/>
          </p:nvPr>
        </p:nvSpPr>
        <p:spPr/>
        <p:txBody>
          <a:bodyPr/>
          <a:lstStyle/>
          <a:p>
            <a:fld id="{1300335D-9F13-4B80-ADC5-B0EA3E10FF6B}" type="slidenum">
              <a:rPr lang="en-US" smtClean="0"/>
              <a:t>7</a:t>
            </a:fld>
            <a:endParaRPr lang="en-US"/>
          </a:p>
        </p:txBody>
      </p:sp>
    </p:spTree>
    <p:extLst>
      <p:ext uri="{BB962C8B-B14F-4D97-AF65-F5344CB8AC3E}">
        <p14:creationId xmlns:p14="http://schemas.microsoft.com/office/powerpoint/2010/main" val="20553819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book with 500 recipes isn’t actually that helpful. At that point you’re just hoarding information. It gives you options, but no direction. AI is already excellent at producing that kind of broad, undifferentiated content.</a:t>
            </a:r>
          </a:p>
          <a:p>
            <a:r>
              <a:rPr lang="en-US" dirty="0"/>
              <a:t>What’s missing is a curated, expert perspective. Someone who has the experience to say: cook this, in this order, this way, and ignore the rest. That’s the difference between being exposed to patterns and actually getting something done.</a:t>
            </a:r>
          </a:p>
          <a:p>
            <a:r>
              <a:rPr lang="en-US" dirty="0"/>
              <a:t>That’s why free content is good for orientation and exploration, but paid content is where execution happens. You’re not paying for more recipes, you’re paying for judgment, sequencing, and a clear point of view that helps you solve a specific problem without drowning in choices.</a:t>
            </a:r>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11</a:t>
            </a:fld>
            <a:endParaRPr lang="en-US"/>
          </a:p>
        </p:txBody>
      </p:sp>
    </p:spTree>
    <p:extLst>
      <p:ext uri="{BB962C8B-B14F-4D97-AF65-F5344CB8AC3E}">
        <p14:creationId xmlns:p14="http://schemas.microsoft.com/office/powerpoint/2010/main" val="18241933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work with individuals, teams, and organizations at different levels, but the philosophy is always the same: reduce chaos, increase clarity, and build workflows that actually hold up over time. </a:t>
            </a:r>
          </a:p>
          <a:p>
            <a:endParaRPr lang="en-US" dirty="0"/>
          </a:p>
          <a:p>
            <a:r>
              <a:rPr lang="en-US" dirty="0"/>
              <a:t>For individuals, this usually means self-paced courses or live workshops focused not just on learning features, but on developing judgment — understanding when to use formulas, Power Query, Python, or Copilot, and when not to. The emphasis is on clarity, maintainability, and confidence, so people feel more capable rather than more dependent on tools or experts. </a:t>
            </a:r>
          </a:p>
          <a:p>
            <a:endParaRPr lang="en-US" dirty="0"/>
          </a:p>
          <a:p>
            <a:r>
              <a:rPr lang="en-US" dirty="0"/>
              <a:t>With teams, the work becomes more applied and workflow-driven, focusing on practical corporate training that helps reduce errors, rework, and fragile one-off fixes by applying modern Excel patterns to real business processes. </a:t>
            </a:r>
          </a:p>
          <a:p>
            <a:endParaRPr lang="en-US" dirty="0"/>
          </a:p>
          <a:p>
            <a:r>
              <a:rPr lang="en-US" dirty="0"/>
              <a:t>At the organizational level, this often takes the form of a guided, multi-week modernization program where teams learn to build pipelines, automation, and documentation around Excel-based systems, with the goal of creating reliable, auditable workflows and true internal ownership rather than reliance on individual hero analysts.</a:t>
            </a:r>
          </a:p>
        </p:txBody>
      </p:sp>
      <p:sp>
        <p:nvSpPr>
          <p:cNvPr id="4" name="Slide Number Placeholder 3"/>
          <p:cNvSpPr>
            <a:spLocks noGrp="1"/>
          </p:cNvSpPr>
          <p:nvPr>
            <p:ph type="sldNum" sz="quarter" idx="5"/>
          </p:nvPr>
        </p:nvSpPr>
        <p:spPr/>
        <p:txBody>
          <a:bodyPr/>
          <a:lstStyle/>
          <a:p>
            <a:fld id="{1053C468-B4D7-40C4-885B-735937C382A2}" type="slidenum">
              <a:rPr lang="en-US" smtClean="0"/>
              <a:t>12</a:t>
            </a:fld>
            <a:endParaRPr lang="en-US"/>
          </a:p>
        </p:txBody>
      </p:sp>
    </p:spTree>
    <p:extLst>
      <p:ext uri="{BB962C8B-B14F-4D97-AF65-F5344CB8AC3E}">
        <p14:creationId xmlns:p14="http://schemas.microsoft.com/office/powerpoint/2010/main" val="41228936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 PDF guide to this in the downloads</a:t>
            </a:r>
          </a:p>
          <a:p>
            <a:endParaRPr lang="en-US" dirty="0"/>
          </a:p>
          <a:p>
            <a:r>
              <a:rPr lang="en-US" dirty="0"/>
              <a:t>If you’re feeling unsure where to start, this is really about matching the learning path to what you actually need right now, not what sounds most impressive. Different goals call for different levels of structure and support.</a:t>
            </a:r>
          </a:p>
          <a:p>
            <a:r>
              <a:rPr lang="en-US" dirty="0"/>
              <a:t>If you’re new to Excel plus AI, the right starting point is </a:t>
            </a:r>
            <a:r>
              <a:rPr lang="en-US" b="1" dirty="0"/>
              <a:t>Excel Must-Knows for AI Success</a:t>
            </a:r>
            <a:r>
              <a:rPr lang="en-US" dirty="0"/>
              <a:t>. That’s about building the foundational Excel habits and concepts that make AI tools actually useful, instead of confusing or misleading.</a:t>
            </a:r>
          </a:p>
          <a:p>
            <a:r>
              <a:rPr lang="en-US" dirty="0"/>
              <a:t>If your goal is specifically Python in Excel, then </a:t>
            </a:r>
            <a:r>
              <a:rPr lang="en-US" b="1" dirty="0"/>
              <a:t>Python in Excel: Quick Wins</a:t>
            </a:r>
            <a:r>
              <a:rPr lang="en-US" dirty="0"/>
              <a:t> is designed to get you productive fast. It focuses on practical examples so you can see value quickly without needing a computer science background.</a:t>
            </a:r>
          </a:p>
          <a:p>
            <a:r>
              <a:rPr lang="en-US" dirty="0"/>
              <a:t>If you prefer structured, self-paced learning you can dip into on your own schedule, my </a:t>
            </a:r>
            <a:r>
              <a:rPr lang="en-US" b="1" dirty="0"/>
              <a:t>LinkedIn Learning</a:t>
            </a:r>
            <a:r>
              <a:rPr lang="en-US" dirty="0"/>
              <a:t> courses are a good fit. They’re designed to be clear, sequenced, and easy to revisit when you need a refresher.</a:t>
            </a:r>
          </a:p>
          <a:p>
            <a:r>
              <a:rPr lang="en-US" dirty="0"/>
              <a:t>If you want live, hands-on training where you can ask questions and work through examples in real time, that’s where </a:t>
            </a:r>
            <a:r>
              <a:rPr lang="en-US" b="1" dirty="0"/>
              <a:t>O’Reilly sessions</a:t>
            </a:r>
            <a:r>
              <a:rPr lang="en-US" dirty="0"/>
              <a:t> or </a:t>
            </a:r>
            <a:r>
              <a:rPr lang="en-US" b="1" dirty="0"/>
              <a:t>Eventbrite workshops</a:t>
            </a:r>
            <a:r>
              <a:rPr lang="en-US" dirty="0"/>
              <a:t> make the most sense. That’s for people who learn best by doing, with guidance.</a:t>
            </a:r>
          </a:p>
          <a:p>
            <a:r>
              <a:rPr lang="en-US" dirty="0"/>
              <a:t>And if what you want is ongoing guidance without committing to a large, one-time course, </a:t>
            </a:r>
            <a:r>
              <a:rPr lang="en-US" b="1" dirty="0"/>
              <a:t>The Modern Excel AI Stack</a:t>
            </a:r>
            <a:r>
              <a:rPr lang="en-US" dirty="0"/>
              <a:t> membership is meant to fill that gap. It’s there for continued direction as tools evolve and new questions come up, so you’re not constantly restarting from scratch.</a:t>
            </a:r>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13</a:t>
            </a:fld>
            <a:endParaRPr lang="en-US"/>
          </a:p>
        </p:txBody>
      </p:sp>
    </p:spTree>
    <p:extLst>
      <p:ext uri="{BB962C8B-B14F-4D97-AF65-F5344CB8AC3E}">
        <p14:creationId xmlns:p14="http://schemas.microsoft.com/office/powerpoint/2010/main" val="19585015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7" Type="http://schemas.openxmlformats.org/officeDocument/2006/relationships/image" Target="../media/image8.jpeg"/><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e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swiy.co/mxldd" TargetMode="Externa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www.linkedin.com/in/gjmount/" TargetMode="External"/><Relationship Id="rId2" Type="http://schemas.openxmlformats.org/officeDocument/2006/relationships/hyperlink" Target="https://stringfestanalytics.com/" TargetMode="External"/><Relationship Id="rId1" Type="http://schemas.openxmlformats.org/officeDocument/2006/relationships/slideLayout" Target="../slideLayouts/slideLayout1.xml"/><Relationship Id="rId5" Type="http://schemas.openxmlformats.org/officeDocument/2006/relationships/image" Target="../media/image10.jpe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1.jpeg"/></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3.xml.rels><?xml version="1.0" encoding="UTF-8" standalone="yes"?>
<Relationships xmlns="http://schemas.openxmlformats.org/package/2006/relationships"><Relationship Id="rId8" Type="http://schemas.openxmlformats.org/officeDocument/2006/relationships/hyperlink" Target="https://stringfestdata.gumroad.com/l/mxlais" TargetMode="External"/><Relationship Id="rId3" Type="http://schemas.openxmlformats.org/officeDocument/2006/relationships/hyperlink" Target="https://stringfestdata.gumroad.com/l/sniqtn?layout=profile" TargetMode="External"/><Relationship Id="rId7" Type="http://schemas.openxmlformats.org/officeDocument/2006/relationships/hyperlink" Target="https://www.eventbrite.com/o/stringfest-analytics-34157163075"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hyperlink" Target="https://www.oreilly.com/pub/au/7969" TargetMode="External"/><Relationship Id="rId5" Type="http://schemas.openxmlformats.org/officeDocument/2006/relationships/hyperlink" Target="https://www.linkedin.com/learning/instructors/george-mount" TargetMode="External"/><Relationship Id="rId4" Type="http://schemas.openxmlformats.org/officeDocument/2006/relationships/hyperlink" Target="https://stringfestdata.gumroad.com/l/pie-qw?layout=profile" TargetMode="External"/><Relationship Id="rId9" Type="http://schemas.openxmlformats.org/officeDocument/2006/relationships/image" Target="../media/image9.png"/></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stringfestanalytics.com/book-me/" TargetMode="Externa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a:blip r:embed="rId3">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a:solidFill>
                  <a:srgbClr val="CF3338"/>
                </a:solidFill>
                <a:latin typeface="Pragmatica" panose="020B0403040502020204" pitchFamily="34" charset="0"/>
              </a:rPr>
              <a:t>Modern Excel Demo Day</a:t>
            </a:r>
            <a:endParaRPr lang="en-US" sz="5400" b="1" dirty="0">
              <a:solidFill>
                <a:srgbClr val="CF3338"/>
              </a:solidFill>
              <a:latin typeface="Pragmatica" panose="020B0403040502020204" pitchFamily="34" charset="0"/>
            </a:endParaRPr>
          </a:p>
        </p:txBody>
      </p:sp>
      <p:sp>
        <p:nvSpPr>
          <p:cNvPr id="2" name="AutoShape 2" descr="Home | Full Stack Modeller">
            <a:extLst>
              <a:ext uri="{FF2B5EF4-FFF2-40B4-BE49-F238E27FC236}">
                <a16:creationId xmlns:a16="http://schemas.microsoft.com/office/drawing/2014/main" id="{6CCAA77C-4E76-640C-066C-F3E39EE1AC92}"/>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556591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0"/>
            <a:ext cx="1828800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p:cNvSpPr txBox="1"/>
          <p:nvPr/>
        </p:nvSpPr>
        <p:spPr>
          <a:xfrm>
            <a:off x="781292" y="590309"/>
            <a:ext cx="15486926" cy="1446550"/>
          </a:xfrm>
          <a:prstGeom prst="rect">
            <a:avLst/>
          </a:prstGeom>
          <a:noFill/>
        </p:spPr>
        <p:txBody>
          <a:bodyPr wrap="square" rtlCol="0">
            <a:spAutoFit/>
          </a:bodyPr>
          <a:lstStyle/>
          <a:p>
            <a:r>
              <a:rPr lang="en-US" sz="4400" b="1" dirty="0">
                <a:solidFill>
                  <a:schemeClr val="bg1"/>
                </a:solidFill>
              </a:rPr>
              <a:t>I help Excel users move from fragile spreadsheets</a:t>
            </a:r>
          </a:p>
          <a:p>
            <a:r>
              <a:rPr lang="en-US" sz="4400" b="1" dirty="0">
                <a:solidFill>
                  <a:schemeClr val="bg1"/>
                </a:solidFill>
              </a:rPr>
              <a:t>to confident, scalable analysis.</a:t>
            </a:r>
          </a:p>
        </p:txBody>
      </p:sp>
      <p:pic>
        <p:nvPicPr>
          <p:cNvPr id="3" name="Picture 4" descr="Advancing into Analytics Cover Image">
            <a:extLst>
              <a:ext uri="{FF2B5EF4-FFF2-40B4-BE49-F238E27FC236}">
                <a16:creationId xmlns:a16="http://schemas.microsoft.com/office/drawing/2014/main" id="{588F684B-18EF-D76C-5F7B-15E4BAD6064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077075" y="195640"/>
            <a:ext cx="3130385" cy="408866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Free photos of Cleveland">
            <a:extLst>
              <a:ext uri="{FF2B5EF4-FFF2-40B4-BE49-F238E27FC236}">
                <a16:creationId xmlns:a16="http://schemas.microsoft.com/office/drawing/2014/main" id="{CBA53EEE-E3E1-D99E-A4DC-1C4DD2E6CE4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95692" y="2968810"/>
            <a:ext cx="5535359" cy="368447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Logo&#10;&#10;Description automatically generated">
            <a:extLst>
              <a:ext uri="{FF2B5EF4-FFF2-40B4-BE49-F238E27FC236}">
                <a16:creationId xmlns:a16="http://schemas.microsoft.com/office/drawing/2014/main" id="{97E0F267-87DF-961E-1FAA-47FD4F27A5C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683691" y="6002696"/>
            <a:ext cx="7448309" cy="5462681"/>
          </a:xfrm>
          <a:prstGeom prst="rect">
            <a:avLst/>
          </a:prstGeom>
        </p:spPr>
      </p:pic>
      <p:pic>
        <p:nvPicPr>
          <p:cNvPr id="1026" name="Picture 2" descr="Modern data analytics in Excel book cover">
            <a:extLst>
              <a:ext uri="{FF2B5EF4-FFF2-40B4-BE49-F238E27FC236}">
                <a16:creationId xmlns:a16="http://schemas.microsoft.com/office/drawing/2014/main" id="{874ADA5E-A7A7-1D02-C728-513187DE1EF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321136" y="2210054"/>
            <a:ext cx="3437261" cy="450799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Microsoft Most Valuable Professional - Wikipedia">
            <a:extLst>
              <a:ext uri="{FF2B5EF4-FFF2-40B4-BE49-F238E27FC236}">
                <a16:creationId xmlns:a16="http://schemas.microsoft.com/office/drawing/2014/main" id="{36C71929-5967-B93D-05FE-E330D621C59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84642" y="7832951"/>
            <a:ext cx="5057775" cy="20288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Thais Cooke on LinkedIn: #linkedinlearninginstructor #linkedinlearning | 82  comments">
            <a:extLst>
              <a:ext uri="{FF2B5EF4-FFF2-40B4-BE49-F238E27FC236}">
                <a16:creationId xmlns:a16="http://schemas.microsoft.com/office/drawing/2014/main" id="{2E3C0D6C-F7C9-F3C4-3BAA-FF34E086E7E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4478000" y="5312978"/>
            <a:ext cx="333375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729011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What to expect today</a:t>
            </a:r>
          </a:p>
        </p:txBody>
      </p:sp>
      <p:sp>
        <p:nvSpPr>
          <p:cNvPr id="3" name="TextBox 2"/>
          <p:cNvSpPr txBox="1"/>
          <p:nvPr/>
        </p:nvSpPr>
        <p:spPr>
          <a:xfrm>
            <a:off x="520861" y="3191948"/>
            <a:ext cx="14393120" cy="258532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Practical Excel demos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Transparent look at my services and offerings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Bonus resources</a:t>
            </a:r>
          </a:p>
        </p:txBody>
      </p:sp>
      <p:pic>
        <p:nvPicPr>
          <p:cNvPr id="15" name="Picture 14" descr="A close up of a sign&#10;&#10;Description automatically generated">
            <a:extLst>
              <a:ext uri="{FF2B5EF4-FFF2-40B4-BE49-F238E27FC236}">
                <a16:creationId xmlns:a16="http://schemas.microsoft.com/office/drawing/2014/main" id="{29761B90-A7DE-4A60-A915-F085BD87CA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7870763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A9E9DD-6C52-11D7-FF34-4264EA227251}"/>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E34997D2-521B-C2AB-A68A-2EB202160AAF}"/>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Resources for today</a:t>
            </a:r>
          </a:p>
        </p:txBody>
      </p:sp>
      <p:sp>
        <p:nvSpPr>
          <p:cNvPr id="3" name="TextBox 2">
            <a:extLst>
              <a:ext uri="{FF2B5EF4-FFF2-40B4-BE49-F238E27FC236}">
                <a16:creationId xmlns:a16="http://schemas.microsoft.com/office/drawing/2014/main" id="{0770AD58-6393-FAA1-1B49-C4E35BD89376}"/>
              </a:ext>
            </a:extLst>
          </p:cNvPr>
          <p:cNvSpPr txBox="1"/>
          <p:nvPr/>
        </p:nvSpPr>
        <p:spPr>
          <a:xfrm>
            <a:off x="520861" y="3191948"/>
            <a:ext cx="14393120" cy="3046988"/>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9600" dirty="0">
                <a:solidFill>
                  <a:srgbClr val="707070"/>
                </a:solidFill>
                <a:latin typeface="Pragmatica" panose="020B0403040502020204" pitchFamily="34" charset="0"/>
              </a:rPr>
              <a:t>Download at </a:t>
            </a:r>
            <a:r>
              <a:rPr lang="en-US" sz="9600" dirty="0">
                <a:solidFill>
                  <a:srgbClr val="CF3338"/>
                </a:solidFill>
                <a:latin typeface="Pragmatica" panose="020B0403040502020204" pitchFamily="34" charset="0"/>
                <a:hlinkClick r:id="rId2">
                  <a:extLst>
                    <a:ext uri="{A12FA001-AC4F-418D-AE19-62706E023703}">
                      <ahyp:hlinkClr xmlns:ahyp="http://schemas.microsoft.com/office/drawing/2018/hyperlinkcolor" val="tx"/>
                    </a:ext>
                  </a:extLst>
                </a:hlinkClick>
              </a:rPr>
              <a:t>https://swiy.co/mxldd</a:t>
            </a:r>
            <a:r>
              <a:rPr lang="en-US" sz="9600" dirty="0">
                <a:solidFill>
                  <a:srgbClr val="CF3338"/>
                </a:solidFill>
                <a:latin typeface="Pragmatica" panose="020B0403040502020204" pitchFamily="34" charset="0"/>
              </a:rPr>
              <a:t> </a:t>
            </a:r>
          </a:p>
        </p:txBody>
      </p:sp>
      <p:pic>
        <p:nvPicPr>
          <p:cNvPr id="15" name="Picture 14" descr="A close up of a sign&#10;&#10;Description automatically generated">
            <a:extLst>
              <a:ext uri="{FF2B5EF4-FFF2-40B4-BE49-F238E27FC236}">
                <a16:creationId xmlns:a16="http://schemas.microsoft.com/office/drawing/2014/main" id="{9B8F3280-B18F-CF7A-E13E-97BB5CDA86E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13214590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p:cNvSpPr txBox="1"/>
          <p:nvPr/>
        </p:nvSpPr>
        <p:spPr>
          <a:xfrm>
            <a:off x="260431" y="329879"/>
            <a:ext cx="8906720" cy="7561557"/>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Quick Win #1: Reliable Data Inputs with Excel Tables</a:t>
            </a:r>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endParaRPr lang="en-US" sz="3600" dirty="0">
              <a:solidFill>
                <a:srgbClr val="C00000"/>
              </a:solidFill>
              <a:latin typeface="Pragmatica" panose="020B0403040502020204"/>
              <a:sym typeface="Consolas"/>
            </a:endParaRP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Problem: Manual range updates and formatting chaos</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Demo: Transform ranges into smart Excel Tables</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Result: Faster, cleaner spreadsheets</a:t>
            </a:r>
          </a:p>
        </p:txBody>
      </p:sp>
    </p:spTree>
    <p:extLst>
      <p:ext uri="{BB962C8B-B14F-4D97-AF65-F5344CB8AC3E}">
        <p14:creationId xmlns:p14="http://schemas.microsoft.com/office/powerpoint/2010/main" val="38715317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8B0BA-2457-E883-9B94-9EF4CB53F46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B2669EB-FDD3-FD04-8DC6-CC0F1E621197}"/>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1AF1603A-5226-7133-332B-9ED91B061A51}"/>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3A1F1624-DFBB-B741-F011-B1F4773062C8}"/>
              </a:ext>
            </a:extLst>
          </p:cNvPr>
          <p:cNvSpPr txBox="1"/>
          <p:nvPr/>
        </p:nvSpPr>
        <p:spPr>
          <a:xfrm>
            <a:off x="260431" y="329879"/>
            <a:ext cx="8906720" cy="8045279"/>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Quick Win #2: Analyze Data (AI in Excel… No Copilot Needed!)</a:t>
            </a:r>
            <a:br>
              <a:rPr lang="en-US" sz="6000" b="1" dirty="0">
                <a:solidFill>
                  <a:srgbClr val="CF3338"/>
                </a:solidFill>
                <a:latin typeface="Pragmatica" panose="020B0403040502020204" pitchFamily="34" charset="0"/>
              </a:rPr>
            </a:br>
            <a:endParaRPr lang="en-US" sz="3600" dirty="0">
              <a:solidFill>
                <a:srgbClr val="C00000"/>
              </a:solidFill>
              <a:latin typeface="Pragmatica" panose="020B0403040502020204"/>
              <a:sym typeface="Consolas"/>
            </a:endParaRP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Problem: Overwhelmed by large datasets</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Demo: Get instant AI-powered insights from Excel’s Analyze Data</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Result: Quick, actionable analysis… no formulas required</a:t>
            </a:r>
          </a:p>
        </p:txBody>
      </p:sp>
    </p:spTree>
    <p:extLst>
      <p:ext uri="{BB962C8B-B14F-4D97-AF65-F5344CB8AC3E}">
        <p14:creationId xmlns:p14="http://schemas.microsoft.com/office/powerpoint/2010/main" val="37108753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1A27C-8894-1039-C10D-49DEF731C87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9AA0A13-9A6F-743A-214C-42DDAEB6B116}"/>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CE70788E-B0DE-D358-5D84-0751068117D4}"/>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DDDA3F19-3713-EED4-6645-27996F2BE4BF}"/>
              </a:ext>
            </a:extLst>
          </p:cNvPr>
          <p:cNvSpPr txBox="1"/>
          <p:nvPr/>
        </p:nvSpPr>
        <p:spPr>
          <a:xfrm>
            <a:off x="260431" y="329879"/>
            <a:ext cx="8906720" cy="8054000"/>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Quick Win #3: Power Query Data Cleanup</a:t>
            </a:r>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endParaRPr lang="en-US" sz="3600" dirty="0">
              <a:solidFill>
                <a:srgbClr val="C00000"/>
              </a:solidFill>
              <a:latin typeface="Pragmatica" panose="020B0403040502020204"/>
              <a:sym typeface="Consolas"/>
            </a:endParaRP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Problem: Repetitive, error-prone data prep</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Demo: Automate data cleaning with Power Query</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Result: Reliable, repeatable data workflows.. AND better analysis results!</a:t>
            </a:r>
          </a:p>
        </p:txBody>
      </p:sp>
    </p:spTree>
    <p:extLst>
      <p:ext uri="{BB962C8B-B14F-4D97-AF65-F5344CB8AC3E}">
        <p14:creationId xmlns:p14="http://schemas.microsoft.com/office/powerpoint/2010/main" val="35953466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07818-29D2-F5F6-BFE3-AC95409C3FDA}"/>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B2629BB8-6DE7-E426-3AFF-CFA5F3FBCCF4}"/>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Recap</a:t>
            </a:r>
          </a:p>
        </p:txBody>
      </p:sp>
      <p:sp>
        <p:nvSpPr>
          <p:cNvPr id="3" name="TextBox 2">
            <a:extLst>
              <a:ext uri="{FF2B5EF4-FFF2-40B4-BE49-F238E27FC236}">
                <a16:creationId xmlns:a16="http://schemas.microsoft.com/office/drawing/2014/main" id="{84647282-4EAE-D08B-0199-F568519F58C3}"/>
              </a:ext>
            </a:extLst>
          </p:cNvPr>
          <p:cNvSpPr txBox="1"/>
          <p:nvPr/>
        </p:nvSpPr>
        <p:spPr>
          <a:xfrm>
            <a:off x="520861" y="3191948"/>
            <a:ext cx="14393120" cy="258532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Tables → Structured efficiency</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Power Query → Automated data prep</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Analyze Data → Instant insights</a:t>
            </a:r>
          </a:p>
        </p:txBody>
      </p:sp>
      <p:pic>
        <p:nvPicPr>
          <p:cNvPr id="15" name="Picture 14" descr="A close up of a sign&#10;&#10;Description automatically generated">
            <a:extLst>
              <a:ext uri="{FF2B5EF4-FFF2-40B4-BE49-F238E27FC236}">
                <a16:creationId xmlns:a16="http://schemas.microsoft.com/office/drawing/2014/main" id="{C54442A3-1184-472E-336C-0DB56D7A71D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11387478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323C9-D5F7-C820-78B9-E169BDF2311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8971779-1F50-1702-DEC1-87CD482189F0}"/>
              </a:ext>
            </a:extLst>
          </p:cNvPr>
          <p:cNvSpPr/>
          <p:nvPr/>
        </p:nvSpPr>
        <p:spPr>
          <a:xfrm>
            <a:off x="0" y="0"/>
            <a:ext cx="18288000" cy="10287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a:extLst>
              <a:ext uri="{FF2B5EF4-FFF2-40B4-BE49-F238E27FC236}">
                <a16:creationId xmlns:a16="http://schemas.microsoft.com/office/drawing/2014/main" id="{5ECC4C7B-C529-5329-03AC-796804551DC1}"/>
              </a:ext>
            </a:extLst>
          </p:cNvPr>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My offerings at a glance</a:t>
            </a:r>
          </a:p>
        </p:txBody>
      </p:sp>
    </p:spTree>
    <p:extLst>
      <p:ext uri="{BB962C8B-B14F-4D97-AF65-F5344CB8AC3E}">
        <p14:creationId xmlns:p14="http://schemas.microsoft.com/office/powerpoint/2010/main" val="6578290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032428-543A-1FB6-4F74-63D34C7EE7A7}"/>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B10226A7-24F8-E564-1775-ADA2DA03E717}"/>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Free!</a:t>
            </a:r>
          </a:p>
        </p:txBody>
      </p:sp>
      <p:sp>
        <p:nvSpPr>
          <p:cNvPr id="3" name="TextBox 2">
            <a:extLst>
              <a:ext uri="{FF2B5EF4-FFF2-40B4-BE49-F238E27FC236}">
                <a16:creationId xmlns:a16="http://schemas.microsoft.com/office/drawing/2014/main" id="{AD6CB09B-7406-0F2F-D781-339748F9E539}"/>
              </a:ext>
            </a:extLst>
          </p:cNvPr>
          <p:cNvSpPr txBox="1"/>
          <p:nvPr/>
        </p:nvSpPr>
        <p:spPr>
          <a:xfrm>
            <a:off x="990600" y="2095500"/>
            <a:ext cx="8546939" cy="6555641"/>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Blog: </a:t>
            </a:r>
            <a:r>
              <a:rPr lang="en-US" sz="6000" dirty="0">
                <a:solidFill>
                  <a:srgbClr val="CF3338"/>
                </a:solidFill>
                <a:latin typeface="Pragmatica" panose="020B0403040502020204" pitchFamily="34" charset="0"/>
                <a:hlinkClick r:id="rId2">
                  <a:extLst>
                    <a:ext uri="{A12FA001-AC4F-418D-AE19-62706E023703}">
                      <ahyp:hlinkClr xmlns:ahyp="http://schemas.microsoft.com/office/drawing/2018/hyperlinkcolor" val="tx"/>
                    </a:ext>
                  </a:extLst>
                </a:hlinkClick>
              </a:rPr>
              <a:t>stringfestanalytics.com</a:t>
            </a:r>
            <a:r>
              <a:rPr lang="en-US" sz="6000" dirty="0">
                <a:solidFill>
                  <a:srgbClr val="707070"/>
                </a:solidFill>
                <a:latin typeface="Pragmatica" panose="020B0403040502020204" pitchFamily="34" charset="0"/>
              </a:rPr>
              <a:t>  </a:t>
            </a:r>
          </a:p>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Newsletter/email course: Subscribe at blog</a:t>
            </a:r>
          </a:p>
          <a:p>
            <a:pPr marL="685800" indent="-685800">
              <a:buClr>
                <a:srgbClr val="CF3338"/>
              </a:buClr>
              <a:buFont typeface="Arial" panose="020B0604020202020204" pitchFamily="34" charset="0"/>
              <a:buChar char="•"/>
            </a:pPr>
            <a:r>
              <a:rPr lang="en-US" sz="6000" dirty="0">
                <a:solidFill>
                  <a:srgbClr val="CF3338"/>
                </a:solidFill>
                <a:latin typeface="Pragmatica" panose="020B0403040502020204" pitchFamily="34" charset="0"/>
                <a:hlinkClick r:id="rId3">
                  <a:extLst>
                    <a:ext uri="{A12FA001-AC4F-418D-AE19-62706E023703}">
                      <ahyp:hlinkClr xmlns:ahyp="http://schemas.microsoft.com/office/drawing/2018/hyperlinkcolor" val="tx"/>
                    </a:ext>
                  </a:extLst>
                </a:hlinkClick>
              </a:rPr>
              <a:t>LinkedIn</a:t>
            </a:r>
            <a:r>
              <a:rPr lang="en-US" sz="6000" dirty="0">
                <a:solidFill>
                  <a:srgbClr val="707070"/>
                </a:solidFill>
                <a:latin typeface="Pragmatica" panose="020B0403040502020204" pitchFamily="34" charset="0"/>
              </a:rPr>
              <a:t>: Follow for daily(</a:t>
            </a:r>
            <a:r>
              <a:rPr lang="en-US" sz="6000" dirty="0" err="1">
                <a:solidFill>
                  <a:srgbClr val="707070"/>
                </a:solidFill>
                <a:latin typeface="Pragmatica" panose="020B0403040502020204" pitchFamily="34" charset="0"/>
              </a:rPr>
              <a:t>ish</a:t>
            </a:r>
            <a:r>
              <a:rPr lang="en-US" sz="6000" dirty="0">
                <a:solidFill>
                  <a:srgbClr val="707070"/>
                </a:solidFill>
                <a:latin typeface="Pragmatica" panose="020B0403040502020204" pitchFamily="34" charset="0"/>
              </a:rPr>
              <a:t>) free resources</a:t>
            </a:r>
          </a:p>
        </p:txBody>
      </p:sp>
      <p:pic>
        <p:nvPicPr>
          <p:cNvPr id="15" name="Picture 14" descr="A close up of a sign&#10;&#10;Description automatically generated">
            <a:extLst>
              <a:ext uri="{FF2B5EF4-FFF2-40B4-BE49-F238E27FC236}">
                <a16:creationId xmlns:a16="http://schemas.microsoft.com/office/drawing/2014/main" id="{0FC37808-A34B-5C68-C9BC-F79DB06A951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2" name="Picture 1" descr="No alternative text description for this image">
            <a:extLst>
              <a:ext uri="{FF2B5EF4-FFF2-40B4-BE49-F238E27FC236}">
                <a16:creationId xmlns:a16="http://schemas.microsoft.com/office/drawing/2014/main" id="{67292FAA-CD5F-946F-10C1-3DA65714AC96}"/>
              </a:ext>
            </a:extLst>
          </p:cNvPr>
          <p:cNvPicPr>
            <a:picLocks noChangeAspect="1"/>
          </p:cNvPicPr>
          <p:nvPr/>
        </p:nvPicPr>
        <p:blipFill>
          <a:blip r:embed="rId5"/>
          <a:stretch>
            <a:fillRect/>
          </a:stretch>
        </p:blipFill>
        <p:spPr>
          <a:xfrm>
            <a:off x="9906000" y="1257300"/>
            <a:ext cx="8077200" cy="5384800"/>
          </a:xfrm>
          <a:prstGeom prst="rect">
            <a:avLst/>
          </a:prstGeom>
        </p:spPr>
      </p:pic>
    </p:spTree>
    <p:extLst>
      <p:ext uri="{BB962C8B-B14F-4D97-AF65-F5344CB8AC3E}">
        <p14:creationId xmlns:p14="http://schemas.microsoft.com/office/powerpoint/2010/main" val="28250199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4A7281-8A5D-AF68-7E15-AF7741A2D78A}"/>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E8953D25-E302-D215-CA86-7ED7A621F0F3}"/>
              </a:ext>
            </a:extLst>
          </p:cNvPr>
          <p:cNvSpPr txBox="1"/>
          <p:nvPr/>
        </p:nvSpPr>
        <p:spPr>
          <a:xfrm>
            <a:off x="520861" y="170082"/>
            <a:ext cx="4889339" cy="4247317"/>
          </a:xfrm>
          <a:prstGeom prst="rect">
            <a:avLst/>
          </a:prstGeom>
          <a:noFill/>
        </p:spPr>
        <p:txBody>
          <a:bodyPr wrap="square" rtlCol="0">
            <a:spAutoFit/>
          </a:bodyPr>
          <a:lstStyle/>
          <a:p>
            <a:r>
              <a:rPr lang="en-US" sz="9000" dirty="0">
                <a:latin typeface="Aliens &amp; cows" panose="00000500000000000000" pitchFamily="2" charset="0"/>
              </a:rPr>
              <a:t>Why not stop at free?</a:t>
            </a:r>
          </a:p>
        </p:txBody>
      </p:sp>
      <p:pic>
        <p:nvPicPr>
          <p:cNvPr id="15" name="Picture 14" descr="A close up of a sign&#10;&#10;Description automatically generated">
            <a:extLst>
              <a:ext uri="{FF2B5EF4-FFF2-40B4-BE49-F238E27FC236}">
                <a16:creationId xmlns:a16="http://schemas.microsoft.com/office/drawing/2014/main" id="{AC82ECB6-E6FE-DDE5-7269-AB90DC1212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9" name="Picture 8" descr="Image">
            <a:extLst>
              <a:ext uri="{FF2B5EF4-FFF2-40B4-BE49-F238E27FC236}">
                <a16:creationId xmlns:a16="http://schemas.microsoft.com/office/drawing/2014/main" id="{15892E52-DDDD-BA54-D242-9974FFD58BA2}"/>
              </a:ext>
            </a:extLst>
          </p:cNvPr>
          <p:cNvPicPr>
            <a:picLocks noChangeAspect="1"/>
          </p:cNvPicPr>
          <p:nvPr/>
        </p:nvPicPr>
        <p:blipFill>
          <a:blip r:embed="rId4"/>
          <a:stretch>
            <a:fillRect/>
          </a:stretch>
        </p:blipFill>
        <p:spPr>
          <a:xfrm>
            <a:off x="5867400" y="419100"/>
            <a:ext cx="10668000" cy="7107555"/>
          </a:xfrm>
          <a:prstGeom prst="rect">
            <a:avLst/>
          </a:prstGeom>
        </p:spPr>
      </p:pic>
      <p:sp>
        <p:nvSpPr>
          <p:cNvPr id="10" name="TextBox 9">
            <a:extLst>
              <a:ext uri="{FF2B5EF4-FFF2-40B4-BE49-F238E27FC236}">
                <a16:creationId xmlns:a16="http://schemas.microsoft.com/office/drawing/2014/main" id="{C0564D0D-700B-22A4-4B8A-8FDA84184A01}"/>
              </a:ext>
            </a:extLst>
          </p:cNvPr>
          <p:cNvSpPr txBox="1"/>
          <p:nvPr/>
        </p:nvSpPr>
        <p:spPr>
          <a:xfrm>
            <a:off x="5867400" y="8058429"/>
            <a:ext cx="10058400" cy="369332"/>
          </a:xfrm>
          <a:prstGeom prst="rect">
            <a:avLst/>
          </a:prstGeom>
          <a:noFill/>
        </p:spPr>
        <p:txBody>
          <a:bodyPr wrap="square" rtlCol="0">
            <a:spAutoFit/>
          </a:bodyPr>
          <a:lstStyle/>
          <a:p>
            <a:r>
              <a:rPr lang="en-US" dirty="0"/>
              <a:t>S</a:t>
            </a:r>
          </a:p>
        </p:txBody>
      </p:sp>
      <p:sp>
        <p:nvSpPr>
          <p:cNvPr id="14" name="TextBox 13">
            <a:extLst>
              <a:ext uri="{FF2B5EF4-FFF2-40B4-BE49-F238E27FC236}">
                <a16:creationId xmlns:a16="http://schemas.microsoft.com/office/drawing/2014/main" id="{538D5CE6-1962-62F3-C966-A47A010AE0BB}"/>
              </a:ext>
            </a:extLst>
          </p:cNvPr>
          <p:cNvSpPr txBox="1"/>
          <p:nvPr/>
        </p:nvSpPr>
        <p:spPr>
          <a:xfrm>
            <a:off x="6005546" y="7695781"/>
            <a:ext cx="4419600" cy="1815882"/>
          </a:xfrm>
          <a:prstGeom prst="rect">
            <a:avLst/>
          </a:prstGeom>
          <a:noFill/>
        </p:spPr>
        <p:txBody>
          <a:bodyPr wrap="square">
            <a:spAutoFit/>
          </a:bodyPr>
          <a:lstStyle/>
          <a:p>
            <a:r>
              <a:rPr lang="en-US" sz="2800" b="1" dirty="0"/>
              <a:t>Free content is good for</a:t>
            </a:r>
          </a:p>
          <a:p>
            <a:pPr marL="285750" indent="-285750">
              <a:buFont typeface="Arial" panose="020B0604020202020204" pitchFamily="34" charset="0"/>
              <a:buChar char="•"/>
            </a:pPr>
            <a:r>
              <a:rPr lang="en-US" sz="2800" dirty="0"/>
              <a:t>Orientation</a:t>
            </a:r>
          </a:p>
          <a:p>
            <a:pPr marL="285750" indent="-285750">
              <a:buFont typeface="Arial" panose="020B0604020202020204" pitchFamily="34" charset="0"/>
              <a:buChar char="•"/>
            </a:pPr>
            <a:r>
              <a:rPr lang="en-US" sz="2800" dirty="0"/>
              <a:t>Pattern exposure</a:t>
            </a:r>
          </a:p>
          <a:p>
            <a:pPr marL="285750" indent="-285750">
              <a:buFont typeface="Arial" panose="020B0604020202020204" pitchFamily="34" charset="0"/>
              <a:buChar char="•"/>
            </a:pPr>
            <a:r>
              <a:rPr lang="en-US" sz="2800" dirty="0"/>
              <a:t>Seeing examples in context</a:t>
            </a:r>
          </a:p>
        </p:txBody>
      </p:sp>
      <p:sp>
        <p:nvSpPr>
          <p:cNvPr id="16" name="TextBox 15">
            <a:extLst>
              <a:ext uri="{FF2B5EF4-FFF2-40B4-BE49-F238E27FC236}">
                <a16:creationId xmlns:a16="http://schemas.microsoft.com/office/drawing/2014/main" id="{3753DF97-EFFE-90D8-3C5C-903CC3B89938}"/>
              </a:ext>
            </a:extLst>
          </p:cNvPr>
          <p:cNvSpPr txBox="1"/>
          <p:nvPr/>
        </p:nvSpPr>
        <p:spPr>
          <a:xfrm>
            <a:off x="11322827" y="7695781"/>
            <a:ext cx="4602973" cy="2246769"/>
          </a:xfrm>
          <a:prstGeom prst="rect">
            <a:avLst/>
          </a:prstGeom>
          <a:noFill/>
        </p:spPr>
        <p:txBody>
          <a:bodyPr wrap="square">
            <a:spAutoFit/>
          </a:bodyPr>
          <a:lstStyle/>
          <a:p>
            <a:r>
              <a:rPr lang="en-US" sz="2800" b="1" dirty="0"/>
              <a:t>Paid content is good for</a:t>
            </a:r>
          </a:p>
          <a:p>
            <a:pPr marL="285750" indent="-285750">
              <a:buFont typeface="Arial" panose="020B0604020202020204" pitchFamily="34" charset="0"/>
              <a:buChar char="•"/>
            </a:pPr>
            <a:r>
              <a:rPr lang="en-US" sz="2800" dirty="0"/>
              <a:t>Solving specific problems</a:t>
            </a:r>
          </a:p>
          <a:p>
            <a:pPr marL="285750" indent="-285750">
              <a:buFont typeface="Arial" panose="020B0604020202020204" pitchFamily="34" charset="0"/>
              <a:buChar char="•"/>
            </a:pPr>
            <a:r>
              <a:rPr lang="en-US" sz="2800" dirty="0"/>
              <a:t>Step-by-step implementation</a:t>
            </a:r>
          </a:p>
          <a:p>
            <a:pPr marL="285750" indent="-285750">
              <a:buFont typeface="Arial" panose="020B0604020202020204" pitchFamily="34" charset="0"/>
              <a:buChar char="•"/>
            </a:pPr>
            <a:r>
              <a:rPr lang="en-US" sz="2800" dirty="0"/>
              <a:t>Ongoing feedback</a:t>
            </a:r>
          </a:p>
        </p:txBody>
      </p:sp>
    </p:spTree>
    <p:extLst>
      <p:ext uri="{BB962C8B-B14F-4D97-AF65-F5344CB8AC3E}">
        <p14:creationId xmlns:p14="http://schemas.microsoft.com/office/powerpoint/2010/main" val="20073277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50FB3-E2D7-1660-BAD7-9582BABBCCC9}"/>
              </a:ext>
            </a:extLst>
          </p:cNvPr>
          <p:cNvSpPr>
            <a:spLocks noGrp="1"/>
          </p:cNvSpPr>
          <p:nvPr>
            <p:ph type="title"/>
          </p:nvPr>
        </p:nvSpPr>
        <p:spPr>
          <a:xfrm>
            <a:off x="1257300" y="547689"/>
            <a:ext cx="15773400" cy="1116807"/>
          </a:xfrm>
        </p:spPr>
        <p:txBody>
          <a:bodyPr>
            <a:normAutofit/>
          </a:bodyPr>
          <a:lstStyle/>
          <a:p>
            <a:r>
              <a:rPr lang="en-US" sz="5400" dirty="0"/>
              <a:t>How I work</a:t>
            </a:r>
          </a:p>
        </p:txBody>
      </p:sp>
      <p:graphicFrame>
        <p:nvGraphicFramePr>
          <p:cNvPr id="15" name="Content Placeholder 14">
            <a:extLst>
              <a:ext uri="{FF2B5EF4-FFF2-40B4-BE49-F238E27FC236}">
                <a16:creationId xmlns:a16="http://schemas.microsoft.com/office/drawing/2014/main" id="{E77C6111-36B5-9583-89F4-35827CAC7B23}"/>
              </a:ext>
            </a:extLst>
          </p:cNvPr>
          <p:cNvGraphicFramePr>
            <a:graphicFrameLocks noGrp="1"/>
          </p:cNvGraphicFramePr>
          <p:nvPr>
            <p:ph idx="1"/>
            <p:extLst>
              <p:ext uri="{D42A27DB-BD31-4B8C-83A1-F6EECF244321}">
                <p14:modId xmlns:p14="http://schemas.microsoft.com/office/powerpoint/2010/main" val="4002875284"/>
              </p:ext>
            </p:extLst>
          </p:nvPr>
        </p:nvGraphicFramePr>
        <p:xfrm>
          <a:off x="381000" y="2110224"/>
          <a:ext cx="17602200" cy="762908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327324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94E238-B928-9A45-6C07-F784EA6E2DC3}"/>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E03A3D75-7011-685D-6601-35E8D4148BB0}"/>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Not sure where to start?</a:t>
            </a:r>
          </a:p>
        </p:txBody>
      </p:sp>
      <p:sp>
        <p:nvSpPr>
          <p:cNvPr id="3" name="TextBox 2">
            <a:extLst>
              <a:ext uri="{FF2B5EF4-FFF2-40B4-BE49-F238E27FC236}">
                <a16:creationId xmlns:a16="http://schemas.microsoft.com/office/drawing/2014/main" id="{A70D9C35-08C9-2B39-29C7-C0EA500B7E30}"/>
              </a:ext>
            </a:extLst>
          </p:cNvPr>
          <p:cNvSpPr txBox="1"/>
          <p:nvPr/>
        </p:nvSpPr>
        <p:spPr>
          <a:xfrm>
            <a:off x="1143000" y="1866900"/>
            <a:ext cx="14935200" cy="6863417"/>
          </a:xfrm>
          <a:prstGeom prst="rect">
            <a:avLst/>
          </a:prstGeom>
          <a:noFill/>
        </p:spPr>
        <p:txBody>
          <a:bodyPr wrap="square" rtlCol="0">
            <a:spAutoFit/>
          </a:bodyPr>
          <a:lstStyle/>
          <a:p>
            <a:pPr marL="285750" indent="-285750">
              <a:buFont typeface="Arial" panose="020B0604020202020204" pitchFamily="34" charset="0"/>
              <a:buChar char="•"/>
            </a:pPr>
            <a:r>
              <a:rPr lang="en-US" sz="4400" dirty="0">
                <a:latin typeface="Pragmatica" panose="020B0403040502020204"/>
              </a:rPr>
              <a:t>If you’re new to Excel + AI → start with </a:t>
            </a:r>
            <a:r>
              <a:rPr lang="en-US" sz="4400" b="1" u="sng" dirty="0">
                <a:latin typeface="Pragmatica" panose="020B0403040502020204"/>
                <a:hlinkClick r:id="rId3"/>
              </a:rPr>
              <a:t>Excel Must-Knows for AI Success</a:t>
            </a:r>
            <a:r>
              <a:rPr lang="en-US" sz="4400" dirty="0">
                <a:latin typeface="Pragmatica" panose="020B0403040502020204"/>
              </a:rPr>
              <a:t> </a:t>
            </a:r>
          </a:p>
          <a:p>
            <a:pPr marL="285750" indent="-285750">
              <a:buFont typeface="Arial" panose="020B0604020202020204" pitchFamily="34" charset="0"/>
              <a:buChar char="•"/>
            </a:pPr>
            <a:r>
              <a:rPr lang="en-US" sz="4400" dirty="0">
                <a:latin typeface="Pragmatica" panose="020B0403040502020204"/>
              </a:rPr>
              <a:t>If you want to learn Python in Excel → begin with </a:t>
            </a:r>
            <a:r>
              <a:rPr lang="en-US" sz="4400" b="1" u="sng" dirty="0">
                <a:latin typeface="Pragmatica" panose="020B0403040502020204"/>
                <a:hlinkClick r:id="rId4"/>
              </a:rPr>
              <a:t>Python in Excel: Quick Wins</a:t>
            </a:r>
            <a:endParaRPr lang="en-US" sz="4400" dirty="0">
              <a:latin typeface="Pragmatica" panose="020B0403040502020204"/>
            </a:endParaRPr>
          </a:p>
          <a:p>
            <a:pPr marL="285750" indent="-285750">
              <a:buFont typeface="Arial" panose="020B0604020202020204" pitchFamily="34" charset="0"/>
              <a:buChar char="•"/>
            </a:pPr>
            <a:r>
              <a:rPr lang="en-US" sz="4400" dirty="0">
                <a:latin typeface="Pragmatica" panose="020B0403040502020204"/>
              </a:rPr>
              <a:t>If you prefer structured self-paced learning → take my </a:t>
            </a:r>
            <a:r>
              <a:rPr lang="en-US" sz="4400" b="1" u="sng" dirty="0">
                <a:latin typeface="Pragmatica" panose="020B0403040502020204"/>
                <a:hlinkClick r:id="rId5"/>
              </a:rPr>
              <a:t>LinkedIn Learning</a:t>
            </a:r>
            <a:r>
              <a:rPr lang="en-US" sz="4400" dirty="0">
                <a:latin typeface="Pragmatica" panose="020B0403040502020204"/>
              </a:rPr>
              <a:t> courses</a:t>
            </a:r>
          </a:p>
          <a:p>
            <a:pPr marL="285750" indent="-285750">
              <a:buFont typeface="Arial" panose="020B0604020202020204" pitchFamily="34" charset="0"/>
              <a:buChar char="•"/>
            </a:pPr>
            <a:r>
              <a:rPr lang="en-US" sz="4400" dirty="0">
                <a:latin typeface="Pragmatica" panose="020B0403040502020204"/>
              </a:rPr>
              <a:t>If you want live, hands-on training → join an </a:t>
            </a:r>
            <a:r>
              <a:rPr lang="en-US" sz="4400" b="1" u="sng" dirty="0">
                <a:latin typeface="Pragmatica" panose="020B0403040502020204"/>
                <a:hlinkClick r:id="rId6"/>
              </a:rPr>
              <a:t>O’Reilly</a:t>
            </a:r>
            <a:r>
              <a:rPr lang="en-US" sz="4400" dirty="0">
                <a:latin typeface="Pragmatica" panose="020B0403040502020204"/>
              </a:rPr>
              <a:t> session or </a:t>
            </a:r>
            <a:r>
              <a:rPr lang="en-US" sz="4400" b="1" u="sng" dirty="0">
                <a:latin typeface="Pragmatica" panose="020B0403040502020204"/>
                <a:hlinkClick r:id="rId7"/>
              </a:rPr>
              <a:t>Eventbrite</a:t>
            </a:r>
            <a:r>
              <a:rPr lang="en-US" sz="4400" dirty="0">
                <a:latin typeface="Pragmatica" panose="020B0403040502020204"/>
              </a:rPr>
              <a:t> workshop</a:t>
            </a:r>
          </a:p>
          <a:p>
            <a:pPr marL="285750" indent="-285750">
              <a:buFont typeface="Arial" panose="020B0604020202020204" pitchFamily="34" charset="0"/>
              <a:buChar char="•"/>
            </a:pPr>
            <a:r>
              <a:rPr lang="en-US" sz="4400" dirty="0">
                <a:latin typeface="Pragmatica" panose="020B0403040502020204"/>
              </a:rPr>
              <a:t>If you want ongoing guidance without a big course → join </a:t>
            </a:r>
            <a:r>
              <a:rPr lang="en-US" sz="4400" b="1" u="sng" dirty="0">
                <a:latin typeface="Pragmatica" panose="020B0403040502020204"/>
                <a:hlinkClick r:id="rId8"/>
              </a:rPr>
              <a:t>The Modern Excel AI Stack</a:t>
            </a:r>
            <a:r>
              <a:rPr lang="en-US" sz="4400" dirty="0">
                <a:latin typeface="Pragmatica" panose="020B0403040502020204"/>
              </a:rPr>
              <a:t> (membership)</a:t>
            </a:r>
          </a:p>
        </p:txBody>
      </p:sp>
      <p:pic>
        <p:nvPicPr>
          <p:cNvPr id="15" name="Picture 14" descr="A close up of a sign&#10;&#10;Description automatically generated">
            <a:extLst>
              <a:ext uri="{FF2B5EF4-FFF2-40B4-BE49-F238E27FC236}">
                <a16:creationId xmlns:a16="http://schemas.microsoft.com/office/drawing/2014/main" id="{BD2DCCC6-87AC-828C-1922-475B4458EAF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1691826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2D9D2-23A1-2523-B018-04A1EB9914C5}"/>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198C7299-844B-E70F-73B1-9B96434CB00E}"/>
              </a:ext>
            </a:extLst>
          </p:cNvPr>
          <p:cNvSpPr txBox="1"/>
          <p:nvPr/>
        </p:nvSpPr>
        <p:spPr>
          <a:xfrm>
            <a:off x="520861" y="170082"/>
            <a:ext cx="14947739" cy="1323439"/>
          </a:xfrm>
          <a:prstGeom prst="rect">
            <a:avLst/>
          </a:prstGeom>
          <a:noFill/>
        </p:spPr>
        <p:txBody>
          <a:bodyPr wrap="square" rtlCol="0">
            <a:spAutoFit/>
          </a:bodyPr>
          <a:lstStyle/>
          <a:p>
            <a:r>
              <a:rPr lang="en-US" sz="8000" dirty="0">
                <a:latin typeface="Aliens &amp; cows" panose="00000500000000000000" pitchFamily="2" charset="0"/>
              </a:rPr>
              <a:t>Next steps</a:t>
            </a:r>
          </a:p>
        </p:txBody>
      </p:sp>
      <p:sp>
        <p:nvSpPr>
          <p:cNvPr id="3" name="TextBox 2">
            <a:extLst>
              <a:ext uri="{FF2B5EF4-FFF2-40B4-BE49-F238E27FC236}">
                <a16:creationId xmlns:a16="http://schemas.microsoft.com/office/drawing/2014/main" id="{CF58984F-0299-7F52-EFC0-830F0B077821}"/>
              </a:ext>
            </a:extLst>
          </p:cNvPr>
          <p:cNvSpPr txBox="1"/>
          <p:nvPr/>
        </p:nvSpPr>
        <p:spPr>
          <a:xfrm>
            <a:off x="520861" y="3191948"/>
            <a:ext cx="14393120" cy="4708981"/>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Modern Excel Starter Kit PDF</a:t>
            </a:r>
          </a:p>
          <a:p>
            <a:pPr marL="1143000" lvl="1"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Introduction, learning strategies, additional resources to master Modern Excel</a:t>
            </a:r>
          </a:p>
          <a:p>
            <a:pPr marL="1143000" lvl="1"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Available in the downloads folder</a:t>
            </a:r>
          </a:p>
        </p:txBody>
      </p:sp>
      <p:pic>
        <p:nvPicPr>
          <p:cNvPr id="15" name="Picture 14" descr="A close up of a sign&#10;&#10;Description automatically generated">
            <a:extLst>
              <a:ext uri="{FF2B5EF4-FFF2-40B4-BE49-F238E27FC236}">
                <a16:creationId xmlns:a16="http://schemas.microsoft.com/office/drawing/2014/main" id="{B155E1CE-7355-30EE-3EE6-738EC92875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1171602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8CB409-CE91-9113-CF5B-9EF56BE94356}"/>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DB8D7723-DD6F-44FA-345F-472CF117590F}"/>
              </a:ext>
            </a:extLst>
          </p:cNvPr>
          <p:cNvSpPr txBox="1"/>
          <p:nvPr/>
        </p:nvSpPr>
        <p:spPr>
          <a:xfrm>
            <a:off x="520861" y="170082"/>
            <a:ext cx="14947739" cy="1323439"/>
          </a:xfrm>
          <a:prstGeom prst="rect">
            <a:avLst/>
          </a:prstGeom>
          <a:noFill/>
        </p:spPr>
        <p:txBody>
          <a:bodyPr wrap="square" rtlCol="0">
            <a:spAutoFit/>
          </a:bodyPr>
          <a:lstStyle/>
          <a:p>
            <a:r>
              <a:rPr lang="en-US" sz="8000" dirty="0">
                <a:latin typeface="Aliens &amp; cows" panose="00000500000000000000" pitchFamily="2" charset="0"/>
              </a:rPr>
              <a:t>Next steps</a:t>
            </a:r>
          </a:p>
        </p:txBody>
      </p:sp>
      <p:sp>
        <p:nvSpPr>
          <p:cNvPr id="3" name="TextBox 2">
            <a:extLst>
              <a:ext uri="{FF2B5EF4-FFF2-40B4-BE49-F238E27FC236}">
                <a16:creationId xmlns:a16="http://schemas.microsoft.com/office/drawing/2014/main" id="{80175D3E-AE80-1413-C125-5F34E069E354}"/>
              </a:ext>
            </a:extLst>
          </p:cNvPr>
          <p:cNvSpPr txBox="1"/>
          <p:nvPr/>
        </p:nvSpPr>
        <p:spPr>
          <a:xfrm>
            <a:off x="520861" y="3191948"/>
            <a:ext cx="14393120" cy="4708981"/>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Follow me on LinkedIn</a:t>
            </a:r>
          </a:p>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Share this event with your network</a:t>
            </a:r>
          </a:p>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For teams/organizations: Book a discovery call at </a:t>
            </a:r>
            <a:r>
              <a:rPr lang="en-US" sz="6000" dirty="0">
                <a:solidFill>
                  <a:srgbClr val="CF3338"/>
                </a:solidFill>
                <a:latin typeface="Pragmatica" panose="020B0403040502020204" pitchFamily="34" charset="0"/>
                <a:hlinkClick r:id="rId2">
                  <a:extLst>
                    <a:ext uri="{A12FA001-AC4F-418D-AE19-62706E023703}">
                      <ahyp:hlinkClr xmlns:ahyp="http://schemas.microsoft.com/office/drawing/2018/hyperlinkcolor" val="tx"/>
                    </a:ext>
                  </a:extLst>
                </a:hlinkClick>
              </a:rPr>
              <a:t>https://stringfestanalytics.com/book-me/</a:t>
            </a:r>
            <a:r>
              <a:rPr lang="en-US" sz="6000" dirty="0">
                <a:solidFill>
                  <a:srgbClr val="CF3338"/>
                </a:solidFill>
                <a:latin typeface="Pragmatica" panose="020B0403040502020204" pitchFamily="34" charset="0"/>
              </a:rPr>
              <a:t> </a:t>
            </a:r>
          </a:p>
        </p:txBody>
      </p:sp>
      <p:pic>
        <p:nvPicPr>
          <p:cNvPr id="15" name="Picture 14" descr="A close up of a sign&#10;&#10;Description automatically generated">
            <a:extLst>
              <a:ext uri="{FF2B5EF4-FFF2-40B4-BE49-F238E27FC236}">
                <a16:creationId xmlns:a16="http://schemas.microsoft.com/office/drawing/2014/main" id="{23401A70-278E-956F-C05F-181A5C8C8A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2787768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0C042-4FA7-C99A-DB6A-E56C8A4C9FF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38FBC8C-6CC2-040B-E74D-EA0547D9066A}"/>
              </a:ext>
            </a:extLst>
          </p:cNvPr>
          <p:cNvSpPr/>
          <p:nvPr/>
        </p:nvSpPr>
        <p:spPr>
          <a:xfrm>
            <a:off x="0" y="0"/>
            <a:ext cx="1828800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a:extLst>
              <a:ext uri="{FF2B5EF4-FFF2-40B4-BE49-F238E27FC236}">
                <a16:creationId xmlns:a16="http://schemas.microsoft.com/office/drawing/2014/main" id="{C3242B5A-8DE0-9FEB-CCC9-737A969B938A}"/>
              </a:ext>
            </a:extLst>
          </p:cNvPr>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Thank you!</a:t>
            </a:r>
          </a:p>
        </p:txBody>
      </p:sp>
    </p:spTree>
    <p:extLst>
      <p:ext uri="{BB962C8B-B14F-4D97-AF65-F5344CB8AC3E}">
        <p14:creationId xmlns:p14="http://schemas.microsoft.com/office/powerpoint/2010/main" val="39986720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54A06221-5316-4BCF-9FDA-BDB95FF4A77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168986073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2663</TotalTime>
  <Words>1061</Words>
  <Application>Microsoft Office PowerPoint</Application>
  <PresentationFormat>Custom</PresentationFormat>
  <Paragraphs>96</Paragraphs>
  <Slides>17</Slides>
  <Notes>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Normafixed Tryout</vt:lpstr>
      <vt:lpstr>Calibri</vt:lpstr>
      <vt:lpstr>Arial</vt:lpstr>
      <vt:lpstr>Aliens &amp; cows</vt:lpstr>
      <vt:lpstr>Pragmatica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How I work</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excel-statistics-for-business-analytics</dc:title>
  <dc:creator>User</dc:creator>
  <cp:lastModifiedBy>George Mount</cp:lastModifiedBy>
  <cp:revision>239</cp:revision>
  <dcterms:created xsi:type="dcterms:W3CDTF">2006-08-16T00:00:00Z</dcterms:created>
  <dcterms:modified xsi:type="dcterms:W3CDTF">2026-01-29T23:38:57Z</dcterms:modified>
  <dc:identifier>DADurESpNu8</dc:identifier>
</cp:coreProperties>
</file>