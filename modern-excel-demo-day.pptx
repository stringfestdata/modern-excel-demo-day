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9"/>
  </p:notesMasterIdLst>
  <p:sldIdLst>
    <p:sldId id="256" r:id="rId2"/>
    <p:sldId id="425" r:id="rId3"/>
    <p:sldId id="426" r:id="rId4"/>
    <p:sldId id="437" r:id="rId5"/>
    <p:sldId id="407" r:id="rId6"/>
    <p:sldId id="440" r:id="rId7"/>
    <p:sldId id="438" r:id="rId8"/>
    <p:sldId id="439" r:id="rId9"/>
    <p:sldId id="427" r:id="rId10"/>
    <p:sldId id="257" r:id="rId11"/>
    <p:sldId id="455" r:id="rId12"/>
    <p:sldId id="441" r:id="rId13"/>
    <p:sldId id="454" r:id="rId14"/>
    <p:sldId id="456" r:id="rId15"/>
    <p:sldId id="452" r:id="rId16"/>
    <p:sldId id="453" r:id="rId17"/>
    <p:sldId id="415" r:id="rId18"/>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7684158-E8C8-9BE0-21EB-718D906F94A5}" name="George Mount" initials="GM" userId="S::george@stringfestanalytics.com::22d0b802-afc6-4b8f-ba57-7a855d96927f"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eorge Mount" initials="GM" lastIdx="9" clrIdx="0">
    <p:extLst>
      <p:ext uri="{19B8F6BF-5375-455C-9EA6-DF929625EA0E}">
        <p15:presenceInfo xmlns:p15="http://schemas.microsoft.com/office/powerpoint/2012/main" userId="57d2ab2a84d54c81"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3338"/>
    <a:srgbClr val="3D39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992" autoAdjust="0"/>
    <p:restoredTop sz="63484" autoAdjust="0"/>
  </p:normalViewPr>
  <p:slideViewPr>
    <p:cSldViewPr>
      <p:cViewPr varScale="1">
        <p:scale>
          <a:sx n="25" d="100"/>
          <a:sy n="25" d="100"/>
        </p:scale>
        <p:origin x="1232" y="248"/>
      </p:cViewPr>
      <p:guideLst>
        <p:guide orient="horz" pos="2160"/>
        <p:guide pos="2880"/>
      </p:guideLst>
    </p:cSldViewPr>
  </p:slideViewPr>
  <p:outlineViewPr>
    <p:cViewPr>
      <p:scale>
        <a:sx n="33" d="100"/>
        <a:sy n="33" d="100"/>
      </p:scale>
      <p:origin x="0" y="0"/>
    </p:cViewPr>
  </p:outlineViewPr>
  <p:notesTextViewPr>
    <p:cViewPr>
      <p:scale>
        <a:sx n="140" d="100"/>
        <a:sy n="14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8798DD1-6FC4-4C34-9F3F-53BBEB998853}" type="doc">
      <dgm:prSet loTypeId="urn:microsoft.com/office/officeart/2005/8/layout/chevron2" loCatId="process" qsTypeId="urn:microsoft.com/office/officeart/2005/8/quickstyle/simple1" qsCatId="simple" csTypeId="urn:microsoft.com/office/officeart/2005/8/colors/accent1_2" csCatId="accent1" phldr="1"/>
      <dgm:spPr/>
      <dgm:t>
        <a:bodyPr/>
        <a:lstStyle/>
        <a:p>
          <a:endParaRPr lang="en-US"/>
        </a:p>
      </dgm:t>
    </dgm:pt>
    <dgm:pt modelId="{21FE27EC-10F4-47A1-8FD5-CD3496F54607}">
      <dgm:prSet phldrT="[Text]" phldr="0"/>
      <dgm:spPr>
        <a:solidFill>
          <a:srgbClr val="C00000"/>
        </a:solidFill>
      </dgm:spPr>
      <dgm:t>
        <a:bodyPr/>
        <a:lstStyle/>
        <a:p>
          <a:r>
            <a:rPr lang="en-US" b="1" dirty="0"/>
            <a:t>Individuals</a:t>
          </a:r>
        </a:p>
      </dgm:t>
    </dgm:pt>
    <dgm:pt modelId="{FF3D7B0C-E2C4-49B8-8C4B-AF120BF1E2B9}" type="parTrans" cxnId="{6C0172DF-D88B-41D4-B3F5-CA15E159222B}">
      <dgm:prSet/>
      <dgm:spPr/>
      <dgm:t>
        <a:bodyPr/>
        <a:lstStyle/>
        <a:p>
          <a:endParaRPr lang="en-US"/>
        </a:p>
      </dgm:t>
    </dgm:pt>
    <dgm:pt modelId="{969895C4-5161-439F-BA5B-C7930ADA9517}" type="sibTrans" cxnId="{6C0172DF-D88B-41D4-B3F5-CA15E159222B}">
      <dgm:prSet/>
      <dgm:spPr/>
      <dgm:t>
        <a:bodyPr/>
        <a:lstStyle/>
        <a:p>
          <a:endParaRPr lang="en-US"/>
        </a:p>
      </dgm:t>
    </dgm:pt>
    <dgm:pt modelId="{C24B2941-8C4E-47E5-93BE-9390D2CDBC89}">
      <dgm:prSet phldrT="[Text]" phldr="0"/>
      <dgm:spPr>
        <a:ln>
          <a:solidFill>
            <a:schemeClr val="bg1">
              <a:lumMod val="50000"/>
            </a:schemeClr>
          </a:solidFill>
        </a:ln>
      </dgm:spPr>
      <dgm:t>
        <a:bodyPr/>
        <a:lstStyle/>
        <a:p>
          <a:r>
            <a:rPr lang="en-US" dirty="0"/>
            <a:t>Self-paced courses &amp; live workshops</a:t>
          </a:r>
        </a:p>
      </dgm:t>
    </dgm:pt>
    <dgm:pt modelId="{C97A6C3A-9B27-45E4-8D96-A0B3EE805D38}" type="parTrans" cxnId="{6C6CBB06-B18A-42AC-8E9C-1FECB4298C8E}">
      <dgm:prSet/>
      <dgm:spPr/>
      <dgm:t>
        <a:bodyPr/>
        <a:lstStyle/>
        <a:p>
          <a:endParaRPr lang="en-US"/>
        </a:p>
      </dgm:t>
    </dgm:pt>
    <dgm:pt modelId="{95B33339-D74D-43E7-BBDD-70E0EB607FD8}" type="sibTrans" cxnId="{6C6CBB06-B18A-42AC-8E9C-1FECB4298C8E}">
      <dgm:prSet/>
      <dgm:spPr/>
      <dgm:t>
        <a:bodyPr/>
        <a:lstStyle/>
        <a:p>
          <a:endParaRPr lang="en-US"/>
        </a:p>
      </dgm:t>
    </dgm:pt>
    <dgm:pt modelId="{B4C039DB-28DF-4F2E-9047-FCE10E8B50F4}">
      <dgm:prSet phldrT="[Text]" phldr="0"/>
      <dgm:spPr>
        <a:ln>
          <a:solidFill>
            <a:schemeClr val="bg1">
              <a:lumMod val="50000"/>
            </a:schemeClr>
          </a:solidFill>
        </a:ln>
      </dgm:spPr>
      <dgm:t>
        <a:bodyPr/>
        <a:lstStyle/>
        <a:p>
          <a:r>
            <a:rPr lang="en-US" dirty="0"/>
            <a:t>Learn when to use formulas, Power Query, Python, and Copilot</a:t>
          </a:r>
        </a:p>
      </dgm:t>
    </dgm:pt>
    <dgm:pt modelId="{88E2D7DD-A20A-4D82-B7BA-495E3CA5520E}" type="parTrans" cxnId="{08744D63-46D0-44D2-900A-8851AAD8CEA3}">
      <dgm:prSet/>
      <dgm:spPr/>
      <dgm:t>
        <a:bodyPr/>
        <a:lstStyle/>
        <a:p>
          <a:endParaRPr lang="en-US"/>
        </a:p>
      </dgm:t>
    </dgm:pt>
    <dgm:pt modelId="{EFC160FF-009E-419D-9011-2FCCED5BFCAE}" type="sibTrans" cxnId="{08744D63-46D0-44D2-900A-8851AAD8CEA3}">
      <dgm:prSet/>
      <dgm:spPr/>
      <dgm:t>
        <a:bodyPr/>
        <a:lstStyle/>
        <a:p>
          <a:endParaRPr lang="en-US"/>
        </a:p>
      </dgm:t>
    </dgm:pt>
    <dgm:pt modelId="{31E0BBA0-32AB-44DE-85CB-3C80E6846810}">
      <dgm:prSet phldrT="[Text]" phldr="0"/>
      <dgm:spPr>
        <a:ln>
          <a:solidFill>
            <a:schemeClr val="bg1">
              <a:lumMod val="50000"/>
            </a:schemeClr>
          </a:solidFill>
        </a:ln>
      </dgm:spPr>
      <dgm:t>
        <a:bodyPr/>
        <a:lstStyle/>
        <a:p>
          <a:r>
            <a:rPr lang="en-US" dirty="0"/>
            <a:t>Focus on clarity, maintainability, and confidence</a:t>
          </a:r>
        </a:p>
      </dgm:t>
    </dgm:pt>
    <dgm:pt modelId="{BDE34EB0-9E1B-4FF4-9FC7-70742D76E4E6}" type="parTrans" cxnId="{9453C970-A133-42A1-BB1A-7672CEFA0687}">
      <dgm:prSet/>
      <dgm:spPr/>
      <dgm:t>
        <a:bodyPr/>
        <a:lstStyle/>
        <a:p>
          <a:endParaRPr lang="en-US"/>
        </a:p>
      </dgm:t>
    </dgm:pt>
    <dgm:pt modelId="{45E94802-E21A-4AC8-ACCB-FA38B41DCB9F}" type="sibTrans" cxnId="{9453C970-A133-42A1-BB1A-7672CEFA0687}">
      <dgm:prSet/>
      <dgm:spPr/>
      <dgm:t>
        <a:bodyPr/>
        <a:lstStyle/>
        <a:p>
          <a:endParaRPr lang="en-US"/>
        </a:p>
      </dgm:t>
    </dgm:pt>
    <dgm:pt modelId="{016DC79D-3BC0-41E5-8BCD-63EBA4F14C0D}">
      <dgm:prSet phldrT="[Text]" phldr="0"/>
      <dgm:spPr>
        <a:solidFill>
          <a:srgbClr val="C00000"/>
        </a:solidFill>
      </dgm:spPr>
      <dgm:t>
        <a:bodyPr/>
        <a:lstStyle/>
        <a:p>
          <a:r>
            <a:rPr lang="en-US" b="1" dirty="0"/>
            <a:t>Teams</a:t>
          </a:r>
        </a:p>
      </dgm:t>
    </dgm:pt>
    <dgm:pt modelId="{2EE0B6F5-6A8E-418F-9567-1907B2738A34}" type="parTrans" cxnId="{BC96F6EE-A452-4FD1-957C-3C61D63DF19A}">
      <dgm:prSet/>
      <dgm:spPr/>
      <dgm:t>
        <a:bodyPr/>
        <a:lstStyle/>
        <a:p>
          <a:endParaRPr lang="en-US"/>
        </a:p>
      </dgm:t>
    </dgm:pt>
    <dgm:pt modelId="{E09FC7D4-5B56-4C5F-893B-848769202938}" type="sibTrans" cxnId="{BC96F6EE-A452-4FD1-957C-3C61D63DF19A}">
      <dgm:prSet/>
      <dgm:spPr/>
      <dgm:t>
        <a:bodyPr/>
        <a:lstStyle/>
        <a:p>
          <a:endParaRPr lang="en-US"/>
        </a:p>
      </dgm:t>
    </dgm:pt>
    <dgm:pt modelId="{7A818774-F187-423D-B8A8-E299CC61C89C}">
      <dgm:prSet phldrT="[Text]" phldr="0"/>
      <dgm:spPr>
        <a:ln>
          <a:solidFill>
            <a:schemeClr val="bg1">
              <a:lumMod val="50000"/>
            </a:schemeClr>
          </a:solidFill>
        </a:ln>
      </dgm:spPr>
      <dgm:t>
        <a:bodyPr/>
        <a:lstStyle/>
        <a:p>
          <a:r>
            <a:rPr lang="en-US" dirty="0"/>
            <a:t>Practical corporate training</a:t>
          </a:r>
        </a:p>
      </dgm:t>
    </dgm:pt>
    <dgm:pt modelId="{C7A141B3-2B9C-4F4D-9D07-5F119890BE56}" type="parTrans" cxnId="{E39F6071-D189-4302-81C2-C8D5AD0A841D}">
      <dgm:prSet/>
      <dgm:spPr/>
      <dgm:t>
        <a:bodyPr/>
        <a:lstStyle/>
        <a:p>
          <a:endParaRPr lang="en-US"/>
        </a:p>
      </dgm:t>
    </dgm:pt>
    <dgm:pt modelId="{BF1D4A6B-4EBA-4D46-93B3-07C66BF920A8}" type="sibTrans" cxnId="{E39F6071-D189-4302-81C2-C8D5AD0A841D}">
      <dgm:prSet/>
      <dgm:spPr/>
      <dgm:t>
        <a:bodyPr/>
        <a:lstStyle/>
        <a:p>
          <a:endParaRPr lang="en-US"/>
        </a:p>
      </dgm:t>
    </dgm:pt>
    <dgm:pt modelId="{CED61807-9E1D-41DC-A0C2-C410C92668D0}">
      <dgm:prSet phldrT="[Text]" phldr="0"/>
      <dgm:spPr>
        <a:ln>
          <a:solidFill>
            <a:schemeClr val="bg1">
              <a:lumMod val="50000"/>
            </a:schemeClr>
          </a:solidFill>
        </a:ln>
      </dgm:spPr>
      <dgm:t>
        <a:bodyPr/>
        <a:lstStyle/>
        <a:p>
          <a:r>
            <a:rPr lang="en-US" dirty="0"/>
            <a:t>Apply modern Excel patterns to real workflows</a:t>
          </a:r>
        </a:p>
      </dgm:t>
    </dgm:pt>
    <dgm:pt modelId="{DF6760EA-CD03-4B40-8B21-BE7EBE5C8B51}" type="parTrans" cxnId="{D544EC0C-557D-4137-BBE5-D7047405AD61}">
      <dgm:prSet/>
      <dgm:spPr/>
      <dgm:t>
        <a:bodyPr/>
        <a:lstStyle/>
        <a:p>
          <a:endParaRPr lang="en-US"/>
        </a:p>
      </dgm:t>
    </dgm:pt>
    <dgm:pt modelId="{56F627CE-8FDB-492D-9146-C96F55B7E1C0}" type="sibTrans" cxnId="{D544EC0C-557D-4137-BBE5-D7047405AD61}">
      <dgm:prSet/>
      <dgm:spPr/>
      <dgm:t>
        <a:bodyPr/>
        <a:lstStyle/>
        <a:p>
          <a:endParaRPr lang="en-US"/>
        </a:p>
      </dgm:t>
    </dgm:pt>
    <dgm:pt modelId="{A47EFBC1-B8C2-4EA5-9B3A-F927674761C9}">
      <dgm:prSet phldrT="[Text]" phldr="0"/>
      <dgm:spPr>
        <a:ln>
          <a:solidFill>
            <a:schemeClr val="bg1">
              <a:lumMod val="50000"/>
            </a:schemeClr>
          </a:solidFill>
        </a:ln>
      </dgm:spPr>
      <dgm:t>
        <a:bodyPr/>
        <a:lstStyle/>
        <a:p>
          <a:r>
            <a:rPr lang="en-US" dirty="0"/>
            <a:t>Reduce errors, rework, and one-off fixes</a:t>
          </a:r>
        </a:p>
      </dgm:t>
    </dgm:pt>
    <dgm:pt modelId="{23C95D64-ACDF-4793-AF7E-ADB56BE2841D}" type="parTrans" cxnId="{1C3620EC-CE2A-437B-813B-D62505EEF778}">
      <dgm:prSet/>
      <dgm:spPr/>
      <dgm:t>
        <a:bodyPr/>
        <a:lstStyle/>
        <a:p>
          <a:endParaRPr lang="en-US"/>
        </a:p>
      </dgm:t>
    </dgm:pt>
    <dgm:pt modelId="{98F84862-E132-4EA1-89ED-AC172F965CF6}" type="sibTrans" cxnId="{1C3620EC-CE2A-437B-813B-D62505EEF778}">
      <dgm:prSet/>
      <dgm:spPr/>
      <dgm:t>
        <a:bodyPr/>
        <a:lstStyle/>
        <a:p>
          <a:endParaRPr lang="en-US"/>
        </a:p>
      </dgm:t>
    </dgm:pt>
    <dgm:pt modelId="{B4F0F40E-29C9-496D-BDA2-525B7864A476}">
      <dgm:prSet phldrT="[Text]" phldr="0"/>
      <dgm:spPr>
        <a:solidFill>
          <a:srgbClr val="C00000"/>
        </a:solidFill>
      </dgm:spPr>
      <dgm:t>
        <a:bodyPr/>
        <a:lstStyle/>
        <a:p>
          <a:r>
            <a:rPr lang="en-US" b="1" dirty="0"/>
            <a:t>Organizations</a:t>
          </a:r>
        </a:p>
      </dgm:t>
    </dgm:pt>
    <dgm:pt modelId="{85C43083-FDDC-4EB5-8CA2-AF1A2A539AE5}" type="parTrans" cxnId="{F5A0ED73-185C-43A4-B087-39723A0B16D0}">
      <dgm:prSet/>
      <dgm:spPr/>
      <dgm:t>
        <a:bodyPr/>
        <a:lstStyle/>
        <a:p>
          <a:endParaRPr lang="en-US"/>
        </a:p>
      </dgm:t>
    </dgm:pt>
    <dgm:pt modelId="{C9BD2B50-714A-4AF3-9879-8E0D2682421F}" type="sibTrans" cxnId="{F5A0ED73-185C-43A4-B087-39723A0B16D0}">
      <dgm:prSet/>
      <dgm:spPr/>
      <dgm:t>
        <a:bodyPr/>
        <a:lstStyle/>
        <a:p>
          <a:endParaRPr lang="en-US"/>
        </a:p>
      </dgm:t>
    </dgm:pt>
    <dgm:pt modelId="{CEF1FAE8-58A8-4837-8EE2-2DD9C2A199A3}">
      <dgm:prSet phldrT="[Text]" phldr="0"/>
      <dgm:spPr>
        <a:ln>
          <a:solidFill>
            <a:schemeClr val="bg1">
              <a:lumMod val="50000"/>
            </a:schemeClr>
          </a:solidFill>
        </a:ln>
      </dgm:spPr>
      <dgm:t>
        <a:bodyPr/>
        <a:lstStyle/>
        <a:p>
          <a:r>
            <a:rPr lang="en-US" dirty="0"/>
            <a:t>Guided, multi-week modernization program</a:t>
          </a:r>
        </a:p>
      </dgm:t>
    </dgm:pt>
    <dgm:pt modelId="{58151A2E-80AA-4AD6-A185-C0F5E8DA47AD}" type="parTrans" cxnId="{B62C6E92-AB91-468B-B358-EDF92131A7AF}">
      <dgm:prSet/>
      <dgm:spPr/>
      <dgm:t>
        <a:bodyPr/>
        <a:lstStyle/>
        <a:p>
          <a:endParaRPr lang="en-US"/>
        </a:p>
      </dgm:t>
    </dgm:pt>
    <dgm:pt modelId="{CBE4C6D7-AAFF-485C-A9FE-75A1ADEB00AD}" type="sibTrans" cxnId="{B62C6E92-AB91-468B-B358-EDF92131A7AF}">
      <dgm:prSet/>
      <dgm:spPr/>
      <dgm:t>
        <a:bodyPr/>
        <a:lstStyle/>
        <a:p>
          <a:endParaRPr lang="en-US"/>
        </a:p>
      </dgm:t>
    </dgm:pt>
    <dgm:pt modelId="{49A0E634-58A5-4059-9E7D-9503F5568F0E}">
      <dgm:prSet phldrT="[Text]" phldr="0"/>
      <dgm:spPr>
        <a:ln>
          <a:solidFill>
            <a:schemeClr val="bg1">
              <a:lumMod val="50000"/>
            </a:schemeClr>
          </a:solidFill>
        </a:ln>
      </dgm:spPr>
      <dgm:t>
        <a:bodyPr/>
        <a:lstStyle/>
        <a:p>
          <a:r>
            <a:rPr lang="en-US" dirty="0"/>
            <a:t>Teams learn to build pipelines, automation, and documentation</a:t>
          </a:r>
        </a:p>
      </dgm:t>
    </dgm:pt>
    <dgm:pt modelId="{ACD5A1DA-F5CD-48CE-B171-EC32505DF8B8}" type="parTrans" cxnId="{529891CA-70A8-4B23-B19B-BE2328CC8E28}">
      <dgm:prSet/>
      <dgm:spPr/>
      <dgm:t>
        <a:bodyPr/>
        <a:lstStyle/>
        <a:p>
          <a:endParaRPr lang="en-US"/>
        </a:p>
      </dgm:t>
    </dgm:pt>
    <dgm:pt modelId="{6ACADE56-6832-41F1-9403-24B505942BF3}" type="sibTrans" cxnId="{529891CA-70A8-4B23-B19B-BE2328CC8E28}">
      <dgm:prSet/>
      <dgm:spPr/>
      <dgm:t>
        <a:bodyPr/>
        <a:lstStyle/>
        <a:p>
          <a:endParaRPr lang="en-US"/>
        </a:p>
      </dgm:t>
    </dgm:pt>
    <dgm:pt modelId="{FB981EA0-3DDD-41E5-994C-58106823DD87}">
      <dgm:prSet phldrT="[Text]" phldr="0"/>
      <dgm:spPr>
        <a:ln>
          <a:solidFill>
            <a:schemeClr val="bg1">
              <a:lumMod val="50000"/>
            </a:schemeClr>
          </a:solidFill>
        </a:ln>
      </dgm:spPr>
      <dgm:t>
        <a:bodyPr/>
        <a:lstStyle/>
        <a:p>
          <a:r>
            <a:rPr lang="en-US" dirty="0"/>
            <a:t>Internal ownership of reliable, </a:t>
          </a:r>
          <a:r>
            <a:rPr lang="en-US"/>
            <a:t>auditable workflows</a:t>
          </a:r>
          <a:endParaRPr lang="en-US" dirty="0"/>
        </a:p>
      </dgm:t>
    </dgm:pt>
    <dgm:pt modelId="{F3950239-A916-4097-A7B6-DDA6653C9CB5}" type="parTrans" cxnId="{862989A2-6D7C-42A4-A92A-2FD429FB0840}">
      <dgm:prSet/>
      <dgm:spPr/>
      <dgm:t>
        <a:bodyPr/>
        <a:lstStyle/>
        <a:p>
          <a:endParaRPr lang="en-US"/>
        </a:p>
      </dgm:t>
    </dgm:pt>
    <dgm:pt modelId="{63E1678F-6B99-4762-B916-5E63C98E7666}" type="sibTrans" cxnId="{862989A2-6D7C-42A4-A92A-2FD429FB0840}">
      <dgm:prSet/>
      <dgm:spPr/>
      <dgm:t>
        <a:bodyPr/>
        <a:lstStyle/>
        <a:p>
          <a:endParaRPr lang="en-US"/>
        </a:p>
      </dgm:t>
    </dgm:pt>
    <dgm:pt modelId="{CAD0188A-56FC-4EB6-B5CE-816C1D97209B}" type="pres">
      <dgm:prSet presAssocID="{68798DD1-6FC4-4C34-9F3F-53BBEB998853}" presName="linearFlow" presStyleCnt="0">
        <dgm:presLayoutVars>
          <dgm:dir/>
          <dgm:animLvl val="lvl"/>
          <dgm:resizeHandles val="exact"/>
        </dgm:presLayoutVars>
      </dgm:prSet>
      <dgm:spPr/>
    </dgm:pt>
    <dgm:pt modelId="{396FF615-DBB1-4ADF-881C-2B53DB4685F9}" type="pres">
      <dgm:prSet presAssocID="{21FE27EC-10F4-47A1-8FD5-CD3496F54607}" presName="composite" presStyleCnt="0"/>
      <dgm:spPr/>
    </dgm:pt>
    <dgm:pt modelId="{09C26579-FE7E-4FCA-AD7A-C9F14DC9A41C}" type="pres">
      <dgm:prSet presAssocID="{21FE27EC-10F4-47A1-8FD5-CD3496F54607}" presName="parentText" presStyleLbl="alignNode1" presStyleIdx="0" presStyleCnt="3">
        <dgm:presLayoutVars>
          <dgm:chMax val="1"/>
          <dgm:bulletEnabled val="1"/>
        </dgm:presLayoutVars>
      </dgm:prSet>
      <dgm:spPr/>
    </dgm:pt>
    <dgm:pt modelId="{3F6A9F3A-70DD-47A1-BAF1-6047BA10BEF8}" type="pres">
      <dgm:prSet presAssocID="{21FE27EC-10F4-47A1-8FD5-CD3496F54607}" presName="descendantText" presStyleLbl="alignAcc1" presStyleIdx="0" presStyleCnt="3">
        <dgm:presLayoutVars>
          <dgm:bulletEnabled val="1"/>
        </dgm:presLayoutVars>
      </dgm:prSet>
      <dgm:spPr/>
    </dgm:pt>
    <dgm:pt modelId="{3EBAEAF0-87C5-4A8F-A60B-5164C3139ED0}" type="pres">
      <dgm:prSet presAssocID="{969895C4-5161-439F-BA5B-C7930ADA9517}" presName="sp" presStyleCnt="0"/>
      <dgm:spPr/>
    </dgm:pt>
    <dgm:pt modelId="{18A31272-9A53-4608-B75D-8841D31598E9}" type="pres">
      <dgm:prSet presAssocID="{016DC79D-3BC0-41E5-8BCD-63EBA4F14C0D}" presName="composite" presStyleCnt="0"/>
      <dgm:spPr/>
    </dgm:pt>
    <dgm:pt modelId="{94386F4B-5B07-46D9-B7E2-E761F0E5054B}" type="pres">
      <dgm:prSet presAssocID="{016DC79D-3BC0-41E5-8BCD-63EBA4F14C0D}" presName="parentText" presStyleLbl="alignNode1" presStyleIdx="1" presStyleCnt="3">
        <dgm:presLayoutVars>
          <dgm:chMax val="1"/>
          <dgm:bulletEnabled val="1"/>
        </dgm:presLayoutVars>
      </dgm:prSet>
      <dgm:spPr/>
    </dgm:pt>
    <dgm:pt modelId="{E1F63806-3F95-47B1-A8FC-936CE11E41B2}" type="pres">
      <dgm:prSet presAssocID="{016DC79D-3BC0-41E5-8BCD-63EBA4F14C0D}" presName="descendantText" presStyleLbl="alignAcc1" presStyleIdx="1" presStyleCnt="3">
        <dgm:presLayoutVars>
          <dgm:bulletEnabled val="1"/>
        </dgm:presLayoutVars>
      </dgm:prSet>
      <dgm:spPr/>
    </dgm:pt>
    <dgm:pt modelId="{08C09676-E15B-414E-ADE9-4CFD21277716}" type="pres">
      <dgm:prSet presAssocID="{E09FC7D4-5B56-4C5F-893B-848769202938}" presName="sp" presStyleCnt="0"/>
      <dgm:spPr/>
    </dgm:pt>
    <dgm:pt modelId="{C4801975-71F4-48D1-B902-ED5AA41607FE}" type="pres">
      <dgm:prSet presAssocID="{B4F0F40E-29C9-496D-BDA2-525B7864A476}" presName="composite" presStyleCnt="0"/>
      <dgm:spPr/>
    </dgm:pt>
    <dgm:pt modelId="{6686DA01-4710-4887-9ED3-F851DFA90AFC}" type="pres">
      <dgm:prSet presAssocID="{B4F0F40E-29C9-496D-BDA2-525B7864A476}" presName="parentText" presStyleLbl="alignNode1" presStyleIdx="2" presStyleCnt="3">
        <dgm:presLayoutVars>
          <dgm:chMax val="1"/>
          <dgm:bulletEnabled val="1"/>
        </dgm:presLayoutVars>
      </dgm:prSet>
      <dgm:spPr/>
    </dgm:pt>
    <dgm:pt modelId="{5B4E17BA-CB83-4086-AB9F-98D828E680FB}" type="pres">
      <dgm:prSet presAssocID="{B4F0F40E-29C9-496D-BDA2-525B7864A476}" presName="descendantText" presStyleLbl="alignAcc1" presStyleIdx="2" presStyleCnt="3">
        <dgm:presLayoutVars>
          <dgm:bulletEnabled val="1"/>
        </dgm:presLayoutVars>
      </dgm:prSet>
      <dgm:spPr/>
    </dgm:pt>
  </dgm:ptLst>
  <dgm:cxnLst>
    <dgm:cxn modelId="{92F1CA01-19A0-4F78-A4B8-D4B4230230A6}" type="presOf" srcId="{7A818774-F187-423D-B8A8-E299CC61C89C}" destId="{E1F63806-3F95-47B1-A8FC-936CE11E41B2}" srcOrd="0" destOrd="0" presId="urn:microsoft.com/office/officeart/2005/8/layout/chevron2"/>
    <dgm:cxn modelId="{2B9F7502-FA00-4776-91FC-DCE24DE2717C}" type="presOf" srcId="{31E0BBA0-32AB-44DE-85CB-3C80E6846810}" destId="{3F6A9F3A-70DD-47A1-BAF1-6047BA10BEF8}" srcOrd="0" destOrd="2" presId="urn:microsoft.com/office/officeart/2005/8/layout/chevron2"/>
    <dgm:cxn modelId="{6C6CBB06-B18A-42AC-8E9C-1FECB4298C8E}" srcId="{21FE27EC-10F4-47A1-8FD5-CD3496F54607}" destId="{C24B2941-8C4E-47E5-93BE-9390D2CDBC89}" srcOrd="0" destOrd="0" parTransId="{C97A6C3A-9B27-45E4-8D96-A0B3EE805D38}" sibTransId="{95B33339-D74D-43E7-BBDD-70E0EB607FD8}"/>
    <dgm:cxn modelId="{D544EC0C-557D-4137-BBE5-D7047405AD61}" srcId="{016DC79D-3BC0-41E5-8BCD-63EBA4F14C0D}" destId="{CED61807-9E1D-41DC-A0C2-C410C92668D0}" srcOrd="1" destOrd="0" parTransId="{DF6760EA-CD03-4B40-8B21-BE7EBE5C8B51}" sibTransId="{56F627CE-8FDB-492D-9146-C96F55B7E1C0}"/>
    <dgm:cxn modelId="{F861C337-2A07-4392-BB25-C7074FC35D3A}" type="presOf" srcId="{CED61807-9E1D-41DC-A0C2-C410C92668D0}" destId="{E1F63806-3F95-47B1-A8FC-936CE11E41B2}" srcOrd="0" destOrd="1" presId="urn:microsoft.com/office/officeart/2005/8/layout/chevron2"/>
    <dgm:cxn modelId="{08744D63-46D0-44D2-900A-8851AAD8CEA3}" srcId="{21FE27EC-10F4-47A1-8FD5-CD3496F54607}" destId="{B4C039DB-28DF-4F2E-9047-FCE10E8B50F4}" srcOrd="1" destOrd="0" parTransId="{88E2D7DD-A20A-4D82-B7BA-495E3CA5520E}" sibTransId="{EFC160FF-009E-419D-9011-2FCCED5BFCAE}"/>
    <dgm:cxn modelId="{7D3C6765-2503-464F-8915-4219C7FFA67E}" type="presOf" srcId="{B4C039DB-28DF-4F2E-9047-FCE10E8B50F4}" destId="{3F6A9F3A-70DD-47A1-BAF1-6047BA10BEF8}" srcOrd="0" destOrd="1" presId="urn:microsoft.com/office/officeart/2005/8/layout/chevron2"/>
    <dgm:cxn modelId="{C27A3E67-85B3-441D-954E-43FBB720893C}" type="presOf" srcId="{49A0E634-58A5-4059-9E7D-9503F5568F0E}" destId="{5B4E17BA-CB83-4086-AB9F-98D828E680FB}" srcOrd="0" destOrd="1" presId="urn:microsoft.com/office/officeart/2005/8/layout/chevron2"/>
    <dgm:cxn modelId="{72F5A847-4C7B-47C0-A9E1-518AC505C169}" type="presOf" srcId="{68798DD1-6FC4-4C34-9F3F-53BBEB998853}" destId="{CAD0188A-56FC-4EB6-B5CE-816C1D97209B}" srcOrd="0" destOrd="0" presId="urn:microsoft.com/office/officeart/2005/8/layout/chevron2"/>
    <dgm:cxn modelId="{061FAD70-44EC-4FA6-98DF-B43035022CDD}" type="presOf" srcId="{A47EFBC1-B8C2-4EA5-9B3A-F927674761C9}" destId="{E1F63806-3F95-47B1-A8FC-936CE11E41B2}" srcOrd="0" destOrd="2" presId="urn:microsoft.com/office/officeart/2005/8/layout/chevron2"/>
    <dgm:cxn modelId="{9453C970-A133-42A1-BB1A-7672CEFA0687}" srcId="{21FE27EC-10F4-47A1-8FD5-CD3496F54607}" destId="{31E0BBA0-32AB-44DE-85CB-3C80E6846810}" srcOrd="2" destOrd="0" parTransId="{BDE34EB0-9E1B-4FF4-9FC7-70742D76E4E6}" sibTransId="{45E94802-E21A-4AC8-ACCB-FA38B41DCB9F}"/>
    <dgm:cxn modelId="{E39F6071-D189-4302-81C2-C8D5AD0A841D}" srcId="{016DC79D-3BC0-41E5-8BCD-63EBA4F14C0D}" destId="{7A818774-F187-423D-B8A8-E299CC61C89C}" srcOrd="0" destOrd="0" parTransId="{C7A141B3-2B9C-4F4D-9D07-5F119890BE56}" sibTransId="{BF1D4A6B-4EBA-4D46-93B3-07C66BF920A8}"/>
    <dgm:cxn modelId="{F5A0ED73-185C-43A4-B087-39723A0B16D0}" srcId="{68798DD1-6FC4-4C34-9F3F-53BBEB998853}" destId="{B4F0F40E-29C9-496D-BDA2-525B7864A476}" srcOrd="2" destOrd="0" parTransId="{85C43083-FDDC-4EB5-8CA2-AF1A2A539AE5}" sibTransId="{C9BD2B50-714A-4AF3-9879-8E0D2682421F}"/>
    <dgm:cxn modelId="{19E0D479-A15D-4862-AFB6-01537DAB1029}" type="presOf" srcId="{016DC79D-3BC0-41E5-8BCD-63EBA4F14C0D}" destId="{94386F4B-5B07-46D9-B7E2-E761F0E5054B}" srcOrd="0" destOrd="0" presId="urn:microsoft.com/office/officeart/2005/8/layout/chevron2"/>
    <dgm:cxn modelId="{AD3BFA8E-5D82-48E4-B9AD-318B305BF8CB}" type="presOf" srcId="{FB981EA0-3DDD-41E5-994C-58106823DD87}" destId="{5B4E17BA-CB83-4086-AB9F-98D828E680FB}" srcOrd="0" destOrd="2" presId="urn:microsoft.com/office/officeart/2005/8/layout/chevron2"/>
    <dgm:cxn modelId="{B62C6E92-AB91-468B-B358-EDF92131A7AF}" srcId="{B4F0F40E-29C9-496D-BDA2-525B7864A476}" destId="{CEF1FAE8-58A8-4837-8EE2-2DD9C2A199A3}" srcOrd="0" destOrd="0" parTransId="{58151A2E-80AA-4AD6-A185-C0F5E8DA47AD}" sibTransId="{CBE4C6D7-AAFF-485C-A9FE-75A1ADEB00AD}"/>
    <dgm:cxn modelId="{8228239C-D034-41ED-AF1F-44B9D40545C6}" type="presOf" srcId="{B4F0F40E-29C9-496D-BDA2-525B7864A476}" destId="{6686DA01-4710-4887-9ED3-F851DFA90AFC}" srcOrd="0" destOrd="0" presId="urn:microsoft.com/office/officeart/2005/8/layout/chevron2"/>
    <dgm:cxn modelId="{B1127C9E-9D3C-4AAD-80DF-F94D479995DA}" type="presOf" srcId="{C24B2941-8C4E-47E5-93BE-9390D2CDBC89}" destId="{3F6A9F3A-70DD-47A1-BAF1-6047BA10BEF8}" srcOrd="0" destOrd="0" presId="urn:microsoft.com/office/officeart/2005/8/layout/chevron2"/>
    <dgm:cxn modelId="{4BA45AA0-961A-4D1B-A3F6-BB5A22DE0A36}" type="presOf" srcId="{21FE27EC-10F4-47A1-8FD5-CD3496F54607}" destId="{09C26579-FE7E-4FCA-AD7A-C9F14DC9A41C}" srcOrd="0" destOrd="0" presId="urn:microsoft.com/office/officeart/2005/8/layout/chevron2"/>
    <dgm:cxn modelId="{862989A2-6D7C-42A4-A92A-2FD429FB0840}" srcId="{B4F0F40E-29C9-496D-BDA2-525B7864A476}" destId="{FB981EA0-3DDD-41E5-994C-58106823DD87}" srcOrd="2" destOrd="0" parTransId="{F3950239-A916-4097-A7B6-DDA6653C9CB5}" sibTransId="{63E1678F-6B99-4762-B916-5E63C98E7666}"/>
    <dgm:cxn modelId="{277C8FA6-6B12-4298-833C-34A046A9226D}" type="presOf" srcId="{CEF1FAE8-58A8-4837-8EE2-2DD9C2A199A3}" destId="{5B4E17BA-CB83-4086-AB9F-98D828E680FB}" srcOrd="0" destOrd="0" presId="urn:microsoft.com/office/officeart/2005/8/layout/chevron2"/>
    <dgm:cxn modelId="{529891CA-70A8-4B23-B19B-BE2328CC8E28}" srcId="{B4F0F40E-29C9-496D-BDA2-525B7864A476}" destId="{49A0E634-58A5-4059-9E7D-9503F5568F0E}" srcOrd="1" destOrd="0" parTransId="{ACD5A1DA-F5CD-48CE-B171-EC32505DF8B8}" sibTransId="{6ACADE56-6832-41F1-9403-24B505942BF3}"/>
    <dgm:cxn modelId="{6C0172DF-D88B-41D4-B3F5-CA15E159222B}" srcId="{68798DD1-6FC4-4C34-9F3F-53BBEB998853}" destId="{21FE27EC-10F4-47A1-8FD5-CD3496F54607}" srcOrd="0" destOrd="0" parTransId="{FF3D7B0C-E2C4-49B8-8C4B-AF120BF1E2B9}" sibTransId="{969895C4-5161-439F-BA5B-C7930ADA9517}"/>
    <dgm:cxn modelId="{1C3620EC-CE2A-437B-813B-D62505EEF778}" srcId="{016DC79D-3BC0-41E5-8BCD-63EBA4F14C0D}" destId="{A47EFBC1-B8C2-4EA5-9B3A-F927674761C9}" srcOrd="2" destOrd="0" parTransId="{23C95D64-ACDF-4793-AF7E-ADB56BE2841D}" sibTransId="{98F84862-E132-4EA1-89ED-AC172F965CF6}"/>
    <dgm:cxn modelId="{BC96F6EE-A452-4FD1-957C-3C61D63DF19A}" srcId="{68798DD1-6FC4-4C34-9F3F-53BBEB998853}" destId="{016DC79D-3BC0-41E5-8BCD-63EBA4F14C0D}" srcOrd="1" destOrd="0" parTransId="{2EE0B6F5-6A8E-418F-9567-1907B2738A34}" sibTransId="{E09FC7D4-5B56-4C5F-893B-848769202938}"/>
    <dgm:cxn modelId="{8F7B8CF4-1AD3-437F-943B-15C6B8A43061}" type="presParOf" srcId="{CAD0188A-56FC-4EB6-B5CE-816C1D97209B}" destId="{396FF615-DBB1-4ADF-881C-2B53DB4685F9}" srcOrd="0" destOrd="0" presId="urn:microsoft.com/office/officeart/2005/8/layout/chevron2"/>
    <dgm:cxn modelId="{A905407B-1A3A-4C4F-94A3-72D810F50497}" type="presParOf" srcId="{396FF615-DBB1-4ADF-881C-2B53DB4685F9}" destId="{09C26579-FE7E-4FCA-AD7A-C9F14DC9A41C}" srcOrd="0" destOrd="0" presId="urn:microsoft.com/office/officeart/2005/8/layout/chevron2"/>
    <dgm:cxn modelId="{FD22B06B-837D-461D-90DF-5093D7EDBD71}" type="presParOf" srcId="{396FF615-DBB1-4ADF-881C-2B53DB4685F9}" destId="{3F6A9F3A-70DD-47A1-BAF1-6047BA10BEF8}" srcOrd="1" destOrd="0" presId="urn:microsoft.com/office/officeart/2005/8/layout/chevron2"/>
    <dgm:cxn modelId="{EA8A4336-7389-4C30-8110-DAB2C1C21C0D}" type="presParOf" srcId="{CAD0188A-56FC-4EB6-B5CE-816C1D97209B}" destId="{3EBAEAF0-87C5-4A8F-A60B-5164C3139ED0}" srcOrd="1" destOrd="0" presId="urn:microsoft.com/office/officeart/2005/8/layout/chevron2"/>
    <dgm:cxn modelId="{8C3399FB-03D1-42FB-9F72-2D7B16B0B99C}" type="presParOf" srcId="{CAD0188A-56FC-4EB6-B5CE-816C1D97209B}" destId="{18A31272-9A53-4608-B75D-8841D31598E9}" srcOrd="2" destOrd="0" presId="urn:microsoft.com/office/officeart/2005/8/layout/chevron2"/>
    <dgm:cxn modelId="{0638D5CA-D355-474F-B10D-C8495E5251C1}" type="presParOf" srcId="{18A31272-9A53-4608-B75D-8841D31598E9}" destId="{94386F4B-5B07-46D9-B7E2-E761F0E5054B}" srcOrd="0" destOrd="0" presId="urn:microsoft.com/office/officeart/2005/8/layout/chevron2"/>
    <dgm:cxn modelId="{E557CDAE-CAC8-4B57-A151-C05291D75607}" type="presParOf" srcId="{18A31272-9A53-4608-B75D-8841D31598E9}" destId="{E1F63806-3F95-47B1-A8FC-936CE11E41B2}" srcOrd="1" destOrd="0" presId="urn:microsoft.com/office/officeart/2005/8/layout/chevron2"/>
    <dgm:cxn modelId="{E126AC08-CC93-4BC4-8D81-C096DE23E2B9}" type="presParOf" srcId="{CAD0188A-56FC-4EB6-B5CE-816C1D97209B}" destId="{08C09676-E15B-414E-ADE9-4CFD21277716}" srcOrd="3" destOrd="0" presId="urn:microsoft.com/office/officeart/2005/8/layout/chevron2"/>
    <dgm:cxn modelId="{4B1D40FC-B1C2-453A-8607-302FF2BC833D}" type="presParOf" srcId="{CAD0188A-56FC-4EB6-B5CE-816C1D97209B}" destId="{C4801975-71F4-48D1-B902-ED5AA41607FE}" srcOrd="4" destOrd="0" presId="urn:microsoft.com/office/officeart/2005/8/layout/chevron2"/>
    <dgm:cxn modelId="{ACA736AB-5FFF-45DB-B3E4-E228D3373A70}" type="presParOf" srcId="{C4801975-71F4-48D1-B902-ED5AA41607FE}" destId="{6686DA01-4710-4887-9ED3-F851DFA90AFC}" srcOrd="0" destOrd="0" presId="urn:microsoft.com/office/officeart/2005/8/layout/chevron2"/>
    <dgm:cxn modelId="{62960D37-07F8-4C07-8FAC-939964988643}" type="presParOf" srcId="{C4801975-71F4-48D1-B902-ED5AA41607FE}" destId="{5B4E17BA-CB83-4086-AB9F-98D828E680FB}" srcOrd="1" destOrd="0" presId="urn:microsoft.com/office/officeart/2005/8/layout/chevron2"/>
  </dgm:cxnLst>
  <dgm:bg/>
  <dgm:whole>
    <a:ln>
      <a:solidFill>
        <a:schemeClr val="bg1">
          <a:lumMod val="50000"/>
        </a:schemeClr>
      </a:solidFill>
    </a:ln>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C26579-FE7E-4FCA-AD7A-C9F14DC9A41C}">
      <dsp:nvSpPr>
        <dsp:cNvPr id="0" name=""/>
        <dsp:cNvSpPr/>
      </dsp:nvSpPr>
      <dsp:spPr>
        <a:xfrm rot="5400000">
          <a:off x="-400080" y="401101"/>
          <a:ext cx="2667200" cy="1867040"/>
        </a:xfrm>
        <a:prstGeom prst="chevron">
          <a:avLst/>
        </a:prstGeom>
        <a:solidFill>
          <a:srgbClr val="C00000"/>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pPr>
          <a:r>
            <a:rPr lang="en-US" sz="2500" b="1" kern="1200" dirty="0"/>
            <a:t>Individuals</a:t>
          </a:r>
        </a:p>
      </dsp:txBody>
      <dsp:txXfrm rot="-5400000">
        <a:off x="0" y="934541"/>
        <a:ext cx="1867040" cy="800160"/>
      </dsp:txXfrm>
    </dsp:sp>
    <dsp:sp modelId="{3F6A9F3A-70DD-47A1-BAF1-6047BA10BEF8}">
      <dsp:nvSpPr>
        <dsp:cNvPr id="0" name=""/>
        <dsp:cNvSpPr/>
      </dsp:nvSpPr>
      <dsp:spPr>
        <a:xfrm rot="5400000">
          <a:off x="8867780" y="-6999718"/>
          <a:ext cx="1733680" cy="15735159"/>
        </a:xfrm>
        <a:prstGeom prst="round2SameRect">
          <a:avLst/>
        </a:prstGeom>
        <a:solidFill>
          <a:schemeClr val="lt1">
            <a:alpha val="90000"/>
            <a:hueOff val="0"/>
            <a:satOff val="0"/>
            <a:lumOff val="0"/>
            <a:alphaOff val="0"/>
          </a:schemeClr>
        </a:solidFill>
        <a:ln w="25400" cap="flat" cmpd="sng" algn="ctr">
          <a:solidFill>
            <a:schemeClr val="bg1">
              <a:lumMod val="5000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Self-paced courses &amp; live workshops</a:t>
          </a:r>
        </a:p>
        <a:p>
          <a:pPr marL="285750" lvl="1" indent="-285750" algn="l" defTabSz="1422400">
            <a:lnSpc>
              <a:spcPct val="90000"/>
            </a:lnSpc>
            <a:spcBef>
              <a:spcPct val="0"/>
            </a:spcBef>
            <a:spcAft>
              <a:spcPct val="15000"/>
            </a:spcAft>
            <a:buChar char="•"/>
          </a:pPr>
          <a:r>
            <a:rPr lang="en-US" sz="3200" kern="1200" dirty="0"/>
            <a:t>Learn when to use formulas, Power Query, Python, and Copilot</a:t>
          </a:r>
        </a:p>
        <a:p>
          <a:pPr marL="285750" lvl="1" indent="-285750" algn="l" defTabSz="1422400">
            <a:lnSpc>
              <a:spcPct val="90000"/>
            </a:lnSpc>
            <a:spcBef>
              <a:spcPct val="0"/>
            </a:spcBef>
            <a:spcAft>
              <a:spcPct val="15000"/>
            </a:spcAft>
            <a:buChar char="•"/>
          </a:pPr>
          <a:r>
            <a:rPr lang="en-US" sz="3200" kern="1200" dirty="0"/>
            <a:t>Focus on clarity, maintainability, and confidence</a:t>
          </a:r>
        </a:p>
      </dsp:txBody>
      <dsp:txXfrm rot="-5400000">
        <a:off x="1867041" y="85652"/>
        <a:ext cx="15650528" cy="1564418"/>
      </dsp:txXfrm>
    </dsp:sp>
    <dsp:sp modelId="{94386F4B-5B07-46D9-B7E2-E761F0E5054B}">
      <dsp:nvSpPr>
        <dsp:cNvPr id="0" name=""/>
        <dsp:cNvSpPr/>
      </dsp:nvSpPr>
      <dsp:spPr>
        <a:xfrm rot="5400000">
          <a:off x="-400080" y="2881023"/>
          <a:ext cx="2667200" cy="1867040"/>
        </a:xfrm>
        <a:prstGeom prst="chevron">
          <a:avLst/>
        </a:prstGeom>
        <a:solidFill>
          <a:srgbClr val="C00000"/>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pPr>
          <a:r>
            <a:rPr lang="en-US" sz="2500" b="1" kern="1200" dirty="0"/>
            <a:t>Teams</a:t>
          </a:r>
        </a:p>
      </dsp:txBody>
      <dsp:txXfrm rot="-5400000">
        <a:off x="0" y="3414463"/>
        <a:ext cx="1867040" cy="800160"/>
      </dsp:txXfrm>
    </dsp:sp>
    <dsp:sp modelId="{E1F63806-3F95-47B1-A8FC-936CE11E41B2}">
      <dsp:nvSpPr>
        <dsp:cNvPr id="0" name=""/>
        <dsp:cNvSpPr/>
      </dsp:nvSpPr>
      <dsp:spPr>
        <a:xfrm rot="5400000">
          <a:off x="8867780" y="-4519796"/>
          <a:ext cx="1733680" cy="15735159"/>
        </a:xfrm>
        <a:prstGeom prst="round2SameRect">
          <a:avLst/>
        </a:prstGeom>
        <a:solidFill>
          <a:schemeClr val="lt1">
            <a:alpha val="90000"/>
            <a:hueOff val="0"/>
            <a:satOff val="0"/>
            <a:lumOff val="0"/>
            <a:alphaOff val="0"/>
          </a:schemeClr>
        </a:solidFill>
        <a:ln w="25400" cap="flat" cmpd="sng" algn="ctr">
          <a:solidFill>
            <a:schemeClr val="bg1">
              <a:lumMod val="5000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Practical corporate training</a:t>
          </a:r>
        </a:p>
        <a:p>
          <a:pPr marL="285750" lvl="1" indent="-285750" algn="l" defTabSz="1422400">
            <a:lnSpc>
              <a:spcPct val="90000"/>
            </a:lnSpc>
            <a:spcBef>
              <a:spcPct val="0"/>
            </a:spcBef>
            <a:spcAft>
              <a:spcPct val="15000"/>
            </a:spcAft>
            <a:buChar char="•"/>
          </a:pPr>
          <a:r>
            <a:rPr lang="en-US" sz="3200" kern="1200" dirty="0"/>
            <a:t>Apply modern Excel patterns to real workflows</a:t>
          </a:r>
        </a:p>
        <a:p>
          <a:pPr marL="285750" lvl="1" indent="-285750" algn="l" defTabSz="1422400">
            <a:lnSpc>
              <a:spcPct val="90000"/>
            </a:lnSpc>
            <a:spcBef>
              <a:spcPct val="0"/>
            </a:spcBef>
            <a:spcAft>
              <a:spcPct val="15000"/>
            </a:spcAft>
            <a:buChar char="•"/>
          </a:pPr>
          <a:r>
            <a:rPr lang="en-US" sz="3200" kern="1200" dirty="0"/>
            <a:t>Reduce errors, rework, and one-off fixes</a:t>
          </a:r>
        </a:p>
      </dsp:txBody>
      <dsp:txXfrm rot="-5400000">
        <a:off x="1867041" y="2565574"/>
        <a:ext cx="15650528" cy="1564418"/>
      </dsp:txXfrm>
    </dsp:sp>
    <dsp:sp modelId="{6686DA01-4710-4887-9ED3-F851DFA90AFC}">
      <dsp:nvSpPr>
        <dsp:cNvPr id="0" name=""/>
        <dsp:cNvSpPr/>
      </dsp:nvSpPr>
      <dsp:spPr>
        <a:xfrm rot="5400000">
          <a:off x="-400080" y="5360944"/>
          <a:ext cx="2667200" cy="1867040"/>
        </a:xfrm>
        <a:prstGeom prst="chevron">
          <a:avLst/>
        </a:prstGeom>
        <a:solidFill>
          <a:srgbClr val="C00000"/>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875" tIns="15875" rIns="15875" bIns="15875" numCol="1" spcCol="1270" anchor="ctr" anchorCtr="0">
          <a:noAutofit/>
        </a:bodyPr>
        <a:lstStyle/>
        <a:p>
          <a:pPr marL="0" lvl="0" indent="0" algn="ctr" defTabSz="1111250">
            <a:lnSpc>
              <a:spcPct val="90000"/>
            </a:lnSpc>
            <a:spcBef>
              <a:spcPct val="0"/>
            </a:spcBef>
            <a:spcAft>
              <a:spcPct val="35000"/>
            </a:spcAft>
            <a:buNone/>
          </a:pPr>
          <a:r>
            <a:rPr lang="en-US" sz="2500" b="1" kern="1200" dirty="0"/>
            <a:t>Organizations</a:t>
          </a:r>
        </a:p>
      </dsp:txBody>
      <dsp:txXfrm rot="-5400000">
        <a:off x="0" y="5894384"/>
        <a:ext cx="1867040" cy="800160"/>
      </dsp:txXfrm>
    </dsp:sp>
    <dsp:sp modelId="{5B4E17BA-CB83-4086-AB9F-98D828E680FB}">
      <dsp:nvSpPr>
        <dsp:cNvPr id="0" name=""/>
        <dsp:cNvSpPr/>
      </dsp:nvSpPr>
      <dsp:spPr>
        <a:xfrm rot="5400000">
          <a:off x="8867780" y="-2039874"/>
          <a:ext cx="1733680" cy="15735159"/>
        </a:xfrm>
        <a:prstGeom prst="round2SameRect">
          <a:avLst/>
        </a:prstGeom>
        <a:solidFill>
          <a:schemeClr val="lt1">
            <a:alpha val="90000"/>
            <a:hueOff val="0"/>
            <a:satOff val="0"/>
            <a:lumOff val="0"/>
            <a:alphaOff val="0"/>
          </a:schemeClr>
        </a:solidFill>
        <a:ln w="25400" cap="flat" cmpd="sng" algn="ctr">
          <a:solidFill>
            <a:schemeClr val="bg1">
              <a:lumMod val="5000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Guided, multi-week modernization program</a:t>
          </a:r>
        </a:p>
        <a:p>
          <a:pPr marL="285750" lvl="1" indent="-285750" algn="l" defTabSz="1422400">
            <a:lnSpc>
              <a:spcPct val="90000"/>
            </a:lnSpc>
            <a:spcBef>
              <a:spcPct val="0"/>
            </a:spcBef>
            <a:spcAft>
              <a:spcPct val="15000"/>
            </a:spcAft>
            <a:buChar char="•"/>
          </a:pPr>
          <a:r>
            <a:rPr lang="en-US" sz="3200" kern="1200" dirty="0"/>
            <a:t>Teams learn to build pipelines, automation, and documentation</a:t>
          </a:r>
        </a:p>
        <a:p>
          <a:pPr marL="285750" lvl="1" indent="-285750" algn="l" defTabSz="1422400">
            <a:lnSpc>
              <a:spcPct val="90000"/>
            </a:lnSpc>
            <a:spcBef>
              <a:spcPct val="0"/>
            </a:spcBef>
            <a:spcAft>
              <a:spcPct val="15000"/>
            </a:spcAft>
            <a:buChar char="•"/>
          </a:pPr>
          <a:r>
            <a:rPr lang="en-US" sz="3200" kern="1200" dirty="0"/>
            <a:t>Internal ownership of reliable, </a:t>
          </a:r>
          <a:r>
            <a:rPr lang="en-US" sz="3200" kern="1200"/>
            <a:t>auditable workflows</a:t>
          </a:r>
          <a:endParaRPr lang="en-US" sz="3200" kern="1200" dirty="0"/>
        </a:p>
      </dsp:txBody>
      <dsp:txXfrm rot="-5400000">
        <a:off x="1867041" y="5045496"/>
        <a:ext cx="15650528" cy="156441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A98A70-FA8C-4354-959C-C70678AC9BCF}" type="datetimeFigureOut">
              <a:rPr lang="en-US" smtClean="0"/>
              <a:t>1/19/2026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B500C5-13F7-48FC-8160-C29AECF6C602}" type="slidenum">
              <a:rPr lang="en-US" smtClean="0"/>
              <a:t>‹#›</a:t>
            </a:fld>
            <a:endParaRPr lang="en-US"/>
          </a:p>
        </p:txBody>
      </p:sp>
    </p:spTree>
    <p:extLst>
      <p:ext uri="{BB962C8B-B14F-4D97-AF65-F5344CB8AC3E}">
        <p14:creationId xmlns:p14="http://schemas.microsoft.com/office/powerpoint/2010/main" val="301835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1</a:t>
            </a:fld>
            <a:endParaRPr lang="en-US"/>
          </a:p>
        </p:txBody>
      </p:sp>
    </p:spTree>
    <p:extLst>
      <p:ext uri="{BB962C8B-B14F-4D97-AF65-F5344CB8AC3E}">
        <p14:creationId xmlns:p14="http://schemas.microsoft.com/office/powerpoint/2010/main" val="40951597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endParaRPr lang="en-US" dirty="0"/>
          </a:p>
        </p:txBody>
      </p:sp>
      <p:sp>
        <p:nvSpPr>
          <p:cNvPr id="4" name="Slide Number Placeholder 3"/>
          <p:cNvSpPr>
            <a:spLocks noGrp="1"/>
          </p:cNvSpPr>
          <p:nvPr>
            <p:ph type="sldNum" sz="quarter" idx="5"/>
          </p:nvPr>
        </p:nvSpPr>
        <p:spPr/>
        <p:txBody>
          <a:bodyPr/>
          <a:lstStyle/>
          <a:p>
            <a:fld id="{1300335D-9F13-4B80-ADC5-B0EA3E10FF6B}" type="slidenum">
              <a:rPr lang="en-US" smtClean="0"/>
              <a:t>5</a:t>
            </a:fld>
            <a:endParaRPr lang="en-US"/>
          </a:p>
        </p:txBody>
      </p:sp>
    </p:spTree>
    <p:extLst>
      <p:ext uri="{BB962C8B-B14F-4D97-AF65-F5344CB8AC3E}">
        <p14:creationId xmlns:p14="http://schemas.microsoft.com/office/powerpoint/2010/main" val="6245492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ED567-4E92-5456-76DE-64BB8D1D7E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6FAB1C-F351-A3B8-EF0C-07B74DD934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1C3273-B52E-75C7-4AA5-00426F7665DC}"/>
              </a:ext>
            </a:extLst>
          </p:cNvPr>
          <p:cNvSpPr>
            <a:spLocks noGrp="1"/>
          </p:cNvSpPr>
          <p:nvPr>
            <p:ph type="body" idx="1"/>
          </p:nvPr>
        </p:nvSpPr>
        <p:spPr/>
        <p:txBody>
          <a:bodyPr/>
          <a:lstStyle/>
          <a:p>
            <a:pPr marL="228600" indent="-228600">
              <a:buAutoNum type="arabicPeriod"/>
            </a:pPr>
            <a:endParaRPr lang="en-US" dirty="0"/>
          </a:p>
        </p:txBody>
      </p:sp>
      <p:sp>
        <p:nvSpPr>
          <p:cNvPr id="4" name="Slide Number Placeholder 3">
            <a:extLst>
              <a:ext uri="{FF2B5EF4-FFF2-40B4-BE49-F238E27FC236}">
                <a16:creationId xmlns:a16="http://schemas.microsoft.com/office/drawing/2014/main" id="{1850843E-9294-D301-C38E-EC9A5838A381}"/>
              </a:ext>
            </a:extLst>
          </p:cNvPr>
          <p:cNvSpPr>
            <a:spLocks noGrp="1"/>
          </p:cNvSpPr>
          <p:nvPr>
            <p:ph type="sldNum" sz="quarter" idx="5"/>
          </p:nvPr>
        </p:nvSpPr>
        <p:spPr/>
        <p:txBody>
          <a:bodyPr/>
          <a:lstStyle/>
          <a:p>
            <a:fld id="{1300335D-9F13-4B80-ADC5-B0EA3E10FF6B}" type="slidenum">
              <a:rPr lang="en-US" smtClean="0"/>
              <a:t>6</a:t>
            </a:fld>
            <a:endParaRPr lang="en-US"/>
          </a:p>
        </p:txBody>
      </p:sp>
    </p:spTree>
    <p:extLst>
      <p:ext uri="{BB962C8B-B14F-4D97-AF65-F5344CB8AC3E}">
        <p14:creationId xmlns:p14="http://schemas.microsoft.com/office/powerpoint/2010/main" val="556426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639B45-FCD9-C2E1-5121-5C6BF4C998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94D143-DDA1-96A8-FAFB-F9C6B37BA7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41BDB9-9282-E5F0-D75A-94F61F4D72DC}"/>
              </a:ext>
            </a:extLst>
          </p:cNvPr>
          <p:cNvSpPr>
            <a:spLocks noGrp="1"/>
          </p:cNvSpPr>
          <p:nvPr>
            <p:ph type="body" idx="1"/>
          </p:nvPr>
        </p:nvSpPr>
        <p:spPr/>
        <p:txBody>
          <a:bodyPr/>
          <a:lstStyle/>
          <a:p>
            <a:pPr marL="228600" indent="-228600">
              <a:buAutoNum type="arabicPeriod"/>
            </a:pPr>
            <a:endParaRPr lang="en-US" dirty="0"/>
          </a:p>
        </p:txBody>
      </p:sp>
      <p:sp>
        <p:nvSpPr>
          <p:cNvPr id="4" name="Slide Number Placeholder 3">
            <a:extLst>
              <a:ext uri="{FF2B5EF4-FFF2-40B4-BE49-F238E27FC236}">
                <a16:creationId xmlns:a16="http://schemas.microsoft.com/office/drawing/2014/main" id="{ECD23788-BD0E-83B3-6825-80BAEA177181}"/>
              </a:ext>
            </a:extLst>
          </p:cNvPr>
          <p:cNvSpPr>
            <a:spLocks noGrp="1"/>
          </p:cNvSpPr>
          <p:nvPr>
            <p:ph type="sldNum" sz="quarter" idx="5"/>
          </p:nvPr>
        </p:nvSpPr>
        <p:spPr/>
        <p:txBody>
          <a:bodyPr/>
          <a:lstStyle/>
          <a:p>
            <a:fld id="{1300335D-9F13-4B80-ADC5-B0EA3E10FF6B}" type="slidenum">
              <a:rPr lang="en-US" smtClean="0"/>
              <a:t>7</a:t>
            </a:fld>
            <a:endParaRPr lang="en-US"/>
          </a:p>
        </p:txBody>
      </p:sp>
    </p:spTree>
    <p:extLst>
      <p:ext uri="{BB962C8B-B14F-4D97-AF65-F5344CB8AC3E}">
        <p14:creationId xmlns:p14="http://schemas.microsoft.com/office/powerpoint/2010/main" val="20553819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work with individuals, teams, and organizations at different levels, but the philosophy is always the same: reduce chaos, increase clarity, and build workflows that actually hold up over time. For individuals, this usually means self-paced courses or live workshops focused not just on learning features, but on developing judgment — understanding when to use formulas, Power Query, Python, or Copilot, and when not to. The emphasis is on clarity, maintainability, and confidence, so people feel more capable rather than more dependent on tools or experts. With teams, the work becomes more applied and workflow-driven, focusing on practical corporate training that helps reduce errors, rework, and fragile one-off fixes by applying modern Excel patterns to real business processes. At the organizational level, this often takes the form of a guided, multi-week modernization program where teams learn to build pipelines, automation, and documentation around Excel-based systems, with the goal of creating reliable, auditable workflows and true internal ownership rather than reliance on individual hero analysts.</a:t>
            </a:r>
          </a:p>
        </p:txBody>
      </p:sp>
      <p:sp>
        <p:nvSpPr>
          <p:cNvPr id="4" name="Slide Number Placeholder 3"/>
          <p:cNvSpPr>
            <a:spLocks noGrp="1"/>
          </p:cNvSpPr>
          <p:nvPr>
            <p:ph type="sldNum" sz="quarter" idx="5"/>
          </p:nvPr>
        </p:nvSpPr>
        <p:spPr/>
        <p:txBody>
          <a:bodyPr/>
          <a:lstStyle/>
          <a:p>
            <a:fld id="{1053C468-B4D7-40C4-885B-735937C382A2}" type="slidenum">
              <a:rPr lang="en-US" smtClean="0"/>
              <a:t>10</a:t>
            </a:fld>
            <a:endParaRPr lang="en-US"/>
          </a:p>
        </p:txBody>
      </p:sp>
    </p:spTree>
    <p:extLst>
      <p:ext uri="{BB962C8B-B14F-4D97-AF65-F5344CB8AC3E}">
        <p14:creationId xmlns:p14="http://schemas.microsoft.com/office/powerpoint/2010/main" val="41228936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a PDF guide of this in </a:t>
            </a:r>
            <a:r>
              <a:rPr lang="en-US"/>
              <a:t>the downloads</a:t>
            </a:r>
          </a:p>
        </p:txBody>
      </p:sp>
      <p:sp>
        <p:nvSpPr>
          <p:cNvPr id="4" name="Slide Number Placeholder 3"/>
          <p:cNvSpPr>
            <a:spLocks noGrp="1"/>
          </p:cNvSpPr>
          <p:nvPr>
            <p:ph type="sldNum" sz="quarter" idx="5"/>
          </p:nvPr>
        </p:nvSpPr>
        <p:spPr/>
        <p:txBody>
          <a:bodyPr/>
          <a:lstStyle/>
          <a:p>
            <a:fld id="{FFB500C5-13F7-48FC-8160-C29AECF6C602}" type="slidenum">
              <a:rPr lang="en-US" smtClean="0"/>
              <a:t>11</a:t>
            </a:fld>
            <a:endParaRPr lang="en-US"/>
          </a:p>
        </p:txBody>
      </p:sp>
    </p:spTree>
    <p:extLst>
      <p:ext uri="{BB962C8B-B14F-4D97-AF65-F5344CB8AC3E}">
        <p14:creationId xmlns:p14="http://schemas.microsoft.com/office/powerpoint/2010/main" val="19585015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7" Type="http://schemas.openxmlformats.org/officeDocument/2006/relationships/image" Target="../media/image8.jpeg"/><Relationship Id="rId2" Type="http://schemas.openxmlformats.org/officeDocument/2006/relationships/image" Target="../media/image3.jpeg"/><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e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swiy.co/mxldd" TargetMode="Externa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1.xml.rels><?xml version="1.0" encoding="UTF-8" standalone="yes"?>
<Relationships xmlns="http://schemas.openxmlformats.org/package/2006/relationships"><Relationship Id="rId8" Type="http://schemas.openxmlformats.org/officeDocument/2006/relationships/hyperlink" Target="https://stringfestdata.gumroad.com/l/mxlais" TargetMode="External"/><Relationship Id="rId3" Type="http://schemas.openxmlformats.org/officeDocument/2006/relationships/hyperlink" Target="https://stringfestdata.gumroad.com/l/sniqtn?layout=profile" TargetMode="External"/><Relationship Id="rId7" Type="http://schemas.openxmlformats.org/officeDocument/2006/relationships/hyperlink" Target="https://www.eventbrite.com/o/stringfest-analytics-34157163075"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hyperlink" Target="https://www.oreilly.com/pub/au/7969" TargetMode="External"/><Relationship Id="rId5" Type="http://schemas.openxmlformats.org/officeDocument/2006/relationships/hyperlink" Target="https://www.linkedin.com/learning/instructors/george-mount" TargetMode="External"/><Relationship Id="rId4" Type="http://schemas.openxmlformats.org/officeDocument/2006/relationships/hyperlink" Target="https://stringfestdata.gumroad.com/l/pie-qw?layout=profile" TargetMode="External"/><Relationship Id="rId9" Type="http://schemas.openxmlformats.org/officeDocument/2006/relationships/image" Target="../media/image9.png"/></Relationships>
</file>

<file path=ppt/slides/_rels/slide12.xml.rels><?xml version="1.0" encoding="UTF-8" standalone="yes"?>
<Relationships xmlns="http://schemas.openxmlformats.org/package/2006/relationships"><Relationship Id="rId3" Type="http://schemas.openxmlformats.org/officeDocument/2006/relationships/hyperlink" Target="https://www.linkedin.com/in/gjmount/" TargetMode="External"/><Relationship Id="rId2" Type="http://schemas.openxmlformats.org/officeDocument/2006/relationships/hyperlink" Target="https://stringfestanalytics.com/" TargetMode="Externa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stringfestdata.gumroad.com/l/mxlais?layout=profile" TargetMode="Externa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stringfestanalytics.com/book-me/" TargetMode="Externa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1.png"/><Relationship Id="rId1" Type="http://schemas.openxmlformats.org/officeDocument/2006/relationships/slideLayout" Target="../slideLayouts/slideLayout1.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a:blip r:embed="rId3">
            <a:extLst>
              <a:ext uri="{28A0092B-C50C-407E-A947-70E740481C1C}">
                <a14:useLocalDpi xmlns:a14="http://schemas.microsoft.com/office/drawing/2010/main" val="0"/>
              </a:ext>
            </a:extLst>
          </a:blip>
          <a:srcRect/>
          <a:stretch/>
        </p:blipFill>
        <p:spPr>
          <a:xfrm>
            <a:off x="13542796" y="4850092"/>
            <a:ext cx="4745204" cy="5435819"/>
          </a:xfrm>
          <a:prstGeom prst="rect">
            <a:avLst/>
          </a:prstGeom>
        </p:spPr>
      </p:pic>
      <p:pic>
        <p:nvPicPr>
          <p:cNvPr id="4" name="Picture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4400" y="-3440159"/>
            <a:ext cx="15257208" cy="11189825"/>
          </a:xfrm>
          <a:prstGeom prst="rect">
            <a:avLst/>
          </a:prstGeom>
        </p:spPr>
      </p:pic>
      <p:sp>
        <p:nvSpPr>
          <p:cNvPr id="11" name="TextBox 10"/>
          <p:cNvSpPr txBox="1"/>
          <p:nvPr/>
        </p:nvSpPr>
        <p:spPr>
          <a:xfrm>
            <a:off x="486137" y="2531318"/>
            <a:ext cx="11979797" cy="923330"/>
          </a:xfrm>
          <a:prstGeom prst="rect">
            <a:avLst/>
          </a:prstGeom>
          <a:noFill/>
        </p:spPr>
        <p:txBody>
          <a:bodyPr wrap="square" rtlCol="0">
            <a:spAutoFit/>
          </a:bodyPr>
          <a:lstStyle/>
          <a:p>
            <a:r>
              <a:rPr lang="en-US" sz="5400" b="1">
                <a:solidFill>
                  <a:srgbClr val="CF3338"/>
                </a:solidFill>
                <a:latin typeface="Pragmatica" panose="020B0403040502020204" pitchFamily="34" charset="0"/>
              </a:rPr>
              <a:t>Modern Excel Demo Day</a:t>
            </a:r>
            <a:endParaRPr lang="en-US" sz="5400" b="1" dirty="0">
              <a:solidFill>
                <a:srgbClr val="CF3338"/>
              </a:solidFill>
              <a:latin typeface="Pragmatica" panose="020B0403040502020204" pitchFamily="34" charset="0"/>
            </a:endParaRPr>
          </a:p>
        </p:txBody>
      </p:sp>
      <p:sp>
        <p:nvSpPr>
          <p:cNvPr id="2" name="AutoShape 2" descr="Home | Full Stack Modeller">
            <a:extLst>
              <a:ext uri="{FF2B5EF4-FFF2-40B4-BE49-F238E27FC236}">
                <a16:creationId xmlns:a16="http://schemas.microsoft.com/office/drawing/2014/main" id="{6CCAA77C-4E76-640C-066C-F3E39EE1AC92}"/>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3556591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0"/>
            <a:ext cx="1828800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TextBox 4"/>
          <p:cNvSpPr txBox="1"/>
          <p:nvPr/>
        </p:nvSpPr>
        <p:spPr>
          <a:xfrm>
            <a:off x="781292" y="590309"/>
            <a:ext cx="15486926" cy="1615827"/>
          </a:xfrm>
          <a:prstGeom prst="rect">
            <a:avLst/>
          </a:prstGeom>
          <a:noFill/>
        </p:spPr>
        <p:txBody>
          <a:bodyPr wrap="square" rtlCol="0">
            <a:spAutoFit/>
          </a:bodyPr>
          <a:lstStyle/>
          <a:p>
            <a:r>
              <a:rPr lang="en-US" sz="9900" b="1" dirty="0">
                <a:solidFill>
                  <a:schemeClr val="bg1"/>
                </a:solidFill>
                <a:latin typeface="Normafixed Tryout" panose="00000409000000000000" pitchFamily="49" charset="0"/>
              </a:rPr>
              <a:t>Welcome!</a:t>
            </a:r>
          </a:p>
        </p:txBody>
      </p:sp>
      <p:pic>
        <p:nvPicPr>
          <p:cNvPr id="3" name="Picture 4" descr="Advancing into Analytics Cover Image">
            <a:extLst>
              <a:ext uri="{FF2B5EF4-FFF2-40B4-BE49-F238E27FC236}">
                <a16:creationId xmlns:a16="http://schemas.microsoft.com/office/drawing/2014/main" id="{588F684B-18EF-D76C-5F7B-15E4BAD6064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077075" y="195640"/>
            <a:ext cx="3130385" cy="408866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6" descr="Free photos of Cleveland">
            <a:extLst>
              <a:ext uri="{FF2B5EF4-FFF2-40B4-BE49-F238E27FC236}">
                <a16:creationId xmlns:a16="http://schemas.microsoft.com/office/drawing/2014/main" id="{CBA53EEE-E3E1-D99E-A4DC-1C4DD2E6CE4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95692" y="2968810"/>
            <a:ext cx="5535359" cy="368447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Logo&#10;&#10;Description automatically generated">
            <a:extLst>
              <a:ext uri="{FF2B5EF4-FFF2-40B4-BE49-F238E27FC236}">
                <a16:creationId xmlns:a16="http://schemas.microsoft.com/office/drawing/2014/main" id="{97E0F267-87DF-961E-1FAA-47FD4F27A5C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683691" y="6002696"/>
            <a:ext cx="7448309" cy="5462681"/>
          </a:xfrm>
          <a:prstGeom prst="rect">
            <a:avLst/>
          </a:prstGeom>
        </p:spPr>
      </p:pic>
      <p:pic>
        <p:nvPicPr>
          <p:cNvPr id="1026" name="Picture 2" descr="Modern data analytics in Excel book cover">
            <a:extLst>
              <a:ext uri="{FF2B5EF4-FFF2-40B4-BE49-F238E27FC236}">
                <a16:creationId xmlns:a16="http://schemas.microsoft.com/office/drawing/2014/main" id="{874ADA5E-A7A7-1D02-C728-513187DE1EF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321136" y="2210054"/>
            <a:ext cx="3437261" cy="450799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Microsoft Most Valuable Professional - Wikipedia">
            <a:extLst>
              <a:ext uri="{FF2B5EF4-FFF2-40B4-BE49-F238E27FC236}">
                <a16:creationId xmlns:a16="http://schemas.microsoft.com/office/drawing/2014/main" id="{36C71929-5967-B93D-05FE-E330D621C59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84642" y="7832951"/>
            <a:ext cx="5057775" cy="202882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Thais Cooke on LinkedIn: #linkedinlearninginstructor #linkedinlearning | 82  comments">
            <a:extLst>
              <a:ext uri="{FF2B5EF4-FFF2-40B4-BE49-F238E27FC236}">
                <a16:creationId xmlns:a16="http://schemas.microsoft.com/office/drawing/2014/main" id="{2E3C0D6C-F7C9-F3C4-3BAA-FF34E086E7E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4478000" y="5312978"/>
            <a:ext cx="333375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729011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0"/>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What to expect today</a:t>
            </a:r>
          </a:p>
        </p:txBody>
      </p:sp>
      <p:sp>
        <p:nvSpPr>
          <p:cNvPr id="3" name="TextBox 2"/>
          <p:cNvSpPr txBox="1"/>
          <p:nvPr/>
        </p:nvSpPr>
        <p:spPr>
          <a:xfrm>
            <a:off x="520861" y="3191948"/>
            <a:ext cx="14393120" cy="258532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Practical Excel demos</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Transparent look at my services and offerings</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Referral program &amp; bonus resources</a:t>
            </a:r>
          </a:p>
        </p:txBody>
      </p:sp>
      <p:pic>
        <p:nvPicPr>
          <p:cNvPr id="15" name="Picture 14" descr="A close up of a sign&#10;&#10;Description automatically generated">
            <a:extLst>
              <a:ext uri="{FF2B5EF4-FFF2-40B4-BE49-F238E27FC236}">
                <a16:creationId xmlns:a16="http://schemas.microsoft.com/office/drawing/2014/main" id="{29761B90-A7DE-4A60-A915-F085BD87CA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7870763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A9E9DD-6C52-11D7-FF34-4264EA227251}"/>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E34997D2-521B-C2AB-A68A-2EB202160AAF}"/>
              </a:ext>
            </a:extLst>
          </p:cNvPr>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Resources for today</a:t>
            </a:r>
          </a:p>
        </p:txBody>
      </p:sp>
      <p:sp>
        <p:nvSpPr>
          <p:cNvPr id="3" name="TextBox 2">
            <a:extLst>
              <a:ext uri="{FF2B5EF4-FFF2-40B4-BE49-F238E27FC236}">
                <a16:creationId xmlns:a16="http://schemas.microsoft.com/office/drawing/2014/main" id="{0770AD58-6393-FAA1-1B49-C4E35BD89376}"/>
              </a:ext>
            </a:extLst>
          </p:cNvPr>
          <p:cNvSpPr txBox="1"/>
          <p:nvPr/>
        </p:nvSpPr>
        <p:spPr>
          <a:xfrm>
            <a:off x="520861" y="3191948"/>
            <a:ext cx="14393120" cy="3046988"/>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9600" dirty="0">
                <a:solidFill>
                  <a:srgbClr val="707070"/>
                </a:solidFill>
                <a:latin typeface="Pragmatica" panose="020B0403040502020204" pitchFamily="34" charset="0"/>
              </a:rPr>
              <a:t>Download at </a:t>
            </a:r>
            <a:r>
              <a:rPr lang="en-US" sz="9600" dirty="0">
                <a:solidFill>
                  <a:srgbClr val="CF3338"/>
                </a:solidFill>
                <a:latin typeface="Pragmatica" panose="020B0403040502020204" pitchFamily="34" charset="0"/>
                <a:hlinkClick r:id="rId2">
                  <a:extLst>
                    <a:ext uri="{A12FA001-AC4F-418D-AE19-62706E023703}">
                      <ahyp:hlinkClr xmlns:ahyp="http://schemas.microsoft.com/office/drawing/2018/hyperlinkcolor" val="tx"/>
                    </a:ext>
                  </a:extLst>
                </a:hlinkClick>
              </a:rPr>
              <a:t>https://swiy.co/mxldd</a:t>
            </a:r>
            <a:r>
              <a:rPr lang="en-US" sz="9600" dirty="0">
                <a:solidFill>
                  <a:srgbClr val="CF3338"/>
                </a:solidFill>
                <a:latin typeface="Pragmatica" panose="020B0403040502020204" pitchFamily="34" charset="0"/>
              </a:rPr>
              <a:t> </a:t>
            </a:r>
          </a:p>
        </p:txBody>
      </p:sp>
      <p:pic>
        <p:nvPicPr>
          <p:cNvPr id="15" name="Picture 14" descr="A close up of a sign&#10;&#10;Description automatically generated">
            <a:extLst>
              <a:ext uri="{FF2B5EF4-FFF2-40B4-BE49-F238E27FC236}">
                <a16:creationId xmlns:a16="http://schemas.microsoft.com/office/drawing/2014/main" id="{9B8F3280-B18F-CF7A-E13E-97BB5CDA86E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13214590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p:cNvSpPr txBox="1"/>
          <p:nvPr/>
        </p:nvSpPr>
        <p:spPr>
          <a:xfrm>
            <a:off x="260431" y="329879"/>
            <a:ext cx="8906720" cy="7561557"/>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Quick Win #1: Reliable Data Inputs with Excel Tables</a:t>
            </a:r>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endParaRPr lang="en-US" sz="3600" dirty="0">
              <a:solidFill>
                <a:srgbClr val="C00000"/>
              </a:solidFill>
              <a:latin typeface="Pragmatica" panose="020B0403040502020204"/>
              <a:sym typeface="Consolas"/>
            </a:endParaRP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Problem: Manual range updates and formatting chaos</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Demo: Transform ranges into smart Excel Tables</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Result: Faster, cleaner spreadsheets</a:t>
            </a:r>
          </a:p>
        </p:txBody>
      </p:sp>
    </p:spTree>
    <p:extLst>
      <p:ext uri="{BB962C8B-B14F-4D97-AF65-F5344CB8AC3E}">
        <p14:creationId xmlns:p14="http://schemas.microsoft.com/office/powerpoint/2010/main" val="38715317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8B0BA-2457-E883-9B94-9EF4CB53F46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B2669EB-FDD3-FD04-8DC6-CC0F1E621197}"/>
              </a:ext>
            </a:extLst>
          </p:cNvPr>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a:extLst>
              <a:ext uri="{FF2B5EF4-FFF2-40B4-BE49-F238E27FC236}">
                <a16:creationId xmlns:a16="http://schemas.microsoft.com/office/drawing/2014/main" id="{1AF1603A-5226-7133-332B-9ED91B061A51}"/>
              </a:ext>
            </a:extLst>
          </p:cNvPr>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a:extLst>
              <a:ext uri="{FF2B5EF4-FFF2-40B4-BE49-F238E27FC236}">
                <a16:creationId xmlns:a16="http://schemas.microsoft.com/office/drawing/2014/main" id="{3A1F1624-DFBB-B741-F011-B1F4773062C8}"/>
              </a:ext>
            </a:extLst>
          </p:cNvPr>
          <p:cNvSpPr txBox="1"/>
          <p:nvPr/>
        </p:nvSpPr>
        <p:spPr>
          <a:xfrm>
            <a:off x="260431" y="329879"/>
            <a:ext cx="8906720" cy="8045279"/>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Quick Win #2: Analyze Data (AI in Excel… No Copilot Needed!)</a:t>
            </a:r>
            <a:br>
              <a:rPr lang="en-US" sz="6000" b="1" dirty="0">
                <a:solidFill>
                  <a:srgbClr val="CF3338"/>
                </a:solidFill>
                <a:latin typeface="Pragmatica" panose="020B0403040502020204" pitchFamily="34" charset="0"/>
              </a:rPr>
            </a:br>
            <a:endParaRPr lang="en-US" sz="3600" dirty="0">
              <a:solidFill>
                <a:srgbClr val="C00000"/>
              </a:solidFill>
              <a:latin typeface="Pragmatica" panose="020B0403040502020204"/>
              <a:sym typeface="Consolas"/>
            </a:endParaRP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Problem: Overwhelmed by large datasets</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Demo: Get instant AI-powered insights from Excel’s Analyze Data</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Result: Quick, actionable analysis… no formulas required</a:t>
            </a:r>
          </a:p>
        </p:txBody>
      </p:sp>
    </p:spTree>
    <p:extLst>
      <p:ext uri="{BB962C8B-B14F-4D97-AF65-F5344CB8AC3E}">
        <p14:creationId xmlns:p14="http://schemas.microsoft.com/office/powerpoint/2010/main" val="37108753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1A27C-8894-1039-C10D-49DEF731C87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9AA0A13-9A6F-743A-214C-42DDAEB6B116}"/>
              </a:ext>
            </a:extLst>
          </p:cNvPr>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a:extLst>
              <a:ext uri="{FF2B5EF4-FFF2-40B4-BE49-F238E27FC236}">
                <a16:creationId xmlns:a16="http://schemas.microsoft.com/office/drawing/2014/main" id="{CE70788E-B0DE-D358-5D84-0751068117D4}"/>
              </a:ext>
            </a:extLst>
          </p:cNvPr>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a:extLst>
              <a:ext uri="{FF2B5EF4-FFF2-40B4-BE49-F238E27FC236}">
                <a16:creationId xmlns:a16="http://schemas.microsoft.com/office/drawing/2014/main" id="{DDDA3F19-3713-EED4-6645-27996F2BE4BF}"/>
              </a:ext>
            </a:extLst>
          </p:cNvPr>
          <p:cNvSpPr txBox="1"/>
          <p:nvPr/>
        </p:nvSpPr>
        <p:spPr>
          <a:xfrm>
            <a:off x="260431" y="329879"/>
            <a:ext cx="8906720" cy="8054000"/>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Quick Win #3: Power Query Data Cleanup</a:t>
            </a:r>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endParaRPr lang="en-US" sz="3600" dirty="0">
              <a:solidFill>
                <a:srgbClr val="C00000"/>
              </a:solidFill>
              <a:latin typeface="Pragmatica" panose="020B0403040502020204"/>
              <a:sym typeface="Consolas"/>
            </a:endParaRP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Problem: Repetitive, error-prone data prep</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Demo: Automate data cleaning with Power Query</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Result: Reliable, repeatable data workflows.. AND better analysis results!</a:t>
            </a:r>
          </a:p>
        </p:txBody>
      </p:sp>
    </p:spTree>
    <p:extLst>
      <p:ext uri="{BB962C8B-B14F-4D97-AF65-F5344CB8AC3E}">
        <p14:creationId xmlns:p14="http://schemas.microsoft.com/office/powerpoint/2010/main" val="35953466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07818-29D2-F5F6-BFE3-AC95409C3FDA}"/>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B2629BB8-6DE7-E426-3AFF-CFA5F3FBCCF4}"/>
              </a:ext>
            </a:extLst>
          </p:cNvPr>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Recap</a:t>
            </a:r>
          </a:p>
        </p:txBody>
      </p:sp>
      <p:sp>
        <p:nvSpPr>
          <p:cNvPr id="3" name="TextBox 2">
            <a:extLst>
              <a:ext uri="{FF2B5EF4-FFF2-40B4-BE49-F238E27FC236}">
                <a16:creationId xmlns:a16="http://schemas.microsoft.com/office/drawing/2014/main" id="{84647282-4EAE-D08B-0199-F568519F58C3}"/>
              </a:ext>
            </a:extLst>
          </p:cNvPr>
          <p:cNvSpPr txBox="1"/>
          <p:nvPr/>
        </p:nvSpPr>
        <p:spPr>
          <a:xfrm>
            <a:off x="520861" y="3191948"/>
            <a:ext cx="14393120" cy="258532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Tables → Structured efficiency</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Power Query → Automated data prep</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Analyze Data → Instant insights</a:t>
            </a:r>
          </a:p>
        </p:txBody>
      </p:sp>
      <p:pic>
        <p:nvPicPr>
          <p:cNvPr id="15" name="Picture 14" descr="A close up of a sign&#10;&#10;Description automatically generated">
            <a:extLst>
              <a:ext uri="{FF2B5EF4-FFF2-40B4-BE49-F238E27FC236}">
                <a16:creationId xmlns:a16="http://schemas.microsoft.com/office/drawing/2014/main" id="{C54442A3-1184-472E-336C-0DB56D7A71D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11387478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323C9-D5F7-C820-78B9-E169BDF2311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8971779-1F50-1702-DEC1-87CD482189F0}"/>
              </a:ext>
            </a:extLst>
          </p:cNvPr>
          <p:cNvSpPr/>
          <p:nvPr/>
        </p:nvSpPr>
        <p:spPr>
          <a:xfrm>
            <a:off x="0" y="0"/>
            <a:ext cx="18288000" cy="10287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TextBox 4">
            <a:extLst>
              <a:ext uri="{FF2B5EF4-FFF2-40B4-BE49-F238E27FC236}">
                <a16:creationId xmlns:a16="http://schemas.microsoft.com/office/drawing/2014/main" id="{5ECC4C7B-C529-5329-03AC-796804551DC1}"/>
              </a:ext>
            </a:extLst>
          </p:cNvPr>
          <p:cNvSpPr txBox="1"/>
          <p:nvPr/>
        </p:nvSpPr>
        <p:spPr>
          <a:xfrm>
            <a:off x="781292" y="590309"/>
            <a:ext cx="15486926" cy="1615827"/>
          </a:xfrm>
          <a:prstGeom prst="rect">
            <a:avLst/>
          </a:prstGeom>
          <a:noFill/>
        </p:spPr>
        <p:txBody>
          <a:bodyPr wrap="square" rtlCol="0">
            <a:spAutoFit/>
          </a:bodyPr>
          <a:lstStyle/>
          <a:p>
            <a:r>
              <a:rPr lang="en-US" sz="9900" b="1" dirty="0">
                <a:solidFill>
                  <a:schemeClr val="bg1"/>
                </a:solidFill>
                <a:latin typeface="Normafixed Tryout" panose="00000409000000000000" pitchFamily="49" charset="0"/>
              </a:rPr>
              <a:t>My offerings at a glance</a:t>
            </a:r>
          </a:p>
        </p:txBody>
      </p:sp>
    </p:spTree>
    <p:extLst>
      <p:ext uri="{BB962C8B-B14F-4D97-AF65-F5344CB8AC3E}">
        <p14:creationId xmlns:p14="http://schemas.microsoft.com/office/powerpoint/2010/main" val="6578290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550FB3-E2D7-1660-BAD7-9582BABBCCC9}"/>
              </a:ext>
            </a:extLst>
          </p:cNvPr>
          <p:cNvSpPr>
            <a:spLocks noGrp="1"/>
          </p:cNvSpPr>
          <p:nvPr>
            <p:ph type="title"/>
          </p:nvPr>
        </p:nvSpPr>
        <p:spPr>
          <a:xfrm>
            <a:off x="1257300" y="547689"/>
            <a:ext cx="15773400" cy="1116807"/>
          </a:xfrm>
        </p:spPr>
        <p:txBody>
          <a:bodyPr>
            <a:normAutofit/>
          </a:bodyPr>
          <a:lstStyle/>
          <a:p>
            <a:r>
              <a:rPr lang="en-US" sz="5400" dirty="0"/>
              <a:t>How I work</a:t>
            </a:r>
          </a:p>
        </p:txBody>
      </p:sp>
      <p:graphicFrame>
        <p:nvGraphicFramePr>
          <p:cNvPr id="15" name="Content Placeholder 14">
            <a:extLst>
              <a:ext uri="{FF2B5EF4-FFF2-40B4-BE49-F238E27FC236}">
                <a16:creationId xmlns:a16="http://schemas.microsoft.com/office/drawing/2014/main" id="{E77C6111-36B5-9583-89F4-35827CAC7B23}"/>
              </a:ext>
            </a:extLst>
          </p:cNvPr>
          <p:cNvGraphicFramePr>
            <a:graphicFrameLocks noGrp="1"/>
          </p:cNvGraphicFramePr>
          <p:nvPr>
            <p:ph idx="1"/>
            <p:extLst>
              <p:ext uri="{D42A27DB-BD31-4B8C-83A1-F6EECF244321}">
                <p14:modId xmlns:p14="http://schemas.microsoft.com/office/powerpoint/2010/main" val="4002875284"/>
              </p:ext>
            </p:extLst>
          </p:nvPr>
        </p:nvGraphicFramePr>
        <p:xfrm>
          <a:off x="381000" y="2110224"/>
          <a:ext cx="17602200" cy="762908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327324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94E238-B928-9A45-6C07-F784EA6E2DC3}"/>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E03A3D75-7011-685D-6601-35E8D4148BB0}"/>
              </a:ext>
            </a:extLst>
          </p:cNvPr>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Not sure where to start?</a:t>
            </a:r>
          </a:p>
        </p:txBody>
      </p:sp>
      <p:sp>
        <p:nvSpPr>
          <p:cNvPr id="3" name="TextBox 2">
            <a:extLst>
              <a:ext uri="{FF2B5EF4-FFF2-40B4-BE49-F238E27FC236}">
                <a16:creationId xmlns:a16="http://schemas.microsoft.com/office/drawing/2014/main" id="{A70D9C35-08C9-2B39-29C7-C0EA500B7E30}"/>
              </a:ext>
            </a:extLst>
          </p:cNvPr>
          <p:cNvSpPr txBox="1"/>
          <p:nvPr/>
        </p:nvSpPr>
        <p:spPr>
          <a:xfrm>
            <a:off x="1143000" y="1866900"/>
            <a:ext cx="14935200" cy="6863417"/>
          </a:xfrm>
          <a:prstGeom prst="rect">
            <a:avLst/>
          </a:prstGeom>
          <a:noFill/>
        </p:spPr>
        <p:txBody>
          <a:bodyPr wrap="square" rtlCol="0">
            <a:spAutoFit/>
          </a:bodyPr>
          <a:lstStyle/>
          <a:p>
            <a:pPr marL="285750" indent="-285750">
              <a:buFont typeface="Arial" panose="020B0604020202020204" pitchFamily="34" charset="0"/>
              <a:buChar char="•"/>
            </a:pPr>
            <a:r>
              <a:rPr lang="en-US" sz="4400" dirty="0">
                <a:latin typeface="Pragmatica" panose="020B0403040502020204"/>
              </a:rPr>
              <a:t>If you’re new to Excel + AI → start with </a:t>
            </a:r>
            <a:r>
              <a:rPr lang="en-US" sz="4400" b="1" u="sng" dirty="0">
                <a:latin typeface="Pragmatica" panose="020B0403040502020204"/>
                <a:hlinkClick r:id="rId3"/>
              </a:rPr>
              <a:t>Excel Must-Knows for AI Success</a:t>
            </a:r>
            <a:r>
              <a:rPr lang="en-US" sz="4400" dirty="0">
                <a:latin typeface="Pragmatica" panose="020B0403040502020204"/>
              </a:rPr>
              <a:t> </a:t>
            </a:r>
          </a:p>
          <a:p>
            <a:pPr marL="285750" indent="-285750">
              <a:buFont typeface="Arial" panose="020B0604020202020204" pitchFamily="34" charset="0"/>
              <a:buChar char="•"/>
            </a:pPr>
            <a:r>
              <a:rPr lang="en-US" sz="4400" dirty="0">
                <a:latin typeface="Pragmatica" panose="020B0403040502020204"/>
              </a:rPr>
              <a:t>If you want to learn Python in Excel → begin with </a:t>
            </a:r>
            <a:r>
              <a:rPr lang="en-US" sz="4400" b="1" u="sng" dirty="0">
                <a:latin typeface="Pragmatica" panose="020B0403040502020204"/>
                <a:hlinkClick r:id="rId4"/>
              </a:rPr>
              <a:t>Python in Excel: Quick Wins</a:t>
            </a:r>
            <a:endParaRPr lang="en-US" sz="4400" dirty="0">
              <a:latin typeface="Pragmatica" panose="020B0403040502020204"/>
            </a:endParaRPr>
          </a:p>
          <a:p>
            <a:pPr marL="285750" indent="-285750">
              <a:buFont typeface="Arial" panose="020B0604020202020204" pitchFamily="34" charset="0"/>
              <a:buChar char="•"/>
            </a:pPr>
            <a:r>
              <a:rPr lang="en-US" sz="4400" dirty="0">
                <a:latin typeface="Pragmatica" panose="020B0403040502020204"/>
              </a:rPr>
              <a:t>If you prefer structured self-paced learning → take my </a:t>
            </a:r>
            <a:r>
              <a:rPr lang="en-US" sz="4400" b="1" u="sng" dirty="0">
                <a:latin typeface="Pragmatica" panose="020B0403040502020204"/>
                <a:hlinkClick r:id="rId5"/>
              </a:rPr>
              <a:t>LinkedIn Learning</a:t>
            </a:r>
            <a:r>
              <a:rPr lang="en-US" sz="4400" dirty="0">
                <a:latin typeface="Pragmatica" panose="020B0403040502020204"/>
              </a:rPr>
              <a:t> courses</a:t>
            </a:r>
          </a:p>
          <a:p>
            <a:pPr marL="285750" indent="-285750">
              <a:buFont typeface="Arial" panose="020B0604020202020204" pitchFamily="34" charset="0"/>
              <a:buChar char="•"/>
            </a:pPr>
            <a:r>
              <a:rPr lang="en-US" sz="4400" dirty="0">
                <a:latin typeface="Pragmatica" panose="020B0403040502020204"/>
              </a:rPr>
              <a:t>If you want live, hands-on training → join an </a:t>
            </a:r>
            <a:r>
              <a:rPr lang="en-US" sz="4400" b="1" u="sng" dirty="0">
                <a:latin typeface="Pragmatica" panose="020B0403040502020204"/>
                <a:hlinkClick r:id="rId6"/>
              </a:rPr>
              <a:t>O’Reilly</a:t>
            </a:r>
            <a:r>
              <a:rPr lang="en-US" sz="4400" dirty="0">
                <a:latin typeface="Pragmatica" panose="020B0403040502020204"/>
              </a:rPr>
              <a:t> session or </a:t>
            </a:r>
            <a:r>
              <a:rPr lang="en-US" sz="4400" b="1" u="sng" dirty="0">
                <a:latin typeface="Pragmatica" panose="020B0403040502020204"/>
                <a:hlinkClick r:id="rId7"/>
              </a:rPr>
              <a:t>Eventbrite</a:t>
            </a:r>
            <a:r>
              <a:rPr lang="en-US" sz="4400" dirty="0">
                <a:latin typeface="Pragmatica" panose="020B0403040502020204"/>
              </a:rPr>
              <a:t> workshop</a:t>
            </a:r>
          </a:p>
          <a:p>
            <a:pPr marL="285750" indent="-285750">
              <a:buFont typeface="Arial" panose="020B0604020202020204" pitchFamily="34" charset="0"/>
              <a:buChar char="•"/>
            </a:pPr>
            <a:r>
              <a:rPr lang="en-US" sz="4400" dirty="0">
                <a:latin typeface="Pragmatica" panose="020B0403040502020204"/>
              </a:rPr>
              <a:t>If you want ongoing guidance without a big course → join </a:t>
            </a:r>
            <a:r>
              <a:rPr lang="en-US" sz="4400" b="1" u="sng" dirty="0">
                <a:latin typeface="Pragmatica" panose="020B0403040502020204"/>
                <a:hlinkClick r:id="rId8"/>
              </a:rPr>
              <a:t>The Modern Excel AI Stack</a:t>
            </a:r>
            <a:r>
              <a:rPr lang="en-US" sz="4400" dirty="0">
                <a:latin typeface="Pragmatica" panose="020B0403040502020204"/>
              </a:rPr>
              <a:t> (membership)</a:t>
            </a:r>
          </a:p>
        </p:txBody>
      </p:sp>
      <p:pic>
        <p:nvPicPr>
          <p:cNvPr id="15" name="Picture 14" descr="A close up of a sign&#10;&#10;Description automatically generated">
            <a:extLst>
              <a:ext uri="{FF2B5EF4-FFF2-40B4-BE49-F238E27FC236}">
                <a16:creationId xmlns:a16="http://schemas.microsoft.com/office/drawing/2014/main" id="{BD2DCCC6-87AC-828C-1922-475B4458EAF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16918262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032428-543A-1FB6-4F74-63D34C7EE7A7}"/>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B10226A7-24F8-E564-1775-ADA2DA03E717}"/>
              </a:ext>
            </a:extLst>
          </p:cNvPr>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Free!</a:t>
            </a:r>
          </a:p>
        </p:txBody>
      </p:sp>
      <p:sp>
        <p:nvSpPr>
          <p:cNvPr id="3" name="TextBox 2">
            <a:extLst>
              <a:ext uri="{FF2B5EF4-FFF2-40B4-BE49-F238E27FC236}">
                <a16:creationId xmlns:a16="http://schemas.microsoft.com/office/drawing/2014/main" id="{AD6CB09B-7406-0F2F-D781-339748F9E539}"/>
              </a:ext>
            </a:extLst>
          </p:cNvPr>
          <p:cNvSpPr txBox="1"/>
          <p:nvPr/>
        </p:nvSpPr>
        <p:spPr>
          <a:xfrm>
            <a:off x="520861" y="3191948"/>
            <a:ext cx="14393120" cy="3785652"/>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Blog: </a:t>
            </a:r>
            <a:r>
              <a:rPr lang="en-US" sz="6000" dirty="0">
                <a:solidFill>
                  <a:srgbClr val="CF3338"/>
                </a:solidFill>
                <a:latin typeface="Pragmatica" panose="020B0403040502020204" pitchFamily="34" charset="0"/>
                <a:hlinkClick r:id="rId2">
                  <a:extLst>
                    <a:ext uri="{A12FA001-AC4F-418D-AE19-62706E023703}">
                      <ahyp:hlinkClr xmlns:ahyp="http://schemas.microsoft.com/office/drawing/2018/hyperlinkcolor" val="tx"/>
                    </a:ext>
                  </a:extLst>
                </a:hlinkClick>
              </a:rPr>
              <a:t>stringfestanalytics.com</a:t>
            </a:r>
            <a:r>
              <a:rPr lang="en-US" sz="6000" dirty="0">
                <a:solidFill>
                  <a:srgbClr val="707070"/>
                </a:solidFill>
                <a:latin typeface="Pragmatica" panose="020B0403040502020204" pitchFamily="34" charset="0"/>
              </a:rPr>
              <a:t>  </a:t>
            </a:r>
          </a:p>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Newsletter: Subscribe at blog</a:t>
            </a:r>
          </a:p>
          <a:p>
            <a:pPr marL="685800" indent="-685800">
              <a:buClr>
                <a:srgbClr val="CF3338"/>
              </a:buClr>
              <a:buFont typeface="Arial" panose="020B0604020202020204" pitchFamily="34" charset="0"/>
              <a:buChar char="•"/>
            </a:pPr>
            <a:r>
              <a:rPr lang="en-US" sz="6000" dirty="0">
                <a:solidFill>
                  <a:srgbClr val="CF3338"/>
                </a:solidFill>
                <a:latin typeface="Pragmatica" panose="020B0403040502020204" pitchFamily="34" charset="0"/>
                <a:hlinkClick r:id="rId3">
                  <a:extLst>
                    <a:ext uri="{A12FA001-AC4F-418D-AE19-62706E023703}">
                      <ahyp:hlinkClr xmlns:ahyp="http://schemas.microsoft.com/office/drawing/2018/hyperlinkcolor" val="tx"/>
                    </a:ext>
                  </a:extLst>
                </a:hlinkClick>
              </a:rPr>
              <a:t>LinkedIn</a:t>
            </a:r>
            <a:r>
              <a:rPr lang="en-US" sz="6000" dirty="0">
                <a:solidFill>
                  <a:srgbClr val="707070"/>
                </a:solidFill>
                <a:latin typeface="Pragmatica" panose="020B0403040502020204" pitchFamily="34" charset="0"/>
              </a:rPr>
              <a:t>: Follow for daily(</a:t>
            </a:r>
            <a:r>
              <a:rPr lang="en-US" sz="6000" dirty="0" err="1">
                <a:solidFill>
                  <a:srgbClr val="707070"/>
                </a:solidFill>
                <a:latin typeface="Pragmatica" panose="020B0403040502020204" pitchFamily="34" charset="0"/>
              </a:rPr>
              <a:t>ish</a:t>
            </a:r>
            <a:r>
              <a:rPr lang="en-US" sz="6000" dirty="0">
                <a:solidFill>
                  <a:srgbClr val="707070"/>
                </a:solidFill>
                <a:latin typeface="Pragmatica" panose="020B0403040502020204" pitchFamily="34" charset="0"/>
              </a:rPr>
              <a:t>) free resources</a:t>
            </a:r>
          </a:p>
        </p:txBody>
      </p:sp>
      <p:pic>
        <p:nvPicPr>
          <p:cNvPr id="15" name="Picture 14" descr="A close up of a sign&#10;&#10;Description automatically generated">
            <a:extLst>
              <a:ext uri="{FF2B5EF4-FFF2-40B4-BE49-F238E27FC236}">
                <a16:creationId xmlns:a16="http://schemas.microsoft.com/office/drawing/2014/main" id="{0FC37808-A34B-5C68-C9BC-F79DB06A951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28250199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EC324-F127-034F-789B-5A7053A9EA42}"/>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6CFC538D-387E-3B37-334C-F0DA73611E0F}"/>
              </a:ext>
            </a:extLst>
          </p:cNvPr>
          <p:cNvSpPr txBox="1"/>
          <p:nvPr/>
        </p:nvSpPr>
        <p:spPr>
          <a:xfrm>
            <a:off x="520861" y="170082"/>
            <a:ext cx="11979797" cy="2308324"/>
          </a:xfrm>
          <a:prstGeom prst="rect">
            <a:avLst/>
          </a:prstGeom>
          <a:noFill/>
        </p:spPr>
        <p:txBody>
          <a:bodyPr wrap="square" rtlCol="0">
            <a:spAutoFit/>
          </a:bodyPr>
          <a:lstStyle/>
          <a:p>
            <a:r>
              <a:rPr lang="en-US" sz="7200" dirty="0">
                <a:latin typeface="Aliens &amp; cows" panose="00000500000000000000" pitchFamily="2" charset="0"/>
              </a:rPr>
              <a:t>Recurring insights with my membership!</a:t>
            </a:r>
          </a:p>
        </p:txBody>
      </p:sp>
      <p:sp>
        <p:nvSpPr>
          <p:cNvPr id="3" name="TextBox 2">
            <a:extLst>
              <a:ext uri="{FF2B5EF4-FFF2-40B4-BE49-F238E27FC236}">
                <a16:creationId xmlns:a16="http://schemas.microsoft.com/office/drawing/2014/main" id="{0938EDF8-7875-694D-9006-A4377D8A6033}"/>
              </a:ext>
            </a:extLst>
          </p:cNvPr>
          <p:cNvSpPr txBox="1"/>
          <p:nvPr/>
        </p:nvSpPr>
        <p:spPr>
          <a:xfrm>
            <a:off x="520861" y="3191948"/>
            <a:ext cx="7480139" cy="7478970"/>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6000" dirty="0">
                <a:solidFill>
                  <a:srgbClr val="CF3338"/>
                </a:solidFill>
                <a:latin typeface="Pragmatica" panose="020B0403040502020204" pitchFamily="34" charset="0"/>
                <a:hlinkClick r:id="rId2">
                  <a:extLst>
                    <a:ext uri="{A12FA001-AC4F-418D-AE19-62706E023703}">
                      <ahyp:hlinkClr xmlns:ahyp="http://schemas.microsoft.com/office/drawing/2018/hyperlinkcolor" val="tx"/>
                    </a:ext>
                  </a:extLst>
                </a:hlinkClick>
              </a:rPr>
              <a:t>stringfestdata.gumroad.com/l/</a:t>
            </a:r>
            <a:r>
              <a:rPr lang="en-US" sz="6000" dirty="0" err="1">
                <a:solidFill>
                  <a:srgbClr val="CF3338"/>
                </a:solidFill>
                <a:latin typeface="Pragmatica" panose="020B0403040502020204" pitchFamily="34" charset="0"/>
                <a:hlinkClick r:id="rId2">
                  <a:extLst>
                    <a:ext uri="{A12FA001-AC4F-418D-AE19-62706E023703}">
                      <ahyp:hlinkClr xmlns:ahyp="http://schemas.microsoft.com/office/drawing/2018/hyperlinkcolor" val="tx"/>
                    </a:ext>
                  </a:extLst>
                </a:hlinkClick>
              </a:rPr>
              <a:t>mxlais</a:t>
            </a:r>
            <a:endParaRPr lang="en-US" sz="6000" dirty="0">
              <a:solidFill>
                <a:srgbClr val="CF3338"/>
              </a:solidFill>
              <a:latin typeface="Pragmatica" panose="020B0403040502020204" pitchFamily="34" charset="0"/>
            </a:endParaRPr>
          </a:p>
          <a:p>
            <a:pPr marL="685800" indent="-685800">
              <a:buClr>
                <a:srgbClr val="CF3338"/>
              </a:buClr>
              <a:buFont typeface="Arial" panose="020B0604020202020204" pitchFamily="34" charset="0"/>
              <a:buChar char="•"/>
            </a:pPr>
            <a:r>
              <a:rPr lang="en-US" sz="6000" dirty="0">
                <a:solidFill>
                  <a:srgbClr val="CF3338"/>
                </a:solidFill>
                <a:latin typeface="Pragmatica" panose="020B0403040502020204" pitchFamily="34" charset="0"/>
              </a:rPr>
              <a:t>Monthly updates on what actually matters in AI-powered Excel &amp; friends</a:t>
            </a:r>
          </a:p>
          <a:p>
            <a:pPr marL="685800" indent="-685800">
              <a:buClr>
                <a:srgbClr val="CF3338"/>
              </a:buClr>
              <a:buFont typeface="Arial" panose="020B0604020202020204" pitchFamily="34" charset="0"/>
              <a:buChar char="•"/>
            </a:pPr>
            <a:endParaRPr lang="en-US" sz="6000" dirty="0">
              <a:solidFill>
                <a:srgbClr val="CF3338"/>
              </a:solidFill>
              <a:latin typeface="Pragmatica" panose="020B0403040502020204" pitchFamily="34" charset="0"/>
            </a:endParaRPr>
          </a:p>
        </p:txBody>
      </p:sp>
      <p:pic>
        <p:nvPicPr>
          <p:cNvPr id="15" name="Picture 14" descr="A close up of a sign&#10;&#10;Description automatically generated">
            <a:extLst>
              <a:ext uri="{FF2B5EF4-FFF2-40B4-BE49-F238E27FC236}">
                <a16:creationId xmlns:a16="http://schemas.microsoft.com/office/drawing/2014/main" id="{DC2C381A-C4F4-6B52-5F4D-223BA763C7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pic>
        <p:nvPicPr>
          <p:cNvPr id="2" name="Picture 1">
            <a:extLst>
              <a:ext uri="{FF2B5EF4-FFF2-40B4-BE49-F238E27FC236}">
                <a16:creationId xmlns:a16="http://schemas.microsoft.com/office/drawing/2014/main" id="{681BD4E7-538A-7B3D-9DA6-06DA1F97B39B}"/>
              </a:ext>
            </a:extLst>
          </p:cNvPr>
          <p:cNvPicPr>
            <a:picLocks noChangeAspect="1"/>
          </p:cNvPicPr>
          <p:nvPr/>
        </p:nvPicPr>
        <p:blipFill>
          <a:blip r:embed="rId4"/>
          <a:stretch>
            <a:fillRect/>
          </a:stretch>
        </p:blipFill>
        <p:spPr>
          <a:xfrm>
            <a:off x="8576733" y="3170781"/>
            <a:ext cx="8963025" cy="5981197"/>
          </a:xfrm>
          <a:prstGeom prst="rect">
            <a:avLst/>
          </a:prstGeom>
        </p:spPr>
      </p:pic>
    </p:spTree>
    <p:extLst>
      <p:ext uri="{BB962C8B-B14F-4D97-AF65-F5344CB8AC3E}">
        <p14:creationId xmlns:p14="http://schemas.microsoft.com/office/powerpoint/2010/main" val="36323229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2D9D2-23A1-2523-B018-04A1EB9914C5}"/>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198C7299-844B-E70F-73B1-9B96434CB00E}"/>
              </a:ext>
            </a:extLst>
          </p:cNvPr>
          <p:cNvSpPr txBox="1"/>
          <p:nvPr/>
        </p:nvSpPr>
        <p:spPr>
          <a:xfrm>
            <a:off x="520861" y="170082"/>
            <a:ext cx="14947739" cy="1323439"/>
          </a:xfrm>
          <a:prstGeom prst="rect">
            <a:avLst/>
          </a:prstGeom>
          <a:noFill/>
        </p:spPr>
        <p:txBody>
          <a:bodyPr wrap="square" rtlCol="0">
            <a:spAutoFit/>
          </a:bodyPr>
          <a:lstStyle/>
          <a:p>
            <a:r>
              <a:rPr lang="en-US" sz="8000" dirty="0">
                <a:latin typeface="Aliens &amp; cows" panose="00000500000000000000" pitchFamily="2" charset="0"/>
              </a:rPr>
              <a:t>Next steps</a:t>
            </a:r>
          </a:p>
        </p:txBody>
      </p:sp>
      <p:sp>
        <p:nvSpPr>
          <p:cNvPr id="3" name="TextBox 2">
            <a:extLst>
              <a:ext uri="{FF2B5EF4-FFF2-40B4-BE49-F238E27FC236}">
                <a16:creationId xmlns:a16="http://schemas.microsoft.com/office/drawing/2014/main" id="{CF58984F-0299-7F52-EFC0-830F0B077821}"/>
              </a:ext>
            </a:extLst>
          </p:cNvPr>
          <p:cNvSpPr txBox="1"/>
          <p:nvPr/>
        </p:nvSpPr>
        <p:spPr>
          <a:xfrm>
            <a:off x="520861" y="3191948"/>
            <a:ext cx="14393120" cy="4708981"/>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Modern Excel Starter Kit PDF</a:t>
            </a:r>
          </a:p>
          <a:p>
            <a:pPr marL="1143000" lvl="1"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Introduction, learning strategies, additional resources to master Modern Excel</a:t>
            </a:r>
          </a:p>
          <a:p>
            <a:pPr marL="1143000" lvl="1"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Available in the event downloads folder</a:t>
            </a:r>
          </a:p>
        </p:txBody>
      </p:sp>
      <p:pic>
        <p:nvPicPr>
          <p:cNvPr id="15" name="Picture 14" descr="A close up of a sign&#10;&#10;Description automatically generated">
            <a:extLst>
              <a:ext uri="{FF2B5EF4-FFF2-40B4-BE49-F238E27FC236}">
                <a16:creationId xmlns:a16="http://schemas.microsoft.com/office/drawing/2014/main" id="{B155E1CE-7355-30EE-3EE6-738EC92875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1171602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8CB409-CE91-9113-CF5B-9EF56BE94356}"/>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DB8D7723-DD6F-44FA-345F-472CF117590F}"/>
              </a:ext>
            </a:extLst>
          </p:cNvPr>
          <p:cNvSpPr txBox="1"/>
          <p:nvPr/>
        </p:nvSpPr>
        <p:spPr>
          <a:xfrm>
            <a:off x="520861" y="170082"/>
            <a:ext cx="14947739" cy="1323439"/>
          </a:xfrm>
          <a:prstGeom prst="rect">
            <a:avLst/>
          </a:prstGeom>
          <a:noFill/>
        </p:spPr>
        <p:txBody>
          <a:bodyPr wrap="square" rtlCol="0">
            <a:spAutoFit/>
          </a:bodyPr>
          <a:lstStyle/>
          <a:p>
            <a:r>
              <a:rPr lang="en-US" sz="8000" dirty="0">
                <a:latin typeface="Aliens &amp; cows" panose="00000500000000000000" pitchFamily="2" charset="0"/>
              </a:rPr>
              <a:t>Next steps</a:t>
            </a:r>
          </a:p>
        </p:txBody>
      </p:sp>
      <p:sp>
        <p:nvSpPr>
          <p:cNvPr id="3" name="TextBox 2">
            <a:extLst>
              <a:ext uri="{FF2B5EF4-FFF2-40B4-BE49-F238E27FC236}">
                <a16:creationId xmlns:a16="http://schemas.microsoft.com/office/drawing/2014/main" id="{80175D3E-AE80-1413-C125-5F34E069E354}"/>
              </a:ext>
            </a:extLst>
          </p:cNvPr>
          <p:cNvSpPr txBox="1"/>
          <p:nvPr/>
        </p:nvSpPr>
        <p:spPr>
          <a:xfrm>
            <a:off x="520861" y="3191948"/>
            <a:ext cx="14393120" cy="4708981"/>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Follow me on LinkedIn</a:t>
            </a:r>
          </a:p>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Share this event with your network</a:t>
            </a:r>
          </a:p>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For teams/organizations: Book a discovery call at </a:t>
            </a:r>
            <a:r>
              <a:rPr lang="en-US" sz="6000" dirty="0">
                <a:solidFill>
                  <a:srgbClr val="CF3338"/>
                </a:solidFill>
                <a:latin typeface="Pragmatica" panose="020B0403040502020204" pitchFamily="34" charset="0"/>
                <a:hlinkClick r:id="rId2">
                  <a:extLst>
                    <a:ext uri="{A12FA001-AC4F-418D-AE19-62706E023703}">
                      <ahyp:hlinkClr xmlns:ahyp="http://schemas.microsoft.com/office/drawing/2018/hyperlinkcolor" val="tx"/>
                    </a:ext>
                  </a:extLst>
                </a:hlinkClick>
              </a:rPr>
              <a:t>https://stringfestanalytics.com/book-me/</a:t>
            </a:r>
            <a:r>
              <a:rPr lang="en-US" sz="6000" dirty="0">
                <a:solidFill>
                  <a:srgbClr val="CF3338"/>
                </a:solidFill>
                <a:latin typeface="Pragmatica" panose="020B0403040502020204" pitchFamily="34" charset="0"/>
              </a:rPr>
              <a:t> </a:t>
            </a:r>
          </a:p>
        </p:txBody>
      </p:sp>
      <p:pic>
        <p:nvPicPr>
          <p:cNvPr id="15" name="Picture 14" descr="A close up of a sign&#10;&#10;Description automatically generated">
            <a:extLst>
              <a:ext uri="{FF2B5EF4-FFF2-40B4-BE49-F238E27FC236}">
                <a16:creationId xmlns:a16="http://schemas.microsoft.com/office/drawing/2014/main" id="{23401A70-278E-956F-C05F-181A5C8C8A7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32787768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0C042-4FA7-C99A-DB6A-E56C8A4C9FF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38FBC8C-6CC2-040B-E74D-EA0547D9066A}"/>
              </a:ext>
            </a:extLst>
          </p:cNvPr>
          <p:cNvSpPr/>
          <p:nvPr/>
        </p:nvSpPr>
        <p:spPr>
          <a:xfrm>
            <a:off x="0" y="0"/>
            <a:ext cx="1828800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TextBox 4">
            <a:extLst>
              <a:ext uri="{FF2B5EF4-FFF2-40B4-BE49-F238E27FC236}">
                <a16:creationId xmlns:a16="http://schemas.microsoft.com/office/drawing/2014/main" id="{C3242B5A-8DE0-9FEB-CCC9-737A969B938A}"/>
              </a:ext>
            </a:extLst>
          </p:cNvPr>
          <p:cNvSpPr txBox="1"/>
          <p:nvPr/>
        </p:nvSpPr>
        <p:spPr>
          <a:xfrm>
            <a:off x="781292" y="590309"/>
            <a:ext cx="15486926" cy="1615827"/>
          </a:xfrm>
          <a:prstGeom prst="rect">
            <a:avLst/>
          </a:prstGeom>
          <a:noFill/>
        </p:spPr>
        <p:txBody>
          <a:bodyPr wrap="square" rtlCol="0">
            <a:spAutoFit/>
          </a:bodyPr>
          <a:lstStyle/>
          <a:p>
            <a:r>
              <a:rPr lang="en-US" sz="9900" b="1" dirty="0">
                <a:solidFill>
                  <a:schemeClr val="bg1"/>
                </a:solidFill>
                <a:latin typeface="Normafixed Tryout" panose="00000409000000000000" pitchFamily="49" charset="0"/>
              </a:rPr>
              <a:t>Thank you!</a:t>
            </a:r>
          </a:p>
        </p:txBody>
      </p:sp>
    </p:spTree>
    <p:extLst>
      <p:ext uri="{BB962C8B-B14F-4D97-AF65-F5344CB8AC3E}">
        <p14:creationId xmlns:p14="http://schemas.microsoft.com/office/powerpoint/2010/main" val="39986720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rotWithShape="1">
          <a:blip r:embed="rId2">
            <a:extLst>
              <a:ext uri="{28A0092B-C50C-407E-A947-70E740481C1C}">
                <a14:useLocalDpi xmlns:a14="http://schemas.microsoft.com/office/drawing/2010/main" val="0"/>
              </a:ext>
            </a:extLst>
          </a:blip>
          <a:srcRect l="50728" t="56371"/>
          <a:stretch/>
        </p:blipFill>
        <p:spPr>
          <a:xfrm>
            <a:off x="12204691" y="3316148"/>
            <a:ext cx="6083309" cy="6970854"/>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744" y="-3724155"/>
            <a:ext cx="15257208" cy="11189825"/>
          </a:xfrm>
          <a:prstGeom prst="rect">
            <a:avLst/>
          </a:prstGeom>
        </p:spPr>
      </p:pic>
      <p:sp>
        <p:nvSpPr>
          <p:cNvPr id="11" name="TextBox 10"/>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Questions?</a:t>
            </a:r>
          </a:p>
        </p:txBody>
      </p:sp>
      <p:pic>
        <p:nvPicPr>
          <p:cNvPr id="5" name="Picture 4">
            <a:extLst>
              <a:ext uri="{FF2B5EF4-FFF2-40B4-BE49-F238E27FC236}">
                <a16:creationId xmlns:a16="http://schemas.microsoft.com/office/drawing/2014/main" id="{54A06221-5316-4BCF-9FDA-BDB95FF4A77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204691" y="3317239"/>
            <a:ext cx="6083309" cy="6968672"/>
          </a:xfrm>
          <a:prstGeom prst="rect">
            <a:avLst/>
          </a:prstGeom>
        </p:spPr>
      </p:pic>
    </p:spTree>
    <p:extLst>
      <p:ext uri="{BB962C8B-B14F-4D97-AF65-F5344CB8AC3E}">
        <p14:creationId xmlns:p14="http://schemas.microsoft.com/office/powerpoint/2010/main" val="168986073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2643</TotalTime>
  <Words>644</Words>
  <Application>Microsoft Office PowerPoint</Application>
  <PresentationFormat>Custom</PresentationFormat>
  <Paragraphs>71</Paragraphs>
  <Slides>17</Slides>
  <Notes>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Pragmatica</vt:lpstr>
      <vt:lpstr>Normafixed Tryout</vt:lpstr>
      <vt:lpstr>Calibri</vt:lpstr>
      <vt:lpstr>Aliens &amp; cows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How I work</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excel-statistics-for-business-analytics</dc:title>
  <dc:creator>User</dc:creator>
  <cp:lastModifiedBy>George Mount</cp:lastModifiedBy>
  <cp:revision>238</cp:revision>
  <dcterms:created xsi:type="dcterms:W3CDTF">2006-08-16T00:00:00Z</dcterms:created>
  <dcterms:modified xsi:type="dcterms:W3CDTF">2026-01-19T16:54:12Z</dcterms:modified>
  <dc:identifier>DADurESpNu8</dc:identifier>
</cp:coreProperties>
</file>